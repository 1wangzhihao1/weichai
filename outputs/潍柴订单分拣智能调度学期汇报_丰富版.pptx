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55e41654a343cc" /><Relationship Type="http://schemas.openxmlformats.org/officeDocument/2006/relationships/extended-properties" Target="/docProps/app.xml" Id="R8f0db38fbfe54f7e" /><Relationship Type="http://schemas.openxmlformats.org/officeDocument/2006/relationships/officeDocument" Target="/ppt/presentation.xml" Id="Rfe9071360871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d726df2b44783"/>
  </p:sldMasterIdLst>
  <p:notesMasterIdLst>
    <p:notesMasterId xmlns:r="http://schemas.openxmlformats.org/officeDocument/2006/relationships" r:id="R6481ab61d6d64a8a"/>
  </p:notesMasterIdLst>
  <p:sldIdLst>
    <p:sldId xmlns:r="http://schemas.openxmlformats.org/officeDocument/2006/relationships" id="256" r:id="Rbdad1468e9b6454e"/>
    <p:sldId xmlns:r="http://schemas.openxmlformats.org/officeDocument/2006/relationships" id="257" r:id="R3084bb7b48d74e15"/>
    <p:sldId xmlns:r="http://schemas.openxmlformats.org/officeDocument/2006/relationships" id="258" r:id="R3c1af996bf464d68"/>
    <p:sldId xmlns:r="http://schemas.openxmlformats.org/officeDocument/2006/relationships" id="259" r:id="R179b24d40ea14d12"/>
    <p:sldId xmlns:r="http://schemas.openxmlformats.org/officeDocument/2006/relationships" id="260" r:id="R446235b304764415"/>
    <p:sldId xmlns:r="http://schemas.openxmlformats.org/officeDocument/2006/relationships" id="261" r:id="R38eefa22f2c84d83"/>
    <p:sldId xmlns:r="http://schemas.openxmlformats.org/officeDocument/2006/relationships" id="262" r:id="Ra43f76f237ba4604"/>
    <p:sldId xmlns:r="http://schemas.openxmlformats.org/officeDocument/2006/relationships" id="263" r:id="R20e2812116ee473f"/>
    <p:sldId xmlns:r="http://schemas.openxmlformats.org/officeDocument/2006/relationships" id="264" r:id="R7e8fedf5417b41b1"/>
    <p:sldId xmlns:r="http://schemas.openxmlformats.org/officeDocument/2006/relationships" id="265" r:id="R7d0bf4a60a3c4981"/>
    <p:sldId xmlns:r="http://schemas.openxmlformats.org/officeDocument/2006/relationships" id="266" r:id="R6bfd8ddc97704c30"/>
    <p:sldId xmlns:r="http://schemas.openxmlformats.org/officeDocument/2006/relationships" id="267" r:id="R37e09d53b3b34d37"/>
    <p:sldId xmlns:r="http://schemas.openxmlformats.org/officeDocument/2006/relationships" id="268" r:id="R3380666037b942b8"/>
    <p:sldId xmlns:r="http://schemas.openxmlformats.org/officeDocument/2006/relationships" id="269" r:id="Rbbfd1daa23c64731"/>
    <p:sldId xmlns:r="http://schemas.openxmlformats.org/officeDocument/2006/relationships" id="270" r:id="Re3a01bca0824407a"/>
    <p:sldId xmlns:r="http://schemas.openxmlformats.org/officeDocument/2006/relationships" id="271" r:id="Rc4e45365927740df"/>
    <p:sldId xmlns:r="http://schemas.openxmlformats.org/officeDocument/2006/relationships" id="272" r:id="R142d8a8c9be847c6"/>
    <p:sldId xmlns:r="http://schemas.openxmlformats.org/officeDocument/2006/relationships" id="273" r:id="R4cb1fa8ce3364643"/>
    <p:sldId xmlns:r="http://schemas.openxmlformats.org/officeDocument/2006/relationships" id="274" r:id="R44014db2150b430d"/>
    <p:sldId xmlns:r="http://schemas.openxmlformats.org/officeDocument/2006/relationships" id="275" r:id="R413a780abba8483e"/>
    <p:sldId xmlns:r="http://schemas.openxmlformats.org/officeDocument/2006/relationships" id="276" r:id="R6088bc69b193435e"/>
    <p:sldId xmlns:r="http://schemas.openxmlformats.org/officeDocument/2006/relationships" id="277" r:id="R2361946b23ff4d17"/>
    <p:sldId xmlns:r="http://schemas.openxmlformats.org/officeDocument/2006/relationships" id="278" r:id="R884baaf78bc140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12e27608d4652" /><Relationship Type="http://schemas.openxmlformats.org/officeDocument/2006/relationships/slideMaster" Target="/ppt/slideMasters/slideMaster1.xml" Id="Rb2dd726df2b44783" /><Relationship Type="http://schemas.openxmlformats.org/officeDocument/2006/relationships/notesMaster" Target="/ppt/notesMasters/notesMaster1.xml" Id="R6481ab61d6d64a8a" /><Relationship Type="http://schemas.openxmlformats.org/officeDocument/2006/relationships/presProps" Target="/ppt/presProps.xml" Id="Rfcbbcb1135b84635" /><Relationship Type="http://schemas.openxmlformats.org/officeDocument/2006/relationships/tableStyles" Target="/ppt/tableStyles.xml" Id="R171b704e6480419a" /><Relationship Type="http://schemas.openxmlformats.org/officeDocument/2006/relationships/slide" Target="/ppt/slides/slide1.xml" Id="Rbdad1468e9b6454e" /><Relationship Type="http://schemas.openxmlformats.org/officeDocument/2006/relationships/slide" Target="/ppt/slides/slide2.xml" Id="R3084bb7b48d74e15" /><Relationship Type="http://schemas.openxmlformats.org/officeDocument/2006/relationships/slide" Target="/ppt/slides/slide3.xml" Id="R3c1af996bf464d68" /><Relationship Type="http://schemas.openxmlformats.org/officeDocument/2006/relationships/slide" Target="/ppt/slides/slide4.xml" Id="R179b24d40ea14d12" /><Relationship Type="http://schemas.openxmlformats.org/officeDocument/2006/relationships/slide" Target="/ppt/slides/slide5.xml" Id="R446235b304764415" /><Relationship Type="http://schemas.openxmlformats.org/officeDocument/2006/relationships/slide" Target="/ppt/slides/slide6.xml" Id="R38eefa22f2c84d83" /><Relationship Type="http://schemas.openxmlformats.org/officeDocument/2006/relationships/slide" Target="/ppt/slides/slide7.xml" Id="Ra43f76f237ba4604" /><Relationship Type="http://schemas.openxmlformats.org/officeDocument/2006/relationships/slide" Target="/ppt/slides/slide8.xml" Id="R20e2812116ee473f" /><Relationship Type="http://schemas.openxmlformats.org/officeDocument/2006/relationships/slide" Target="/ppt/slides/slide9.xml" Id="R7e8fedf5417b41b1" /><Relationship Type="http://schemas.openxmlformats.org/officeDocument/2006/relationships/slide" Target="/ppt/slides/slide10.xml" Id="R7d0bf4a60a3c4981" /><Relationship Type="http://schemas.openxmlformats.org/officeDocument/2006/relationships/slide" Target="/ppt/slides/slide11.xml" Id="R6bfd8ddc97704c30" /><Relationship Type="http://schemas.openxmlformats.org/officeDocument/2006/relationships/slide" Target="/ppt/slides/slide12.xml" Id="R37e09d53b3b34d37" /><Relationship Type="http://schemas.openxmlformats.org/officeDocument/2006/relationships/slide" Target="/ppt/slides/slide13.xml" Id="R3380666037b942b8" /><Relationship Type="http://schemas.openxmlformats.org/officeDocument/2006/relationships/slide" Target="/ppt/slides/slide14.xml" Id="Rbbfd1daa23c64731" /><Relationship Type="http://schemas.openxmlformats.org/officeDocument/2006/relationships/slide" Target="/ppt/slides/slide15.xml" Id="Re3a01bca0824407a" /><Relationship Type="http://schemas.openxmlformats.org/officeDocument/2006/relationships/slide" Target="/ppt/slides/slide16.xml" Id="Rc4e45365927740df" /><Relationship Type="http://schemas.openxmlformats.org/officeDocument/2006/relationships/slide" Target="/ppt/slides/slide17.xml" Id="R142d8a8c9be847c6" /><Relationship Type="http://schemas.openxmlformats.org/officeDocument/2006/relationships/slide" Target="/ppt/slides/slide18.xml" Id="R4cb1fa8ce3364643" /><Relationship Type="http://schemas.openxmlformats.org/officeDocument/2006/relationships/slide" Target="/ppt/slides/slide19.xml" Id="R44014db2150b430d" /><Relationship Type="http://schemas.openxmlformats.org/officeDocument/2006/relationships/slide" Target="/ppt/slides/slide20.xml" Id="R413a780abba8483e" /><Relationship Type="http://schemas.openxmlformats.org/officeDocument/2006/relationships/slide" Target="/ppt/slides/slide21.xml" Id="R6088bc69b193435e" /><Relationship Type="http://schemas.openxmlformats.org/officeDocument/2006/relationships/slide" Target="/ppt/slides/slide22.xml" Id="R2361946b23ff4d17" /><Relationship Type="http://schemas.openxmlformats.org/officeDocument/2006/relationships/slide" Target="/ppt/slides/slide23.xml" Id="R884baaf78bc1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be827973c8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0cd9d131741dd" /><Relationship Type="http://schemas.openxmlformats.org/officeDocument/2006/relationships/notesMaster" Target="/ppt/notesMasters/notesMaster1.xml" Id="R255d09cac3f4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a828cb709435f" /><Relationship Type="http://schemas.openxmlformats.org/officeDocument/2006/relationships/notesMaster" Target="/ppt/notesMasters/notesMaster1.xml" Id="R65227ed2499c44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7eebbd3d84de4" /><Relationship Type="http://schemas.openxmlformats.org/officeDocument/2006/relationships/notesMaster" Target="/ppt/notesMasters/notesMaster1.xml" Id="R60b757f8aead4c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90f0a78434378" /><Relationship Type="http://schemas.openxmlformats.org/officeDocument/2006/relationships/notesMaster" Target="/ppt/notesMasters/notesMaster1.xml" Id="Rf8eef377f587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85dd0e39ab4c25" /><Relationship Type="http://schemas.openxmlformats.org/officeDocument/2006/relationships/notesMaster" Target="/ppt/notesMasters/notesMaster1.xml" Id="R8e9af57e8fc04b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852cec8b704cb0" /><Relationship Type="http://schemas.openxmlformats.org/officeDocument/2006/relationships/notesMaster" Target="/ppt/notesMasters/notesMaster1.xml" Id="R87e19b9a804d40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0498191b54dd8" /><Relationship Type="http://schemas.openxmlformats.org/officeDocument/2006/relationships/notesMaster" Target="/ppt/notesMasters/notesMaster1.xml" Id="R754d0b682a51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4e714136934ddc" /><Relationship Type="http://schemas.openxmlformats.org/officeDocument/2006/relationships/notesMaster" Target="/ppt/notesMasters/notesMaster1.xml" Id="Rc5c95a43ad6344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2263fe963d4ab7" /><Relationship Type="http://schemas.openxmlformats.org/officeDocument/2006/relationships/notesMaster" Target="/ppt/notesMasters/notesMaster1.xml" Id="R84c9773eca32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9bfb2de361471f" /><Relationship Type="http://schemas.openxmlformats.org/officeDocument/2006/relationships/notesMaster" Target="/ppt/notesMasters/notesMaster1.xml" Id="Rc3e8df07030f4d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802e4a817a4e85" /><Relationship Type="http://schemas.openxmlformats.org/officeDocument/2006/relationships/notesMaster" Target="/ppt/notesMasters/notesMaster1.xml" Id="R2193ab931fcd47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76a5e19dfe4220" /><Relationship Type="http://schemas.openxmlformats.org/officeDocument/2006/relationships/notesMaster" Target="/ppt/notesMasters/notesMaster1.xml" Id="R0a04bcc7a49042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a918aeee2c41eb" /><Relationship Type="http://schemas.openxmlformats.org/officeDocument/2006/relationships/notesMaster" Target="/ppt/notesMasters/notesMaster1.xml" Id="Rf8328eda295d48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13101b4a2a4c25" /><Relationship Type="http://schemas.openxmlformats.org/officeDocument/2006/relationships/notesMaster" Target="/ppt/notesMasters/notesMaster1.xml" Id="Re32da3b978d445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2d37646dd64f4c" /><Relationship Type="http://schemas.openxmlformats.org/officeDocument/2006/relationships/notesMaster" Target="/ppt/notesMasters/notesMaster1.xml" Id="R2a76b6b067b646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a63314a2514823" /><Relationship Type="http://schemas.openxmlformats.org/officeDocument/2006/relationships/notesMaster" Target="/ppt/notesMasters/notesMaster1.xml" Id="R05dc5a75561b4e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8c66988fc142d5" /><Relationship Type="http://schemas.openxmlformats.org/officeDocument/2006/relationships/notesMaster" Target="/ppt/notesMasters/notesMaster1.xml" Id="R478cd899339242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30f902d801464d" /><Relationship Type="http://schemas.openxmlformats.org/officeDocument/2006/relationships/notesMaster" Target="/ppt/notesMasters/notesMaster1.xml" Id="R3e1f768ef67d4b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5ed435109d4567" /><Relationship Type="http://schemas.openxmlformats.org/officeDocument/2006/relationships/notesMaster" Target="/ppt/notesMasters/notesMaster1.xml" Id="R1c7be9f7dfd341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dab2e93e684699" /><Relationship Type="http://schemas.openxmlformats.org/officeDocument/2006/relationships/notesMaster" Target="/ppt/notesMasters/notesMaster1.xml" Id="R5dbf105a3ff045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279a8a78f64afb" /><Relationship Type="http://schemas.openxmlformats.org/officeDocument/2006/relationships/notesMaster" Target="/ppt/notesMasters/notesMaster1.xml" Id="Rd8cd44034f094c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7a1e6d6c8d477e" /><Relationship Type="http://schemas.openxmlformats.org/officeDocument/2006/relationships/notesMaster" Target="/ppt/notesMasters/notesMaster1.xml" Id="R1f653450bc564b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5246dbc0214285" /><Relationship Type="http://schemas.openxmlformats.org/officeDocument/2006/relationships/notesMaster" Target="/ppt/notesMasters/notesMaster1.xml" Id="Rc15c17b670f041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封面页先交代主题和汇报视角：这不是单独讲算法，而是讲这一学期如何围绕潍柴订单分拣项目，从基础知识补齐到完成一个可演示、可验证的智能调度系统原型。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目录页说明新版的结构。新版增加了立项PPT中的业务背景、现场图、技术路线、建模、仿真和可视化内容，同时补充本学期实际完成的模型训练、库存预处理和验证结果。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这一页承接立项PPT的立项背景。强调项目不是抽象算法题，而是订单、物料、库存和站台共同作用的复杂动态系统调度问题。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这里用立项PPT中的现场图片强化业务感。重点讲现场问题并不是某一个站台慢，而是多个因素交织，所以需要完整系统。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这一页回应学期汇报要求：学期开始时自己很多基础都不懂。这里把个人学习任务和项目模块对应起来。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讲建模时先讲对象：订单、SKU、库存和站台。只有这些对象定义清楚，后面的强化学习环境和仿真环境才有意义。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这一页借用立项PPT的技术路线图，但讲法落到本学期做了什么。每个环节都对应后面的一到两页。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数据侧这页讲自己从不懂数据库和数据集，到理解数据流的过程。重点不是背表名，而是说明为什么模型前必须有SKU工时、订单池和库存快照。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这一页讲库存预处理。先用数字吸引注意：581单、59单缺料、等待下降79.6%。再解释逻辑：不是让强化学习解决所有问题，而是把库存约束放在调度前处理。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这一页讲强化学习。状态描述当前局面，动作是站台选择，奖励决定模型学什么。动作掩码和整批makespan奖励是本项目的重要点。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这一页讲模型筛选。最佳模型来自152万步，并不是最后一步，这说明评估比凭感觉选模型更可靠。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这一页讲为什么要有仿真层。强化学习输出分配策略，但老师或业务方通常想知道哪里等待、哪个站台忙，SimPy负责还原过程。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这一页讲后端服务。重点是说明为什么要有接口：订单导入、仿真启动、状态查询和playbook获取，使算法可以被系统调用。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这一页把前端和3D展示讲清楚。它证明项目已经不是命令行脚本，而是可以通过页面展示给老师和业务方看的系统。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这一页把立项阶段和本学期工作接上。本学期继续补齐了数据处理、模型训练、后端服务和验证。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这一页说明验证体系。不能只看强化学习训练曲线，因为训练奖励会受样本难度影响，必须回到固定测试集和业务历史数据中评价。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这一页讲15天验证。AI不是每天每项都最优，但跨多天平均表现稳定，尤其明显优于随机。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这一页讲站台工时效率。makespan只看完成时间，站台工时效率还考虑用了多少站台资源，因此更贴近现场成本。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这一页用表格讲库存预处理结果。业务方关心的不只是快不快，还包括为什么某些订单不能执行。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这一页展示验证证据不仅是一个表格，还有命令行日志、对比实验输出和前端3D动画。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总结页强调完成内容：数据、算法、仿真、后端、前端、验证。再讲个人能力变化，呼应原始要求。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这一页讲不足和计划。下一步向真实落地靠近：更多数据、异常解释、自动评估、配置化和指标对齐。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最后感谢老师指导，准备回答问题。可以根据老师关注点展开：业务背景、强化学习模型、数据库和接口、仿真验证、3D可视化或后续计划。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674ca3da246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aae85dbf3b4bed" /><Relationship Type="http://schemas.openxmlformats.org/officeDocument/2006/relationships/slideLayout" Target="/ppt/slideLayouts/slideLayout1.xml" Id="Rccabb2511b4b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bb2511b4b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e424e10f84243" /><Relationship Type="http://schemas.openxmlformats.org/officeDocument/2006/relationships/image" Target="/ppt/media/image.png" Id="R248ed1d35ca248d2" /><Relationship Type="http://schemas.openxmlformats.org/officeDocument/2006/relationships/notesSlide" Target="/ppt/notesSlides/notesSlide1.xml" Id="Rea646769d9cd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16658e664ef9" /><Relationship Type="http://schemas.openxmlformats.org/officeDocument/2006/relationships/notesSlide" Target="/ppt/notesSlides/notesSlide2.xml" Id="Rb9cdb285541943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a91a994eb4b8c" /><Relationship Type="http://schemas.openxmlformats.org/officeDocument/2006/relationships/image" Target="/ppt/media/image2.png" Id="R71bec38ff77c4f29" /><Relationship Type="http://schemas.openxmlformats.org/officeDocument/2006/relationships/notesSlide" Target="/ppt/notesSlides/notesSlide3.xml" Id="R908e458156e545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8981373a744eb" /><Relationship Type="http://schemas.openxmlformats.org/officeDocument/2006/relationships/image" Target="/ppt/media/image3.png" Id="Ra1397fb87ac24143" /><Relationship Type="http://schemas.openxmlformats.org/officeDocument/2006/relationships/notesSlide" Target="/ppt/notesSlides/notesSlide4.xml" Id="Re99af0e3fe80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c950cab24574" /><Relationship Type="http://schemas.openxmlformats.org/officeDocument/2006/relationships/notesSlide" Target="/ppt/notesSlides/notesSlide5.xml" Id="Rff1fe5a48077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77da86bfa4f9d" /><Relationship Type="http://schemas.openxmlformats.org/officeDocument/2006/relationships/image" Target="/ppt/media/image4.png" Id="Re7818ecb31d640c1" /><Relationship Type="http://schemas.openxmlformats.org/officeDocument/2006/relationships/notesSlide" Target="/ppt/notesSlides/notesSlide6.xml" Id="R8e0fc2b7ca6a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5d075e6664a5d" /><Relationship Type="http://schemas.openxmlformats.org/officeDocument/2006/relationships/image" Target="/ppt/media/image5.png" Id="R5081ad0c2fed4bcb" /><Relationship Type="http://schemas.openxmlformats.org/officeDocument/2006/relationships/notesSlide" Target="/ppt/notesSlides/notesSlide7.xml" Id="Rebe422844c824e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1f26892a94102" /><Relationship Type="http://schemas.openxmlformats.org/officeDocument/2006/relationships/notesSlide" Target="/ppt/notesSlides/notesSlide8.xml" Id="R3ee87624d3cd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9074170cb4da4" /><Relationship Type="http://schemas.openxmlformats.org/officeDocument/2006/relationships/notesSlide" Target="/ppt/notesSlides/notesSlide9.xml" Id="R0b4291169fcd4c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c2645fa2548e2" /><Relationship Type="http://schemas.openxmlformats.org/officeDocument/2006/relationships/image" Target="/ppt/media/image6.png" Id="R079df1cff5054a01" /><Relationship Type="http://schemas.openxmlformats.org/officeDocument/2006/relationships/notesSlide" Target="/ppt/notesSlides/notesSlide10.xml" Id="R2fc7fdf6d1a447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d873c4fdc4d76" /><Relationship Type="http://schemas.openxmlformats.org/officeDocument/2006/relationships/notesSlide" Target="/ppt/notesSlides/notesSlide11.xml" Id="R994e54fb9930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d623465e44d4" /><Relationship Type="http://schemas.openxmlformats.org/officeDocument/2006/relationships/image" Target="/ppt/media/image7.png" Id="Ra145e1f0b5224d09" /><Relationship Type="http://schemas.openxmlformats.org/officeDocument/2006/relationships/image" Target="/ppt/media/image8.png" Id="Rf595da3b4a1d4ca5" /><Relationship Type="http://schemas.openxmlformats.org/officeDocument/2006/relationships/notesSlide" Target="/ppt/notesSlides/notesSlide12.xml" Id="R29c862af0dd14e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5e7c7835494a" /><Relationship Type="http://schemas.openxmlformats.org/officeDocument/2006/relationships/image" Target="/ppt/media/image9.png" Id="R736ff5d81cd4444a" /><Relationship Type="http://schemas.openxmlformats.org/officeDocument/2006/relationships/notesSlide" Target="/ppt/notesSlides/notesSlide13.xml" Id="R6ee0170dd2e646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611c0f87543d1" /><Relationship Type="http://schemas.openxmlformats.org/officeDocument/2006/relationships/image" Target="/ppt/media/image10.png" Id="R80100a0a380c4c97" /><Relationship Type="http://schemas.openxmlformats.org/officeDocument/2006/relationships/notesSlide" Target="/ppt/notesSlides/notesSlide14.xml" Id="R200d10f2f53d4b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1d76dbd2a4dd6" /><Relationship Type="http://schemas.openxmlformats.org/officeDocument/2006/relationships/image" Target="/ppt/media/image11.png" Id="Ra873bba8d82d43e9" /><Relationship Type="http://schemas.openxmlformats.org/officeDocument/2006/relationships/notesSlide" Target="/ppt/notesSlides/notesSlide15.xml" Id="R1220feaf11104c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9c486a948437c" /><Relationship Type="http://schemas.openxmlformats.org/officeDocument/2006/relationships/notesSlide" Target="/ppt/notesSlides/notesSlide16.xml" Id="R6edb4bc978e046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97c2db4714c8f" /><Relationship Type="http://schemas.openxmlformats.org/officeDocument/2006/relationships/image" Target="/ppt/media/image12.png" Id="Raa714c1f1d9a4cc7" /><Relationship Type="http://schemas.openxmlformats.org/officeDocument/2006/relationships/notesSlide" Target="/ppt/notesSlides/notesSlide17.xml" Id="R17ea3ad4b3c94a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9453243e24d2c" /><Relationship Type="http://schemas.openxmlformats.org/officeDocument/2006/relationships/image" Target="/ppt/media/image13.png" Id="Re2fae8e9fc304ba1" /><Relationship Type="http://schemas.openxmlformats.org/officeDocument/2006/relationships/image" Target="/ppt/media/image14.png" Id="R1029ed74b9cc4fd7" /><Relationship Type="http://schemas.openxmlformats.org/officeDocument/2006/relationships/notesSlide" Target="/ppt/notesSlides/notesSlide18.xml" Id="Re2586352361449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0b0e3afb44f0b" /><Relationship Type="http://schemas.openxmlformats.org/officeDocument/2006/relationships/notesSlide" Target="/ppt/notesSlides/notesSlide19.xml" Id="R7890935772c04b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3ebd340749ed" /><Relationship Type="http://schemas.openxmlformats.org/officeDocument/2006/relationships/image" Target="/ppt/media/image15.png" Id="R3052a3f8c51545b4" /><Relationship Type="http://schemas.openxmlformats.org/officeDocument/2006/relationships/image" Target="/ppt/media/image16.png" Id="Rece55acb14424eb0" /><Relationship Type="http://schemas.openxmlformats.org/officeDocument/2006/relationships/image" Target="/ppt/media/image17.png" Id="R69c4a3f2b16b409a" /><Relationship Type="http://schemas.openxmlformats.org/officeDocument/2006/relationships/notesSlide" Target="/ppt/notesSlides/notesSlide20.xml" Id="Rd9629bf5b3a84e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a721804549f7" /><Relationship Type="http://schemas.openxmlformats.org/officeDocument/2006/relationships/notesSlide" Target="/ppt/notesSlides/notesSlide21.xml" Id="Reb0a61c50b5944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1affde2604159" /><Relationship Type="http://schemas.openxmlformats.org/officeDocument/2006/relationships/notesSlide" Target="/ppt/notesSlides/notesSlide22.xml" Id="Rdc400bde189a43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0bbb1a136495d" /><Relationship Type="http://schemas.openxmlformats.org/officeDocument/2006/relationships/notesSlide" Target="/ppt/notesSlides/notesSlide23.xml" Id="R2f2c9c6dc74e46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70A88-02B0-4D72-A922-1507F4AE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9FFCF-7065-4291-842D-C7053211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730EB-E8F6-418C-A54D-435DA91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55562-4263-41FC-8FBF-7B2BD0A5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8291C-1521-42E2-8EE8-1C3B7C4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ed1d35ca248d2"/>
          <a:srcRect xmlns:a="http://schemas.openxmlformats.org/drawingml/2006/main" l="0" t="27083" r="0" b="27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38200"/>
            <a:ext cx="121920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6333C-ED63-4CA3-BA62-6667ABD4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3143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4EBBA-9BC7-4E08-A527-7FC215F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潍柴订单分拣智能调度项目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D3DFB-4853-4DF2-9EBB-78F51863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学期汇报：从强化学习入门到系统落地验证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AA9B8-880C-4214-B008-8AB169F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5334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906B5-D56D-4526-B33F-06CF6C0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汇报主线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82F2E-5800-49F3-8464-1029307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5067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业务问题：订单分拣资源动态分配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技术路径：建模、策略、仿真、可视化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学期成果：模型训练、库存预处理、15天验证、前后端联调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EB7E0-E529-4B16-924D-3802DBC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476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A9348-18A7-49AE-8A08-E5D7716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个人起点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F28D1-9A63-45E8-9548-5A1DE06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9650"/>
            <a:ext cx="4210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学期开始前：不懂强化学习、数据库数据集、前端后端服务、项目落地与效率验证。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学期结束时：能够解释完整数据流、算法流、服务流和验证指标。</a:t>
            </a:r>
          </a:p>
        </p:txBody>
      </p:sp>
    </p:spTree>
    <p:extLst>
      <p:ext uri="{BB962C8B-B14F-4D97-AF65-F5344CB8AC3E}">
        <p14:creationId xmlns:p14="http://schemas.microsoft.com/office/powerpoint/2010/main" val="1329029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AE344-A0CA-4971-96AF-12AFEDA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3852F-E285-4DAB-92D6-0671A44A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8BED1-99B3-42D3-8060-237D7855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54CE4-98E8-46AC-B593-2C879B89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A881C-E2E3-494A-8B7A-B0447E0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2BEC2-6244-411E-91F3-3F9890B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05FF3-A37E-4DEC-A3B8-123C570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5AB3F-DE22-4FD4-9E33-63EA0920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汇报结构：从立项问题到本学期闭环成果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F6E86-C87F-4CB2-A420-E3E6A34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按背景、建模、实现、验证、总结展开，内容参考立项PPT但结合本学期实际进展。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02C4B-E2F8-45AB-B25A-1B07EB3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E5455-ABD2-45E3-92AB-A05ECB49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C829-5CA7-4F93-9ED8-9EB07C0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050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项目背景与业务痛点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B4A4F-73AF-435E-8BAE-802EA04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907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为什么订单分拣需要智能调度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FD2B1-9397-4256-AD46-CFDF06FB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CF9FC-87A4-474D-B465-00A5C1D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61F3F-AD3A-4EE6-AE7A-E535DBF0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问题建模与总体路线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4D382-C426-42D3-A6BD-AE30B0E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把动态现场转成可计算、可仿真的问题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41FD1-9BD7-488E-86E0-8A18AD3E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387E0-37AC-4876-8488-E49B28A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018C3-87BD-493B-BA08-2EB74F4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本学期实现内容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5270C-9B1A-4E90-A3A9-FCBEB35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数据、强化学习、后端、前端、仿真联动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1EBEB-1D16-4E51-8EC3-7258DAC7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CDCDA-BBEC-4EF8-8BAB-8502F13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D4D67-B2C3-4B54-B2AF-3B980B7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实验验证与效率结论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B3F2D-46D1-4D41-9636-EF4DA891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339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15天回放、库存预处理、模型筛选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27AA3-BF51-42AF-AF60-3A8A4AB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70DA0-4935-40AC-81B8-11062C8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387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AD68C-AF68-42F0-B600-ECCE182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625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个人收获与后续计划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F28A2-458C-420D-9A73-5E153D6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482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从零基础到能独立解释项目闭环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4697D-666A-485C-9070-B465BB0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142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3BA3F-BCAC-480D-B326-67A94EA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04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25+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分钟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讲述</a:t>
            </a:r>
          </a:p>
        </p:txBody>
      </p:sp>
    </p:spTree>
    <p:extLst>
      <p:ext uri="{BB962C8B-B14F-4D97-AF65-F5344CB8AC3E}">
        <p14:creationId xmlns:p14="http://schemas.microsoft.com/office/powerpoint/2010/main" val="937966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335DC-8721-4DAA-929E-0CCE305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F7118-180B-44C4-8C18-0242D44C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94BBE-D668-4C35-8C17-631FDD2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74256-BF21-4262-8AD5-25D13146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7A64A-6A77-430C-B802-48369AF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0D5F9-C34F-4B0B-8365-B4475528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71045-82B6-44F9-9D6B-A5C661BA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B47BD-0495-46AE-B5DE-3F9463F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潍柴场景的核心矛盾是复杂动态系统调度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FA137-E641-4919-B5A0-5CB5E239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订单、物料、库存、站台和人员状态共同影响分拣效率。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ec38ff77c4f29"/>
          <a:stretch xmlns:a="http://schemas.openxmlformats.org/drawingml/2006/main"/>
        </p:blipFill>
        <p:spPr>
          <a:xfrm xmlns:a="http://schemas.openxmlformats.org/drawingml/2006/main">
            <a:off x="666750" y="2054721"/>
            <a:ext cx="5191125" cy="292000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0EE7B-407D-4CCB-A36E-64FD8048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1469-EE44-4E6B-857A-3FF5A759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06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业务现实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60202-AA2E-4437-8F14-979CC292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067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订单波动、物料差异、站台能力、库存状态共同影响分拣效率；人工经验在小规模时可用，但在动态场景下难以稳定复用。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04A69-7E7F-442E-88C6-20F856B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D2B01-41A8-4A50-B610-115451B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06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3C555-932E-4B74-BC14-492DCA5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067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构建面向订单分拣的调度建模与寻优方法，形成可输入数据、可计算策略、可仿真评估、可视化展示的闭环。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6BC2F-0E19-4CFE-8EDA-04F3E6C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9F933-134D-4C0F-9190-33A532AA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6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本学期切入点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E46EF-6646-4FD5-9B38-978E5F3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72050"/>
            <a:ext cx="4067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从真实/历史数据出发，先把数据流跑通，再训练并筛选强化学习模型，最后通过后端接口和前端动画验证结果。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778193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37F05-26F9-4FF4-A89A-46E12EF4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5FFEF-8EBE-4F31-B56E-FE3E094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EF817-7220-4C7E-99A5-BA9D7AD6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938B8-3CCE-42F9-9325-CA91D703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B9E4D-2F77-4114-9D4A-822C4D1C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40EC9-AB57-4FB7-A956-CE6FCF5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8F5AE-DE25-427B-9C19-6055B3E4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6A025-E52E-417C-92A6-EA4ED9C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现场问题不是单点优化，而是多约束共同作用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860B3-3BBE-48F9-A23D-4573B2D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人力、搬运距离、作业效率和站台负载会同时影响当天完成情况。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97fb87ac24143"/>
          <a:stretch xmlns:a="http://schemas.openxmlformats.org/drawingml/2006/main"/>
        </p:blipFill>
        <p:spPr>
          <a:xfrm xmlns:a="http://schemas.openxmlformats.org/drawingml/2006/main">
            <a:off x="685800" y="2004715"/>
            <a:ext cx="5572125" cy="313432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48F87-FC68-407A-92FE-775F235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91D81-894F-482D-AE60-96BE308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五类现场痛点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4BF33-BBAE-4FC3-9022-E158D49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1. 任务分配依赖经验，波动订单下难以保持稳定策略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2. 站台空闲和拥堵并存，局部忙闲不均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3. SKU 处理时间差异大，订单数量相近但耗时不同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4. 库存不足或低库存会形成等待与异常队列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5. 算法结果必须能解释，不能只给黑箱分配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DF960-3126-4C94-864B-89A9BEF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8F84D-56AB-465A-8632-EB6B925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2437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系统要求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347AF-A536-4ED0-8658-9A7CB55D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29175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既要有算法寻优能力，也要能接入数据、生成仿真、展示过程、输出可验证指标。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EF35C-BB3A-407D-81CB-66ACAA6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因此，本项目必须走向“模型 + 数据 + 仿真 + 系统”的组合。</a:t>
            </a:r>
          </a:p>
        </p:txBody>
      </p:sp>
    </p:spTree>
    <p:extLst>
      <p:ext uri="{BB962C8B-B14F-4D97-AF65-F5344CB8AC3E}">
        <p14:creationId xmlns:p14="http://schemas.microsoft.com/office/powerpoint/2010/main" val="62713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0C8B1-B724-4F0B-9F32-BD9DF1D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9C304-9103-4CC6-BAD8-DD7782AD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1F6F8-EC5C-4F0A-AF1D-997092BD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E2E82-1438-4893-B3E2-2BF5452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CBA43-8537-4046-AC12-CF77787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D46C8-894B-48BE-9645-00CA0F93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CCA96-7318-46C5-BC67-C697043F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EEE8E-77E0-4CB8-9A6E-51EC645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我本学期的学习任务本身就是项目落地的一部分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21002-3EA6-45BC-A4FA-8114F88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从基础概念补齐，到能解释每个模块为什么存在、怎样验证。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9406C-7BEB-43BE-850C-D7574374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0C306-E8D6-4388-A4CB-68158E3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强化学习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6A147-F833-4204-9F5A-A7CD7928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环境、动作、奖励、PPO、动作掩码、checkpoint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E72B-7854-4B9B-B826-8613FDF0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DF0C9-7F90-486D-B435-60E9506A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数据与数据库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864FF-E52B-4CD7-B0DB-964400F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Excel 清洗、SKU 工时、库存快照、MySQL 表结构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A174A-0113-4823-9B92-4124C5EE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190A-8DB1-42BA-8E65-D1464171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后端服务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2B20B-C7DC-446D-B49F-400427B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接口、订单导入、仿真任务、状态轮询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2C26B-D76D-420F-B7C4-940E053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18780-798A-4A14-8C51-0A20DE7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前端展示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8B35E-5E3C-44FD-9CF1-87F6358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Vue + Three.js 的订单进度、站台状态和3D动画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33EF4-3C54-4003-BD98-BB97EAE6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C7726-1069-4584-9D63-9AE6B89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落地验证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4BADC-00A2-49A1-AC3C-4E80898D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1480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历史回放、库存等待、站台工时效率等业务指标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3DDE0-ADC4-4432-AD24-19982D1F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A58C6-BAB6-46BD-BB2A-A2A9E9F5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7725F-EF91-4859-AAA6-D206C55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不仅说明项目做了什么，也说明我如何从零基础补齐到能参与完整闭环。</a:t>
            </a:r>
          </a:p>
        </p:txBody>
      </p:sp>
    </p:spTree>
    <p:extLst>
      <p:ext uri="{BB962C8B-B14F-4D97-AF65-F5344CB8AC3E}">
        <p14:creationId xmlns:p14="http://schemas.microsoft.com/office/powerpoint/2010/main" val="1389772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207AA-F6B2-42DE-9455-A5D76E7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C8AFA-C9BA-499A-B434-B0453F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52834-C484-45D6-B7A7-97CB212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CEAB9-4825-4943-85DD-E8DDAE2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2124F-A491-4D95-8714-4917AD5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0195A-4BC6-4CC8-AFF9-17320B4A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A0A3E-9A73-4BC6-8FC4-91E184A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262B2-DCEF-444D-80F5-FF03D64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订单分拣被建模为“订单—SKU—站台—库存”的动态分配问题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5E6FD-C8F4-4DDC-93CF-BE2F16E5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关键是把现场对象抽象成算法可用的数据结构。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18ecb31d640c1"/>
          <a:stretch xmlns:a="http://schemas.openxmlformats.org/drawingml/2006/main"/>
        </p:blipFill>
        <p:spPr>
          <a:xfrm xmlns:a="http://schemas.openxmlformats.org/drawingml/2006/main">
            <a:off x="666750" y="2098477"/>
            <a:ext cx="5238750" cy="294679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6F77-6C9F-4FF4-87DC-23D89AB5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8D2D3-60E8-4DBB-9245-2273FC6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F765A-8A2B-4C10-A96D-77BFEF3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4114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订单波次：order_id、SKU、数量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工时：由历史拣选 Excel 重建平均处理时间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库存快照：日初/日末库存 JSON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站台约束：站台数、并发订单、箱体上限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820B9-0186-4374-BB74-2D071057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1416B-F3BE-4B74-9522-65BE9186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FDCB9-39E1-469B-9FC7-A770D6A6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每个订单分配到哪个站台；哪些订单可执行；哪些订单进入缺料异常队列；调度结果如何转成仿真时间线。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56838-D9A6-4819-BD1E-0F7895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38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EF18F-443C-49B0-BEE4-8634D33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38700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优化目标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1BE9A-C174-41D7-B055-13E49B67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缩短整批订单 makespan，减少库存等待和站台拥堵，提高站台工时利用效率。</a:t>
            </a:r>
          </a:p>
        </p:txBody>
      </p:sp>
    </p:spTree>
    <p:extLst>
      <p:ext uri="{BB962C8B-B14F-4D97-AF65-F5344CB8AC3E}">
        <p14:creationId xmlns:p14="http://schemas.microsoft.com/office/powerpoint/2010/main" val="110678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01B2E-AB2A-45E8-9F97-AAF743B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F378F-D6E6-4D30-B72E-E99702B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22737-ABEC-40CB-A9CD-ECA5C41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3B2EF-1F46-4C00-A319-C4EFE62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D9D08-C94F-4C20-BD4E-FE7DACB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E4919-197D-4744-984A-3C1A483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368F-3B87-48AE-9408-A7B3971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EA729-ECD8-490D-AD56-30DF2EF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技术路线把问题拆成六个可验证环节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2AFC2-65C8-457B-B69C-3A4744AD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数据准备、调度建模、策略求解、仿真验证、场景适配和系统展示构成闭环。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1ad0c2fed4bcb"/>
          <a:stretch xmlns:a="http://schemas.openxmlformats.org/drawingml/2006/main"/>
        </p:blipFill>
        <p:spPr>
          <a:xfrm xmlns:a="http://schemas.openxmlformats.org/drawingml/2006/main">
            <a:off x="3213100" y="1952625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C32E4-F52E-4373-9993-5DA9905A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73F96-A195-4A24-9361-9769603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2399C-F318-4832-99CA-C815F8D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拣选记录、订单池、库存快照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702F6-DB03-44B2-8D04-FB6AEBD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91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A8D73-12A0-4DDC-8970-A06A1E97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86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调度建模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20A27-084F-4D07-ADA5-F2D7626E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911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站台负载、订单耗时、约束规则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7935F-62CC-4DA6-A5BB-FBD2F5A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68A06-FB47-4121-AB0B-CBD7B0F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86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策略求解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060D0-B6E0-4DE9-A968-3B7DC31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911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Maskable PPO 学习分配策略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08CFF-9FD0-4A62-96F5-8F7347E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91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05B0F-B415-4B6E-BBE0-B0322E0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86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8740B-C5E1-46BB-BF96-6BF3A70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911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SimPy 还原处理时间线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A438F-355A-479C-BED5-84C6077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63510-0BB8-4380-976D-8B7AAEF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86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系统展示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D1955-DD9C-4AB4-A77D-1512269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911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前端展示任务进度与3D过程</a:t>
            </a:r>
          </a:p>
        </p:txBody>
      </p:sp>
    </p:spTree>
    <p:extLst>
      <p:ext uri="{BB962C8B-B14F-4D97-AF65-F5344CB8AC3E}">
        <p14:creationId xmlns:p14="http://schemas.microsoft.com/office/powerpoint/2010/main" val="72202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4B311-6B62-4069-8889-BEF75D5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6D110-818D-4B2B-86AA-CFBA7C1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64B47-EC0A-4CA8-910F-1E44A17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7BECB-3364-4AA9-A4B9-3635A942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09911-AA1E-4390-A182-BECA0E6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5FE3-D977-4367-ACEC-69EE2E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FD4F4-7DB6-43ED-9B39-37077B7E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42CA1-824A-4545-A455-6A1F9881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数据侧：从 Excel 到数据库，再到仿真可用的 JSON 快照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CA71B-D23A-4C16-A5A1-07ADF84F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这是最先补齐的基础，也是后续模型和系统能跑起来的前提。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AFB76-19FD-44E6-89B5-5A0487E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1BAD7-FD33-43F5-8E98-BF15873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FDBB3-B34A-4AE3-B4F8-1CDDC6DD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1818C-2269-47D7-914F-90C06EDF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06224-443C-4221-9FAC-7346F4BC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5B8A9-35DF-4DDC-BF4B-E813C21F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559FB-45E8-4E83-980B-F7BCFA8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544D3-281F-46E6-91EA-EF896DFC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历史拣选 Excel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473AD-4568-4F9D-A885-398D6E6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重建 SKU 平均处理时间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7B41E-BB5C-4EEE-93D8-BFA8F5F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t_part_master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7905D-2ABB-419A-A097-1933D87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每日订单 /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F3DA7-3660-4DA7-8E85-308E849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9087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按波次导入订单池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B066A-3577-43FD-BF3F-232F5487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t_order_pool / t_order_bom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CDA03-FB0C-4B8F-ACE6-5D4FA8C8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日初/日末库存 Excel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D34B2-F802-43DE-A42E-9A127901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预处理成轻量库存快照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E032B-A961-40A3-AB03-4208E29A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data/inventory/*.json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A8ABE-5771-49BF-B0A0-F74C1A2F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调度与仿真结果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7B247-C7C3-4F24-B991-EAAFC84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记录任务、站台分配、playbook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56BEB-9AE1-4953-B693-003C6039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38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output/playbooks / schedule_results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0D252-8E4E-4ED0-A306-0C06176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C095C-92B3-429F-91BB-8B91C063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830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落地要点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09586-388E-45F5-9EE5-784FC0A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算法不是直接吃 Excel；必须先处理编码、粒度、缺失值、异常值、库存日期和订单波次。</a:t>
            </a:r>
          </a:p>
        </p:txBody>
      </p:sp>
    </p:spTree>
    <p:extLst>
      <p:ext uri="{BB962C8B-B14F-4D97-AF65-F5344CB8AC3E}">
        <p14:creationId xmlns:p14="http://schemas.microsoft.com/office/powerpoint/2010/main" val="466529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D6D79-2824-4023-9DD2-D418E05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B84A2-BB6A-461D-88B3-514C153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D193A-0D77-42CB-8B88-C878DA1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CF86C-CBDC-4004-9494-C6D645D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B4739-8540-40D4-8502-ECFACE3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CDBFE-DC88-471A-96B5-0C218A5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FF5A0-6BD3-4767-84BB-F6F8E97B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5DD4C-5F62-4EC0-A136-AE5EDB7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库存预处理把缺料问题前置，避免仿真中反复等待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DC633-D342-481A-AF3B-275EBF4B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库存快照不是附属功能，而是项目能贴近真实现场的重要约束。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7700-6E6A-4B1C-BFCC-F6183F17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78663-399F-4D9A-B69F-D470F60E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输入订单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7A163-9BDB-4143-8496-9B0A18C7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581单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CAC67-6283-4CF0-AA73-F064624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764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DC06-8F18-4089-BA3B-6784808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缺料异常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552DA-1147-4778-BF5A-E7E5D029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59单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268FA-EAAF-43E4-A96F-9212976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764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5C987-60A3-492B-8643-6A95C54E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稀缺SKU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E8274-66BE-4C79-B369-CE77AA72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186类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DE876-2B18-41A9-8CBB-05DEB20D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43CF8-B50C-4369-B11B-B273F0F2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库存等待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AAF27-74B7-4654-84D5-78DC0AB9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1460.5s→298.2s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8462A-7F94-44F9-9734-2B71C88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FE3F1-437C-4689-806F-041014E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等待下降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11EEB-B41B-48A9-98FA-5836DC3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79.6%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0D07B-65FA-4581-9827-B06BFA3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2C2CB-42DD-47BE-9F98-E423ED8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76625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处理逻辑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403F2-2BF3-4DA0-86B0-E77FC32E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81425"/>
            <a:ext cx="449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读取订单需要的 SKU 和数量；读取日初库存快照；判断订单是否可满足；可执行订单进入调度和仿真；缺料订单进入异常队列。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19A8C-5E5B-49E8-9B0B-AAB28DD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6107F-1B30-4C06-B9C1-7120118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2F37E-977E-4769-82C6-75B9B5F7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81425"/>
            <a:ext cx="449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如果缺料订单继续进入调度，仿真会出现大量等待和无效占用，模型效果也会被库存噪声干扰。预处理让 AI 调度更专注于可执行订单的站台分配。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F1610-75CD-453B-A216-FDA882C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7月1日数据验证：库存预处理使等待时间下降79.6%，是本学期最贴近现场约束的一项改进。</a:t>
            </a:r>
          </a:p>
        </p:txBody>
      </p:sp>
    </p:spTree>
    <p:extLst>
      <p:ext uri="{BB962C8B-B14F-4D97-AF65-F5344CB8AC3E}">
        <p14:creationId xmlns:p14="http://schemas.microsoft.com/office/powerpoint/2010/main" val="968269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E174A-9344-4C03-8A41-BE7E2946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64443-14C1-4835-9B18-7CF642B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5B603-AB7C-44CA-A348-087828C1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0ACBF-275B-429D-A9A7-391A920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67E4C-B69A-4ADC-8A57-A46870F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1FB4-EE70-4692-B1D4-283AA24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3FD01-AB2C-4FC9-8A93-1D39B1A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C1C9B-C632-4DF3-A739-E0AC7EAF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强化学习环境：让模型学习订单分配的长期收益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E592E-2111-4566-9703-C522237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Maskable PPO 用动作掩码限制合法站台，用奖励函数引导整批效率。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df1cff5054a01"/>
          <a:stretch xmlns:a="http://schemas.openxmlformats.org/drawingml/2006/main"/>
        </p:blipFill>
        <p:spPr>
          <a:xfrm xmlns:a="http://schemas.openxmlformats.org/drawingml/2006/main">
            <a:off x="571500" y="2064246"/>
            <a:ext cx="5191125" cy="292000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FF9E1-8707-4183-8362-FC8A04D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A483F-CDAD-44A2-B01D-4015E22A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状态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180F4-37B7-414A-B588-63560F0E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4792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站台当前负载、订单处理时间估计、队列状态、已分配情况等，描述当前调度局面。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29B01-9830-4A29-9CE1-E30951B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3BB9-B25D-449F-89BF-D2B7129E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95625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动作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AADDB-56BA-49EF-A47C-C60D0A4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0042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选择当前订单分配到哪个站台；动作掩码用于屏蔽不合法或不可用站台。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FF9C5-08E8-482F-975A-7A8C512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52875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3C455-BBCD-4DC6-92A9-57D5986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48125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奖励 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1CD3D-6254-44E4-98D4-C2C3379F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52925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局部上考虑拥堵、距离和非法动作惩罚；整批结束时加入 makespan 奖励，让模型关注最终完工时间。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A00BB-CCF6-4A8E-85A4-6000AA0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292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E8B0D-470C-4E4E-AD03-2BFDD10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1244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训练配置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1CA1E-B311-4C9A-870F-8DF497C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292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3,000,000 steps；学习率 3e-4 -&gt; 3e-5；n_steps=4000；batch_size=1000；正式模型为 ppo_masking_model_v6.zip。</a:t>
            </a:r>
          </a:p>
        </p:txBody>
      </p:sp>
    </p:spTree>
    <p:extLst>
      <p:ext uri="{BB962C8B-B14F-4D97-AF65-F5344CB8AC3E}">
        <p14:creationId xmlns:p14="http://schemas.microsoft.com/office/powerpoint/2010/main" val="1707631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D2C8E-0518-4294-B90D-F922B17A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89B25-6A7F-46A2-9780-597B0315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91B71-ADC3-45D9-9F0A-0F55FD2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EA278-9CA3-4DB8-A3A7-C55E273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C4A2F-3791-46EB-BADF-9B95D57F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ACD23-8F96-4B7D-8AB3-1F4A39A9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87712-5B4D-46AB-8FF9-00C53CAF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D77AA-0818-4765-BF72-31FD717C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训练不是看最后一条曲线，而是要筛选能稳定泛化的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BDD11-AA8E-4D4C-8DE7-A384881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固定测试订单集让模型选择更可复现。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FA724-1ED5-49C4-B342-58A6DF2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FF289-6109-4388-8334-42839C69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评估订单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63AF7-7E7A-444D-990E-8CF338C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2000单固定测试集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2A79A-ABA5-4F4F-922E-AF93B00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73B60-8710-48B3-8241-4E1F1EB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站台范围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0B089-9A75-46F9-8327-D985090A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955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2~16个站台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7D02F-1DAE-4893-A4D3-BEE598C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9D216-0E52-4E78-85E4-0E714F35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最佳模型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315C8-C5B1-4399-ABDB-90E15DE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1520000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6F430-2086-47ED-8A00-3299A53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A143C-F74A-44ED-A983-8812CF2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平均makespan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44830-4282-4C5C-A26F-F932EA72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45491.175秒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9452B-33B8-4AF4-A0D1-120E807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B9C8F-761A-4708-90E5-206695E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正式模型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09690-5C9B-4AD3-906C-E0F3F68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ppo_masking_model_v6.zip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8460F-5A39-48AF-98E5-5865871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16站台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38CB4-2C35-4D32-B40B-120666E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19848s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EF4E-F555-48C5-BB41-13E728B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12站台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BCD57-ADE0-4BEB-8076-550FDFA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25949s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491F5-BEDE-439A-9433-ADAFF60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8站台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6A926-616A-4DEA-9C5F-459518F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36894s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D63C8-717D-452E-9197-C4C3A0B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4站台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876B8-4F7F-43A6-92AD-35051874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71541s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E3566-2F8C-43F4-9594-B8DDFE32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2站台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D11CF-9C67-44B9-AAB4-337AE3BF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131584s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86B51C-7FB3-4EB3-84AB-B889D37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站台越少，makespan 上升越明显；模型筛选必须跨站台数评估，而不是只在单一配置下比较。</a:t>
            </a:r>
          </a:p>
        </p:txBody>
      </p:sp>
    </p:spTree>
    <p:extLst>
      <p:ext uri="{BB962C8B-B14F-4D97-AF65-F5344CB8AC3E}">
        <p14:creationId xmlns:p14="http://schemas.microsoft.com/office/powerpoint/2010/main" val="14972684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44439-318B-4FD2-A583-E510F984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E68AE-AA42-4056-83D2-E5614792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F136-94BB-4BFA-8529-D3493A3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61D1C-48DF-426D-BAC2-F63A372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970F4-B47F-4146-B930-42EB8FB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89DCC-0426-409C-B07B-7B48F314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33775-3F51-48A8-96B7-2FB168D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434C8-CA59-4F7D-9F06-8ABAFA5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仿真层负责把调度结果还原成可解释的作业过程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2310C-46B6-4CF2-B665-0D573B83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SimPy 离散事件仿真让模型输出从“站台编号”变成“时间线”。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5e1f0b5224d09"/>
          <a:stretch xmlns:a="http://schemas.openxmlformats.org/drawingml/2006/main"/>
        </p:blipFill>
        <p:spPr>
          <a:xfrm xmlns:a="http://schemas.openxmlformats.org/drawingml/2006/main">
            <a:off x="590550" y="2056805"/>
            <a:ext cx="5048250" cy="2839641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5da3b4a1d4ca5"/>
          <a:stretch xmlns:a="http://schemas.openxmlformats.org/drawingml/2006/main"/>
        </p:blipFill>
        <p:spPr>
          <a:xfrm xmlns:a="http://schemas.openxmlformats.org/drawingml/2006/main">
            <a:off x="6136821" y="2047875"/>
            <a:ext cx="4490357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6F405-1AF3-4AEF-B1BA-25BB5AA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1E611-FBBB-4AF6-B765-7E32B13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仿真输入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2A41B-371C-415F-BA82-BDE5F58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订单-站台映射、SKU平均工时、库存快照、站台并发限制、箱体/订单挂载规则。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6D5D6-8E7E-4794-8B50-2E20DCC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11402-5B82-4D80-86E7-FA28C81B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86375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仿真输出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B2D37-28AC-495B-8ECE-93036A1C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911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每个订单和SKU的开始/结束时间、站台负载、等待事件、缺料事件、3D playbook。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2FEBF-0026-456F-AA7A-D97A2E4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170A8-AEF6-48C7-9F51-F8DABD7B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86375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E0CA1-5FE3-4ADC-A3BC-3F0464E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911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把算法结果变成可查、可解释、可展示的过程，便于复盘和追问。</a:t>
            </a:r>
          </a:p>
        </p:txBody>
      </p:sp>
    </p:spTree>
    <p:extLst>
      <p:ext uri="{BB962C8B-B14F-4D97-AF65-F5344CB8AC3E}">
        <p14:creationId xmlns:p14="http://schemas.microsoft.com/office/powerpoint/2010/main" val="1415603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3F34B-4CF5-4D45-903C-BABA5319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AF25C-5F15-4FCD-96E3-23508B4B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248FB-4B4B-4925-B556-ED68933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161C5-EA19-406B-ADED-3229269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13EDF-8699-428B-A7BC-1005212D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9F71A-1B8A-41C1-8D2C-0713ECF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CD55B-23B5-4BF1-9CC0-01F9196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2CB64-0152-46BD-877E-9623048C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系统侧：后端接口把算法、数据和前端串起来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44AAE-5B3D-445C-A9B7-135767EF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系统不是演示壳，而是项目落地必须具备的服务层。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ff5d81cd4444a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79509-CD29-4D1F-BDA4-B70E792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191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91E97-E1DB-4659-8984-777C067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955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后端核心接口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AB88B-278D-44BD-9DB5-56801CC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00300"/>
            <a:ext cx="3924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/orders/upload：订单导入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/simulation/start：启动仿真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GET /simulation/status/{task_id}：轮询任务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GET /simulation/playbook/{task_id}：获取3D剧本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/schedule/dispatch：纯调度接口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E5AE0-8E0D-409B-A21D-5EC248CF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155DA-A270-46A9-BDE8-148355B7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052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数据库角色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D5170-2BB0-49D9-BB74-32DCE25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t_part_master 保存 SKU 工时；t_order_pool 和 t_order_bom 保存订单；t_simulation_task 和 t_dispatch_result 保存任务与结果。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A91CA-217D-4D1A-BDEC-AB5874D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33950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919FB-0C04-4B75-A6B3-6436EE45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292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我的理解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CA47D-CC32-46AB-8BD9-899B052D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334000"/>
            <a:ext cx="392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接口化之后，算法才不是一次性脚本，而是可以被前端、验证脚本和业务流程重复调用的服务。</a:t>
            </a:r>
          </a:p>
        </p:txBody>
      </p:sp>
    </p:spTree>
    <p:extLst>
      <p:ext uri="{BB962C8B-B14F-4D97-AF65-F5344CB8AC3E}">
        <p14:creationId xmlns:p14="http://schemas.microsoft.com/office/powerpoint/2010/main" val="589282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CE84F-593A-499E-A779-2883815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4E48F-C525-403E-BF55-8A3290E0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9FE87-D66F-4FA7-BA0F-43B5083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50752-6203-447F-8301-AED7C4B6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261B5-6FB8-4FD6-A245-C2531C6F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2179-B1A7-451D-AE38-9F07E2A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349B-7F6F-4344-888A-1F7983F0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FBA64-D7E5-4352-B650-7F3ECCC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前端与 3D 可视化让调度过程可以被直接观察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DE40A-D7BD-42E8-827D-7216A77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可视化不是装饰，而是验证和沟通的一部分。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00a0a380c4c97"/>
          <a:stretch xmlns:a="http://schemas.openxmlformats.org/drawingml/2006/main"/>
        </p:blipFill>
        <p:spPr>
          <a:xfrm xmlns:a="http://schemas.openxmlformats.org/drawingml/2006/main">
            <a:off x="663575" y="1952625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2A7F2-F4B7-4CFB-9850-FE59F21E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4BF9F-67E4-4322-9C2A-F42A647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前端展示内容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2C943-3CD7-4989-A61F-66F33E49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订单进度、站台状态、任务状态、3D数字孪生动画、调度结果与播放控制。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19650-1AF0-4113-B68E-7743A0C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DC637-1331-4E9F-AD1C-6943032A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F357-737E-4256-96A1-47E95589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如果只展示 makespan 数字，听众很难理解调度如何影响现场；3D播放能把站台、箱体和订单流动表现出来。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2724A-991F-428A-B739-A844E8B2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49A77-6787-45B7-8204-BAE65EBF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本学期跑通结果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B99BB-D2AD-4970-8EFB-FE2C52B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后端生成 playbook，前端读取后渲染动画，说明算法输出已经能被可视化链路消费。</a:t>
            </a:r>
          </a:p>
        </p:txBody>
      </p:sp>
    </p:spTree>
    <p:extLst>
      <p:ext uri="{BB962C8B-B14F-4D97-AF65-F5344CB8AC3E}">
        <p14:creationId xmlns:p14="http://schemas.microsoft.com/office/powerpoint/2010/main" val="18545124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0D641-0556-4772-80BD-21DCC3F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1DBC0-E4FC-4FE7-846B-706CF0D2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4D46A-C8EF-4171-A82C-179C856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6F10C-E7FE-44D3-98C1-41CC9CAD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4ADE-F7E5-47C3-8A3F-7C42081F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92948-DE92-4FD1-BCC1-AF5B602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3F3F5-6BFF-46BE-8A28-527DF73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1AD0-7892-4BCA-8005-7CCDC45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本学期完成进展：从初步代码到系统闭环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763D-361F-4EFE-A422-9399993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对照立项阶段进度，本学期补齐了数据、模型、仿真和展示链路。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3bba8d82d43e9"/>
          <a:stretch xmlns:a="http://schemas.openxmlformats.org/drawingml/2006/main"/>
        </p:blipFill>
        <p:spPr>
          <a:xfrm xmlns:a="http://schemas.openxmlformats.org/drawingml/2006/main">
            <a:off x="682625" y="201930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024C-68CA-4F86-9713-5B6322C6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191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C9B1D-BE1C-453C-9EBB-6E144DD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本学期新增/深化内容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2D055-5D2A-454D-920F-285CD7EC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39243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1. 梳理订单分拣智能调度系统运行流程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2. 重建 SKU 平均处理时间与数据目录规范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3. 完成库存快照预处理与缺料异常队列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4. 完成 PPO v6 模型训练、checkpoint 筛选和保存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5. 跑通后端仿真接口、纯调度接口与前端播放链路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6. 完成 15 天历史数据回放与效率对比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A05EE-DFD8-456B-844D-6B4A090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从立项PPT的“当前进展”继续推进到：可运行、可展示、可验证。</a:t>
            </a:r>
          </a:p>
        </p:txBody>
      </p:sp>
    </p:spTree>
    <p:extLst>
      <p:ext uri="{BB962C8B-B14F-4D97-AF65-F5344CB8AC3E}">
        <p14:creationId xmlns:p14="http://schemas.microsoft.com/office/powerpoint/2010/main" val="5825975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8383C-A120-4B25-90D8-BF26D178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076A3-30EB-4817-BD72-576298F2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3422D-6C6D-4C26-8CCB-F2883BA6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A7417-A58A-41EF-90EC-5290463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897BD-88DE-4275-BFD3-79D26D64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DCCA6-535D-40F7-A885-F64E368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B442-20EC-4FFD-9521-6C3C143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3884B-00A6-4F21-92E9-90864EBC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验证设计：不能只看训练曲线，要回到业务指标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A1350-5E84-4734-BCE5-881C583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本学期采用固定测试集、历史回放、库存预处理三类验证。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C5B3A-873E-40DA-AB46-45D5A82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54E84-4526-428B-93F4-880207B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模型筛选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F6D04-CA0F-46CB-AD1A-C06FE331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固定2000单测试集，跨2~16个站台评估checkpoint，选择平均makespan最低的模型。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D78CB-32BB-4A54-90DB-8B78989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43125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E3BA6-F53C-445F-BE47-D5E0293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历史回放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17AF2-45E9-40EF-AA61-6694F424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43175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用2026年4月15个业务日比较AI、轮询、随机和历史回放表现。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123AE-871D-4BD6-A3DB-44CB4DA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36712-FB3D-48DD-BED2-E1A43E8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库存预处理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10950-7046-4486-8B7B-7B7AE4B7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用2025-07-01订单和库存快照验证缺料异常队列与等待时间下降。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E653A-67B7-41B8-81CB-3002A98A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1779F-3E51-48D1-9EF0-6B75C14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系统验证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6B860-DFEC-4AED-AE9A-898EEA17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后端任务状态、playbook输出和前端3D播放链路跑通。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72B5E-520C-4772-A225-FE65920F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验证逻辑：先确认模型能稳定选择，再确认历史数据有效，再确认现场约束和系统链路可落地。</a:t>
            </a:r>
          </a:p>
        </p:txBody>
      </p:sp>
    </p:spTree>
    <p:extLst>
      <p:ext uri="{BB962C8B-B14F-4D97-AF65-F5344CB8AC3E}">
        <p14:creationId xmlns:p14="http://schemas.microsoft.com/office/powerpoint/2010/main" val="16141371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F03FEB-B6F9-4A47-99A8-1DF0CBF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F935-2FB7-4686-ABD2-64B7D48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24354-0FB5-4BB1-9390-31555E9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D9516-63A3-4080-A3AE-BF8C59E1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93484-ADA7-4BF2-92CA-77EDB2C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5F073-967F-42AD-9CF3-39FC6BB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D087D-BDE6-40D7-B50F-B7148B28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7B957-EADC-401E-9D4C-11FD9D10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15天历史回放显示AI策略在多天数据中保持优势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DAAF1-8939-4720-A35D-793C0D07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AI 相比随机平均 makespan 提升 30.7%，相比实际净工时平均提升 58.8%。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14c1f1d9a4cc7"/>
          <a:stretch xmlns:a="http://schemas.openxmlformats.org/drawingml/2006/main"/>
        </p:blipFill>
        <p:spPr>
          <a:xfrm xmlns:a="http://schemas.openxmlformats.org/drawingml/2006/main">
            <a:off x="704850" y="2322635"/>
            <a:ext cx="6667500" cy="297473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36E14-22DC-4E73-A706-A039213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276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1C027-44CB-4857-A6AA-8CF2CF6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38375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平均 makespan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08131-D16C-49E4-9A83-D250346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43175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AI：28679s</a:t>
            </a:r>
          </a:p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轮询：29580s</a:t>
            </a:r>
          </a:p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随机：41500s</a:t>
            </a:r>
          </a:p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实际净工时：52640s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82E71-AC5B-4C80-9852-CBA740C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276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D015C-3064-42A9-B210-97C87D4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10000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提升幅度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90C50-2DAA-41FC-9C7C-340E167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114800"/>
            <a:ext cx="249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AI vs 轮询：3.0%</a:t>
            </a:r>
          </a:p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AI vs 随机：30.7%</a:t>
            </a:r>
          </a:p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AI vs 实际净工时：58.8%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BA085-4FC8-43EF-BC58-EA0FF2F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结论：AI不是每一天都绝对压倒所有基线，但跨多天平均表现更稳定，尤其明显优于随机分配。</a:t>
            </a:r>
          </a:p>
        </p:txBody>
      </p:sp>
    </p:spTree>
    <p:extLst>
      <p:ext uri="{BB962C8B-B14F-4D97-AF65-F5344CB8AC3E}">
        <p14:creationId xmlns:p14="http://schemas.microsoft.com/office/powerpoint/2010/main" val="1505392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0BFCA-867B-4E5A-89D3-E01E97B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22C2C-70AF-4EB9-A1F2-99370B6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FE43F-0709-4881-89D5-F3FE4DA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FFECA-8594-4EEA-A800-C28DEAE6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6F40E-6003-47A9-B611-59F533B1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0DB33-6D1F-45DC-9E5B-5E34B51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5F97-01D7-4752-A72D-26A8901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9D603-8C71-4487-BAC0-540EDA16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站台工时效率说明AI不只是缩短时间，也减少资源浪费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061D-4CDC-4144-8051-637E3084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效率公式关注“站台数量 × 工作时长”，更贴近现场资源利用。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ae8e9fc304ba1"/>
          <a:stretch xmlns:a="http://schemas.openxmlformats.org/drawingml/2006/main"/>
        </p:blipFill>
        <p:spPr>
          <a:xfrm xmlns:a="http://schemas.openxmlformats.org/drawingml/2006/main">
            <a:off x="666750" y="2461846"/>
            <a:ext cx="4762500" cy="2124808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9ed74b9cc4fd7"/>
          <a:stretch xmlns:a="http://schemas.openxmlformats.org/drawingml/2006/main"/>
        </p:blipFill>
        <p:spPr>
          <a:xfrm xmlns:a="http://schemas.openxmlformats.org/drawingml/2006/main">
            <a:off x="5905500" y="246184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14662-3AF6-4B99-A8EE-4DB1DECF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C3F81-0D46-4035-A611-30651CBF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AI vs 轮询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8A2F9-61A5-4261-89AE-55A13864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24.0%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98A94-6F81-4AFB-BD0F-671805EB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21B3A-A129-49C6-8EB8-372E42E8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530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AI vs 随机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2DDB9-C177-4CB4-9F33-C67258CB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578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61.9%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4457D-10DA-4A81-B4D7-A2DBF53B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BFB7D-7DF0-4D7A-AD82-AB1910E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530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AI vs 实际净工时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96A67-7BE1-4972-9901-96D207F6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578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60.1%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6C467-9970-48C2-A9DF-8AA33DB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768EE-6160-443D-80DE-453D8154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530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AI vs 历史回放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3E127-7F34-4516-963A-DF086D65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25.3%</a:t>
            </a:r>
          </a:p>
        </p:txBody>
      </p:sp>
    </p:spTree>
    <p:extLst>
      <p:ext uri="{BB962C8B-B14F-4D97-AF65-F5344CB8AC3E}">
        <p14:creationId xmlns:p14="http://schemas.microsoft.com/office/powerpoint/2010/main" val="1369263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55E1D-2780-4E42-9CBD-8F59224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83FF6-0259-462F-B9AB-D05111F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339E9-3DBF-4711-9ED7-DC118A2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08829-8431-408D-8C2F-4B4AB86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F8FF6-DFB6-41F2-B6FE-F7EE36A5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B6614-00C5-4FDB-990B-AE2715B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7716D-0BEB-4783-8F63-10F96C1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F71C4-C78E-4121-9757-52F27B0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库存预处理验证：等待时间大幅下降，异常订单可解释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BB04C-4816-43AE-8A5F-C226E49E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把库存不足从仿真中剥离出来，让可执行订单调度更干净。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5E448-95B4-418D-AD55-BAAEC9E3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29972-E1A8-4CA5-9847-09EDBA9A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DF380-031A-4B4B-90B5-8225A74A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1431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1FDDB-95AF-43B7-8DC5-75C39561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预处理前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13A74-4FDD-4867-B367-406AA691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4AA62-E3E4-4D79-8B22-D60D0F7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预处理后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38256-DCD1-48BC-8020-0484E790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21431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BB295-6DC0-4600-B9E3-0243DC4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2276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79372-9CE3-44A1-9BB3-0E669901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78001-4B82-43FB-AD66-D7EDBA0F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库存等待时间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563DC-9255-4BFA-BE38-D1578515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6384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D9ABF-8B75-422E-8EF9-10F8EE8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771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1460.5s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6454B-FA43-433D-967B-5B8D31B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384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7170F-20E1-418F-8676-3AD8C21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71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298.2s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12030-65DA-4AF6-8CA3-9B0F1FB9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26384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8CC30-94FB-42BB-ABC5-5AAEB30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2771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-79.6%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2F7D8-A4B7-4C15-B527-F26295E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5999F-8F36-42C4-B69C-1814B68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makespan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8F0F9-4BE7-42CB-8B2C-9535E38C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337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4DEE5-2D77-4D70-951E-DC38052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3267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8116.3s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C80D2-A491-4402-9B10-5F59082C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337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85645-45BB-40F7-A3B2-D7588F2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67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7178.7s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DCF14C-B3F9-4E6C-96C6-85028097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1337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BA37C-6C77-436C-BE08-84678610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3267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-11.6%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B6AF7-B763-4193-89FA-91B8EFB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5323E-429D-4426-8E2A-9CF942F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缺料订单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72A55-E54E-4727-BB1F-2A23A6F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6290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39C3E7-4832-42F5-AD9C-320E312F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3762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仿真中触发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FBDA9-112D-4B8A-9E55-21884C8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290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E467B7-A424-4348-BA9D-8767461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62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59单进入异常队列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605B2-2B19-49B8-BC8C-DE8CE88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6290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677F67-774B-4C87-A831-FEF095C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3762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58CB32-E22F-434C-AAC7-67542882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AB7E6-453A-4468-AC34-488C8E0D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稀缺SKU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174170-6B0A-408E-AAA6-827507D5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41243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C58D26-F404-4079-82C9-DC00E6F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4257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未前置识别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3D550B-C6D1-4E87-8B44-96E575E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243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7D23FA-456E-453B-9EB9-08D9954D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57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186类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B261AC-B034-442E-8120-BF3512B4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124325"/>
            <a:ext cx="24526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17F80D-D327-4750-9BAE-B273E69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4257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可跟踪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D46889-A69C-419E-8341-0E40E27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19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CAFE12-E7B7-4B2E-8D7E-6628282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91125"/>
            <a:ext cx="792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对项目落地的意义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194CFE-3CE8-4608-A047-78DDD424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95925"/>
            <a:ext cx="792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库存预处理让调度系统能够明确回答：哪些订单能做，哪些订单不能做，为什么不能做。这比单纯输出一个调度结果更接近现场使用。</a:t>
            </a:r>
          </a:p>
        </p:txBody>
      </p:sp>
    </p:spTree>
    <p:extLst>
      <p:ext uri="{BB962C8B-B14F-4D97-AF65-F5344CB8AC3E}">
        <p14:creationId xmlns:p14="http://schemas.microsoft.com/office/powerpoint/2010/main" val="1271803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57908-68C8-4295-8F24-9D172B9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555F9-E2B3-401B-8C07-1CE57E0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CB952-51B8-49F2-8624-04993FBB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7991E-3E92-4A95-A585-37E39F95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5507C-4195-4265-9591-DEB3BFC5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B67C2-E69A-4AA2-BA68-EF277C83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8C667-C3E6-4862-8AAC-907BF662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24357-93A6-46AB-92DA-22C2F2B2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3D可视化与仿真日志让结果可复盘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BFF68-9BAC-4734-B535-DF77AE2A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从命令行日志到前端动画，本学期形成了多层次验证证据。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2a3f8c51545b4"/>
          <a:stretch xmlns:a="http://schemas.openxmlformats.org/drawingml/2006/main"/>
        </p:blipFill>
        <p:spPr>
          <a:xfrm xmlns:a="http://schemas.openxmlformats.org/drawingml/2006/main">
            <a:off x="647700" y="2253258"/>
            <a:ext cx="3333750" cy="1875234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55acb14424eb0"/>
          <a:stretch xmlns:a="http://schemas.openxmlformats.org/drawingml/2006/main"/>
        </p:blipFill>
        <p:spPr>
          <a:xfrm xmlns:a="http://schemas.openxmlformats.org/drawingml/2006/main">
            <a:off x="4429125" y="2253258"/>
            <a:ext cx="3333750" cy="1875234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4a3f2b16b409a"/>
          <a:stretch xmlns:a="http://schemas.openxmlformats.org/drawingml/2006/main"/>
        </p:blipFill>
        <p:spPr>
          <a:xfrm xmlns:a="http://schemas.openxmlformats.org/drawingml/2006/main">
            <a:off x="8210550" y="2253258"/>
            <a:ext cx="3333750" cy="187523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CA183-8991-4AA3-A3AD-FB75D0D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EFC8D-1848-458E-901E-7E766A25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日志验证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A0EB6-DCB0-44DB-B00D-E1BE59E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检查订单进入、站台分配、SKU处理和makespan输出。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FD9C1-B1DE-4343-B9B2-2B7F01A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672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61E97-1848-41FC-99B8-7EFD817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6250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5E348-780C-4FA7-94AC-EAA4A52F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67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比较AI、随机、轮询等策略在同一订单集上的结果。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20B5B-362A-41F0-99E7-282F08E2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82904-2784-44D8-B773-F16A878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6250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可视化验证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5C365-8589-4EF5-A188-61D0546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67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把仿真playbook转成站台和订单流动动画，方便演示和复盘。</a:t>
            </a:r>
          </a:p>
        </p:txBody>
      </p:sp>
    </p:spTree>
    <p:extLst>
      <p:ext uri="{BB962C8B-B14F-4D97-AF65-F5344CB8AC3E}">
        <p14:creationId xmlns:p14="http://schemas.microsoft.com/office/powerpoint/2010/main" val="16502280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87417-61FC-4F9D-868C-1BA6002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58E96-69D6-4A7A-880A-04E9F4CD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C8F43-2A1E-4B41-9E64-12C95E70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D283D-6FA4-49AC-9020-6063D7E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E8F66-EBDD-4A8D-A622-6A65005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25BB-6129-4625-9E6D-5C18C8F8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F9E44-A93E-468F-8A71-05F22A1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43101-643A-4F5C-A4FE-3E548B0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本学期成果：形成可演示、可接口调用、可验证的调度原型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A0388-B70A-4E1E-8131-5511353D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项目成果和个人学习成长同步推进。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B9897-6CE3-428D-B50C-07186DB2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F125A-E367-48C5-8986-A7BB527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项目完成内容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9C0C6-7127-4EB2-8A2D-DF1B564F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51625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1. 整理订单、SKU工时、库存快照和配置文件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2. 训练Maskable PPO，补充makespan奖励与checkpoint筛选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3. 用SimPy还原站台处理、等待和缺料过程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4. 跑通订单导入、仿真启动、状态查询和playbook输出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5. 完成订单进度、站台状态和3D动画展示链路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6. 完成15天回放、库存预处理和站台工时效率分析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38DDB-D778-469E-9C8F-BDA9153A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A2EB7-A0B5-47A3-BB9F-BA4EBB38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个人能力变化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3CE97-D1BC-4858-8289-BDA7D60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829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学期开始：强化学习、数据库、数据集、前后端和落地验证都比较陌生。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现在：能够解释订单分拣智能调度系统从数据准备到算法训练、仿真验证和前端展示的完整流程。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30A81-E92E-4F9E-B277-93605BA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最大收获：理解“模型有效”不等于“项目可用”，系统落地必须同时回答数据、约束、接口、验证和展示问题。</a:t>
            </a:r>
          </a:p>
        </p:txBody>
      </p:sp>
    </p:spTree>
    <p:extLst>
      <p:ext uri="{BB962C8B-B14F-4D97-AF65-F5344CB8AC3E}">
        <p14:creationId xmlns:p14="http://schemas.microsoft.com/office/powerpoint/2010/main" val="1419901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9BC8B6-75A2-4687-A87A-216E21F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C5BC7-0E9B-4B26-AD07-278D7198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9382B-5129-4815-A3A0-353CFE8D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B9E79-CEAC-4E7E-8B30-C3391774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CE43C-4DC5-48FC-81AA-FDBC073F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28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814ED-FFF1-4289-8945-6DAF70E4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8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3F5D6-34BE-4725-A78D-F249AF0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E1CF4-3F8C-4623-B9C1-ACC8409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不足与后续计划：继续向真实业务闭环靠近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9F75C-37F2-4BB0-9E27-35ADEAAD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下一步重点是扩大真实数据验证、增强异常解释和自动化能力。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0DB43-E698-4A34-86E7-6212381C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7199C-A896-4F46-BADD-35440EE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真实数据扩展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FFBF9-9204-44E4-A372-9B666B6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继续补充更多业务日数据，覆盖不同订单量、站台数和库存状态。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42E5-4A3C-47E9-BE3A-31C2FD62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1FDEB-05FE-46DF-A151-3F3DC335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异常解释增强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6BFB4-4E9E-42E4-BAD4-809C6EC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对缺料、等待、拥堵订单生成更清晰的原因说明和追踪报告。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10DD5-5AAD-4F4E-B769-1AA3D33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914C6-9536-41F5-AA79-780410ED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模型自动评估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54F5A-ACEB-4B6B-94B3-D4DA366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训练后自动筛选checkpoint，输出跨站台、跨日期的稳定性报告。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826BE-C6DC-460B-A71C-97D19C0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8979A-58AA-4441-8F27-461CB2B6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95650"/>
            <a:ext cx="449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前后端配置化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74427-7167-4CCC-89BB-17AE252B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让模型选择、站台数量、库存快照、订单波次在前端更易配置。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3ECDE-426A-4E6B-B1CF-4182CC5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DB13E-2ADF-4EC2-9708-6D7EF484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963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4675"/>
                </a:solidFill>
                <a:latin typeface="Microsoft YaHei"/>
                <a:ea typeface="Microsoft YaHei"/>
                <a:cs typeface="Microsoft YaHei"/>
              </a:rPr>
              <a:t>现场指标对齐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96C76-9162-403B-83C7-FF2449C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继续与实际工时、人员安排、站台利用率等业务指标对齐。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47F6D-1A13-497F-BD2C-7BC87FE5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后续目标：从“能跑通”继续走向“稳定、可解释、可复用、可部署”。</a:t>
            </a:r>
          </a:p>
        </p:txBody>
      </p:sp>
    </p:spTree>
    <p:extLst>
      <p:ext uri="{BB962C8B-B14F-4D97-AF65-F5344CB8AC3E}">
        <p14:creationId xmlns:p14="http://schemas.microsoft.com/office/powerpoint/2010/main" val="1031496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70925-9C21-4A37-B8E9-ECAB2CE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AA329-77A5-44EF-BE82-7A6B0BCF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北京工业大学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3EFD7-39A6-4DA0-8D7F-CC3B1FE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BEIJING UNIVERSITY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6E17A-19BF-44D6-8B08-B882B477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WEICHAI 订单分拣智能调度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D1DC5-E89C-47D3-ABC7-DF379DC6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E796D-24F2-49CB-9353-B64135B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06A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06A99"/>
                </a:solidFill>
                <a:latin typeface="Microsoft YaHei"/>
                <a:ea typeface="Microsoft YaHei"/>
                <a:cs typeface="Microsoft YaHei"/>
              </a:rPr>
              <a:t>衷心感谢老师的指导！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57AEA-453F-46CC-894F-C9AA539B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5B5B"/>
                </a:solidFill>
                <a:latin typeface="Microsoft YaHei"/>
                <a:ea typeface="Microsoft YaHei"/>
                <a:cs typeface="Microsoft YaHei"/>
              </a:rPr>
              <a:t>欢迎老师批评指正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BA9B8-454D-41C9-BF1A-BC6BD55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F861A-0397-4D02-A1A2-AB71A2E2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9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潍柴订单分拣智能调度项目学期汇报</a:t>
            </a:r>
          </a:p>
        </p:txBody>
      </p:sp>
    </p:spTree>
    <p:extLst>
      <p:ext uri="{BB962C8B-B14F-4D97-AF65-F5344CB8AC3E}">
        <p14:creationId xmlns:p14="http://schemas.microsoft.com/office/powerpoint/2010/main" val="528443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2026-07-17T07:21:58.9170000Z</dcterms:created>
  <dcterms:modified xsi:type="dcterms:W3CDTF">2026-07-17T07:21:58.9170000Z</dcterms:modified>
</coreProperties>
</file>