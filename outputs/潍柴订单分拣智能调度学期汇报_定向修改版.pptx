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0c3f7caf844627" /><Relationship Type="http://schemas.openxmlformats.org/officeDocument/2006/relationships/extended-properties" Target="/docProps/app.xml" Id="R98e4cb0fc6a04e34" /><Relationship Type="http://schemas.openxmlformats.org/officeDocument/2006/relationships/officeDocument" Target="/ppt/presentation.xml" Id="R3eef4866ae1347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a18389f3f34b01"/>
    <p:sldMasterId xmlns:r="http://schemas.openxmlformats.org/officeDocument/2006/relationships" id="2147483661" r:id="R707451ce57fd4fc0"/>
  </p:sldMasterIdLst>
  <p:notesMasterIdLst>
    <p:notesMasterId xmlns:r="http://schemas.openxmlformats.org/officeDocument/2006/relationships" r:id="Re111ce1dba2f4753"/>
  </p:notesMasterIdLst>
  <p:sldIdLst>
    <p:sldId xmlns:r="http://schemas.openxmlformats.org/officeDocument/2006/relationships" id="256" r:id="Re23179f8094349b2"/>
    <p:sldId xmlns:r="http://schemas.openxmlformats.org/officeDocument/2006/relationships" id="257" r:id="Rcbbc8926bbd5470e"/>
    <p:sldId xmlns:r="http://schemas.openxmlformats.org/officeDocument/2006/relationships" id="258" r:id="R6137f22603624c4b"/>
    <p:sldId xmlns:r="http://schemas.openxmlformats.org/officeDocument/2006/relationships" id="259" r:id="R0543110b608c4874"/>
    <p:sldId xmlns:r="http://schemas.openxmlformats.org/officeDocument/2006/relationships" id="260" r:id="R3c8c7111ff02428b"/>
    <p:sldId xmlns:r="http://schemas.openxmlformats.org/officeDocument/2006/relationships" id="261" r:id="R0904cf4dc858424e"/>
    <p:sldId xmlns:r="http://schemas.openxmlformats.org/officeDocument/2006/relationships" id="262" r:id="Re3edaed16bec4008"/>
    <p:sldId xmlns:r="http://schemas.openxmlformats.org/officeDocument/2006/relationships" id="263" r:id="R6aecdfc906654b55"/>
    <p:sldId xmlns:r="http://schemas.openxmlformats.org/officeDocument/2006/relationships" id="264" r:id="Rba3d31339b034d42"/>
    <p:sldId xmlns:r="http://schemas.openxmlformats.org/officeDocument/2006/relationships" id="265" r:id="R832cd718f8c44309"/>
    <p:sldId xmlns:r="http://schemas.openxmlformats.org/officeDocument/2006/relationships" id="266" r:id="R36a48cbb93c94df2"/>
    <p:sldId xmlns:r="http://schemas.openxmlformats.org/officeDocument/2006/relationships" id="267" r:id="R31308243aee44594"/>
    <p:sldId xmlns:r="http://schemas.openxmlformats.org/officeDocument/2006/relationships" id="268" r:id="Rebcf3fb9129c4b4e"/>
    <p:sldId xmlns:r="http://schemas.openxmlformats.org/officeDocument/2006/relationships" id="269" r:id="R1970a3d8427b4638"/>
    <p:sldId xmlns:r="http://schemas.openxmlformats.org/officeDocument/2006/relationships" id="270" r:id="Re90c9058dad64b0b"/>
    <p:sldId xmlns:r="http://schemas.openxmlformats.org/officeDocument/2006/relationships" id="271" r:id="R7fffbadc67834814"/>
    <p:sldId xmlns:r="http://schemas.openxmlformats.org/officeDocument/2006/relationships" id="272" r:id="R62e646e8b9be47f6"/>
    <p:sldId xmlns:r="http://schemas.openxmlformats.org/officeDocument/2006/relationships" id="273" r:id="R253b357944be479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d1024004a4468b" /><Relationship Type="http://schemas.openxmlformats.org/officeDocument/2006/relationships/slideMaster" Target="/ppt/slideMasters/slideMaster1.xml" Id="Re5a18389f3f34b01" /><Relationship Type="http://schemas.openxmlformats.org/officeDocument/2006/relationships/slideMaster" Target="/ppt/slideMasters/slideMaster2.xml" Id="R707451ce57fd4fc0" /><Relationship Type="http://schemas.openxmlformats.org/officeDocument/2006/relationships/notesMaster" Target="/ppt/notesMasters/notesMaster1.xml" Id="Re111ce1dba2f4753" /><Relationship Type="http://schemas.openxmlformats.org/officeDocument/2006/relationships/presProps" Target="/ppt/presProps.xml" Id="R7f9cf21b1c25441a" /><Relationship Type="http://schemas.openxmlformats.org/officeDocument/2006/relationships/viewProps" Target="/ppt/viewProps.xml" Id="Rf779d8d2d2034a29" /><Relationship Type="http://schemas.openxmlformats.org/officeDocument/2006/relationships/tableStyles" Target="/ppt/tableStyles.xml" Id="R0b531c7442a9452b" /><Relationship Type="http://schemas.openxmlformats.org/officeDocument/2006/relationships/slide" Target="/ppt/slides/slide1.xml" Id="Re23179f8094349b2" /><Relationship Type="http://schemas.openxmlformats.org/officeDocument/2006/relationships/slide" Target="/ppt/slides/slide2.xml" Id="Rcbbc8926bbd5470e" /><Relationship Type="http://schemas.openxmlformats.org/officeDocument/2006/relationships/slide" Target="/ppt/slides/slide3.xml" Id="R6137f22603624c4b" /><Relationship Type="http://schemas.openxmlformats.org/officeDocument/2006/relationships/slide" Target="/ppt/slides/slide4.xml" Id="R0543110b608c4874" /><Relationship Type="http://schemas.openxmlformats.org/officeDocument/2006/relationships/slide" Target="/ppt/slides/slide5.xml" Id="R3c8c7111ff02428b" /><Relationship Type="http://schemas.openxmlformats.org/officeDocument/2006/relationships/slide" Target="/ppt/slides/slide6.xml" Id="R0904cf4dc858424e" /><Relationship Type="http://schemas.openxmlformats.org/officeDocument/2006/relationships/slide" Target="/ppt/slides/slide7.xml" Id="Re3edaed16bec4008" /><Relationship Type="http://schemas.openxmlformats.org/officeDocument/2006/relationships/slide" Target="/ppt/slides/slide8.xml" Id="R6aecdfc906654b55" /><Relationship Type="http://schemas.openxmlformats.org/officeDocument/2006/relationships/slide" Target="/ppt/slides/slide9.xml" Id="Rba3d31339b034d42" /><Relationship Type="http://schemas.openxmlformats.org/officeDocument/2006/relationships/slide" Target="/ppt/slides/slide10.xml" Id="R832cd718f8c44309" /><Relationship Type="http://schemas.openxmlformats.org/officeDocument/2006/relationships/slide" Target="/ppt/slides/slide11.xml" Id="R36a48cbb93c94df2" /><Relationship Type="http://schemas.openxmlformats.org/officeDocument/2006/relationships/slide" Target="/ppt/slides/slide12.xml" Id="R31308243aee44594" /><Relationship Type="http://schemas.openxmlformats.org/officeDocument/2006/relationships/slide" Target="/ppt/slides/slide13.xml" Id="Rebcf3fb9129c4b4e" /><Relationship Type="http://schemas.openxmlformats.org/officeDocument/2006/relationships/slide" Target="/ppt/slides/slide14.xml" Id="R1970a3d8427b4638" /><Relationship Type="http://schemas.openxmlformats.org/officeDocument/2006/relationships/slide" Target="/ppt/slides/slide15.xml" Id="Re90c9058dad64b0b" /><Relationship Type="http://schemas.openxmlformats.org/officeDocument/2006/relationships/slide" Target="/ppt/slides/slide16.xml" Id="R7fffbadc67834814" /><Relationship Type="http://schemas.openxmlformats.org/officeDocument/2006/relationships/slide" Target="/ppt/slides/slide17.xml" Id="R62e646e8b9be47f6" /><Relationship Type="http://schemas.openxmlformats.org/officeDocument/2006/relationships/slide" Target="/ppt/slides/slide18.xml" Id="R253b357944be47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edbd7005fc74b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542380f2334c79" /><Relationship Type="http://schemas.openxmlformats.org/officeDocument/2006/relationships/notesMaster" Target="/ppt/notesMasters/notesMaster1.xml" Id="R9b1df7d8341a40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2c56188c1841f5" /><Relationship Type="http://schemas.openxmlformats.org/officeDocument/2006/relationships/notesMaster" Target="/ppt/notesMasters/notesMaster1.xml" Id="R2c6ffaf6643046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0164b1965d47da" /><Relationship Type="http://schemas.openxmlformats.org/officeDocument/2006/relationships/notesMaster" Target="/ppt/notesMasters/notesMaster1.xml" Id="R37b266ee86b541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09435b0d68470e" /><Relationship Type="http://schemas.openxmlformats.org/officeDocument/2006/relationships/notesMaster" Target="/ppt/notesMasters/notesMaster1.xml" Id="R1837d032d6db4b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ca69caa6424651" /><Relationship Type="http://schemas.openxmlformats.org/officeDocument/2006/relationships/notesMaster" Target="/ppt/notesMasters/notesMaster1.xml" Id="R73f26915c6c242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996b3e39f18426c" /><Relationship Type="http://schemas.openxmlformats.org/officeDocument/2006/relationships/notesMaster" Target="/ppt/notesMasters/notesMaster1.xml" Id="Rb2050f00c8d245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53c22ca0e04c5e" /><Relationship Type="http://schemas.openxmlformats.org/officeDocument/2006/relationships/notesMaster" Target="/ppt/notesMasters/notesMaster1.xml" Id="R4eefc44526bb4f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b043eebda548c5" /><Relationship Type="http://schemas.openxmlformats.org/officeDocument/2006/relationships/notesMaster" Target="/ppt/notesMasters/notesMaster1.xml" Id="R53080bd37aa14f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8150aeadcd4f7a" /><Relationship Type="http://schemas.openxmlformats.org/officeDocument/2006/relationships/notesMaster" Target="/ppt/notesMasters/notesMaster1.xml" Id="Rdf44dac5849d45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d57c0c90c9433c" /><Relationship Type="http://schemas.openxmlformats.org/officeDocument/2006/relationships/notesMaster" Target="/ppt/notesMasters/notesMaster1.xml" Id="R5c75d4ecaa204b1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45213d55464540" /><Relationship Type="http://schemas.openxmlformats.org/officeDocument/2006/relationships/notesMaster" Target="/ppt/notesMasters/notesMaster1.xml" Id="Re7b0b612a8d649b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8d91c07e1f4833" /><Relationship Type="http://schemas.openxmlformats.org/officeDocument/2006/relationships/notesMaster" Target="/ppt/notesMasters/notesMaster1.xml" Id="R5ccfb4abdcab4e3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3f4a8875e6488f" /><Relationship Type="http://schemas.openxmlformats.org/officeDocument/2006/relationships/notesMaster" Target="/ppt/notesMasters/notesMaster1.xml" Id="R044fb828c99844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74b421e19c4984" /><Relationship Type="http://schemas.openxmlformats.org/officeDocument/2006/relationships/notesMaster" Target="/ppt/notesMasters/notesMaster1.xml" Id="R329654e85b5b4eb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e369bc4df54baa" /><Relationship Type="http://schemas.openxmlformats.org/officeDocument/2006/relationships/notesMaster" Target="/ppt/notesMasters/notesMaster1.xml" Id="Rd1682e0bd7eb46c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b8905c19b94d82" /><Relationship Type="http://schemas.openxmlformats.org/officeDocument/2006/relationships/notesMaster" Target="/ppt/notesMasters/notesMaster1.xml" Id="R9d2ccb697630445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b55f81dd1c4da0" /><Relationship Type="http://schemas.openxmlformats.org/officeDocument/2006/relationships/notesMaster" Target="/ppt/notesMasters/notesMaster1.xml" Id="Re83929a977b2481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0b6c4d891a4c4c" /><Relationship Type="http://schemas.openxmlformats.org/officeDocument/2006/relationships/notesMaster" Target="/ppt/notesMasters/notesMaster1.xml" Id="Rea5d52b5d0204b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汇报的题目是潍柴订单分拣智能调度项目学期汇报。这一学期对我来说不是只做一个算法实验，而是从几乎零基础开始，逐步把一个真实业务场景拆成数据、算法、仿真和系统落地几个部分。汇报会先讲业务背景，再讲我遇到的具体问题，然后说明系统和强化学习模型怎么做，最后用验证结果说明目前做到什么程度，以及后续还要补什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整个汇报结构。第一部分讲为什么要做订单分拣智能调度；第二部分讲业务问题为什么复杂；第三部分讲我这一学期实际完成的内容；第四部分讲技术路线，尤其是强化学习和仿真的关系；第五部分讲验证结果；最后总结个人收获、项目进展和下一步计划。整体时间我会控制在二十五分钟以上，每部分都会尽量讲清楚自己从不懂到能落地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先进入研究背景。潍柴这个场景的核心是订单分拣，订单不是简单的一行数据，它背后对应多个 SKU、数量、库存和站台资源。如果只靠人工经验分配，遇到订单波动、站台资源变化、库存不足时，很难稳定判断哪种分配方式最好。所以项目希望把分拣过程数字化，再用算法给出站台分配方案，并通过仿真验证是否真的提升效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背景和意义。左边可以理解为业务现场：订单、SKU、库存、站台互相影响。右边是技术落地：我们不是单独训练模型，而是要把模型放进一个完整系统里。这个项目对我的意义也比较大，因为学期开始时我不懂强化学习，也不懂数据库表怎么设计、数据集怎么清洗、前后端怎么联调，更不知道算法落地要怎么验证。这个项目把这些知识点串起来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讲背景和意义。左边可以理解为业务现场：订单、SKU、库存、站台互相影响。右边是技术落地：我们不是单独训练模型，而是要把模型放进一个完整系统里。这个项目对我的意义也比较大，因为学期开始时我不懂强化学习，也不懂数据库表怎么设计、数据集怎么清洗、前后端怎么联调，更不知道算法落地要怎么验证。这个项目把这些知识点串起来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是问题描述。这个项目表面上是在问一个订单应该分到哪个站台，但实际包含很多约束：每个订单处理时间不同，站台数量有限，站台上同时挂载的订单和箱体也有限，库存还会决定有些订单能不能做。也就是说，它不是一个静态排序问题，而是一个动态资源分配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我把问题总结成三句话。第一，输入是订单、SKU 工时、库存快照和站台约束。第二，决策是把订单分配到站台，并确定哪些订单因为缺料要进入异常队列。第三，输出要能被后端接口、仿真程序和前端播放共同使用。这样定义以后，算法目标就更清楚了：不是追求某一步看起来最优，而是让整批订单的完工时间、等待时间和站台负载更合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第三部分讲研究内容。这个项目对我来说分成三条线：数据侧、算法侧和系统侧。数据侧是把历史 Excel、每日拣选、库存快照、SKU 平均工时整理成可用数据；算法侧是用 Maskable PPO 做订单到站台的调度，并用 SimPy 进行离散事件仿真；系统侧则是 FastAPI 后端、MySQL 数据库和 Vue + Three.js 前端。三条线都跑通，才算接近落地。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这一页是本学期完成内容的概括。数据侧，我理解并整理了订单波次、SKU 工时、库存快照等数据；算法侧，训练了 PPO 模型，调整了学习率、采样步数、奖励函数，并加入整批订单 makespan 的评价；系统侧，完成了后端启动、订单导入、库存预处理、仿真状态查询和前端 3D 播放。这里我想强调，项目难点不只在模型，而在模型前后的工程环节。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这一页是本学期完成内容的概括。数据侧，我理解并整理了订单波次、SKU 工时、库存快照等数据；算法侧，训练了 PPO 模型，调整了学习率、采样步数、奖励函数，并加入整批订单 makespan 的评价；系统侧，完成了后端启动、订单导入、库存预处理、仿真状态查询和前端 3D 播放。这里我想强调，项目难点不只在模型，而在模型前后的工程环节。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下面进入方法求解。技术路线可以概括为订单导入、SKU 工时重建、库存预处理、AI 调度、SimPy 仿真、前端 3D 播放。PPO 模型负责学习订单应该分到哪个站台；SimPy 不负责学习，而是负责把调度结果还原成一个可解释的时间线。这样做的好处是，模型输出不是黑箱结果，后面可以看到每个订单、每个 SKU、每个站台的处理过程。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这一页重新从学术角度讲技术路线。首先把订单分拣调度建模为马尔可夫决策过程 MDP，其中状态 s_t 包含剩余订单、站台负载、缓冲区和库存可用性，动作 a_t 是为当前订单选择站台，奖励 r_t 则来自排队等待、负载不均衡、缓冲区占用和缺料等惩罚。PPO 的目标函数是 clipped surrogate objective，通过概率比 ρ_t 限制新旧策略差异，避免一次更新过大导致训练不稳定；优势函数 Â_t 用 GAE 形式估计，用来判断当前动作比平均水平好还是差。项目里还使用 Maskable PPO：如果某个站台不可用、缓冲区满、订单缺料或动作违反业务规则，就把该动作的 logit 置为负无穷，使对应动作概率为零。奖励函数分为两层：每一步的即时惩罚关注排队、负载、缓冲和缺料，终止奖励关注整批订单完工时间 Cmax 以及超过日内截止线 D 的惩罚。这样模型学习到的目标不是简单分散订单，而是在满足约束的前提下压缩 makespan、降低等待并保持站台负载均衡。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进入实验分析。我的验证分三类。第一类是模型筛选，在固定 2000 单测试集上评估不同 checkpoint，最后选择 1,520,000 steps 的模型作为正式模型。第二类是历史 15 天回放，对比 AI、轮询、随机以及历史回放。第三类是库存预处理验证，检验缺料异常队列和订单重排是否减少库存等待。这样验证可以避免只看训练曲线，而是回到业务效果上。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这一页讲实验分析。验证报告采用 15 天历史回放，不只比较 AI、轮询和随机策略，也和历史真实净工时、历史站台回放做对照。左侧三个数字是站台工时口径：AI 相比轮询平均提升 24.01%，相比随机平均提升 61.93%，相比历史回放平均提升 25.29%。右侧图是不同最大站台数下的平均完工时间，红色 AI Agent 曲线整体低于轮询和随机，并且从 8 个站台左右开始低于 30600 秒参考线。这说明 AI 学到的不是机械轮换，而是在订单耗时、站台负载和后续排队之间做动态权衡。这里也要说明口径差异：按纯 makespan，AI 相比轮询平均提升约 3.02%，相比随机提升约 30.66%；按站台工时，则能体现减少站台资源占用带来的效率价值。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一部分是总结与展望。这里我想把项目成果和个人成长放在一起讲。项目成果上，我们已经有数据导入、数据库、调度接口、仿真回放、前端展示和验证报告。个人成长上，我从不懂强化学习、不懂数据库和前后端，到现在能说清楚每个模块为什么存在、怎么连接、怎么验证效果。这个过程对我后续做更复杂的智能制造项目很重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这一页总结本学期的主要成果。我把它分成四块：算法建模、数据与仿真、系统服务、效果验证。算法上，我从强化学习基础开始，理解了 MDP、PPO、动作掩码和 checkpoint 筛选；数据上，梳理了订单、SKU 标准工时、库存快照和异常队列；系统上，接触并完成了 FastAPI、MySQL、Vue 和 Three.js 的联调；验证上，用 15 天历史数据回放比较 AI、轮询、随机和历史方案。对我个人来说，最大的收获是把原来分散的知识点连成一个闭环：模型不是训练完就结束，而是要能被调用、能被仿真、能被展示，并且能用业务指标解释。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总结与展望中的不足和下一步。当前项目已经能演示和验证，但要真正贴近现场，还需要继续补四件事。第一是数据覆盖，不能只依赖某一段历史数据，需要跨月份、跨订单波次验证泛化能力。第二是约束细化，库存、订单优先级、搬运距离、人工节拍这些因素可以逐步进入状态和奖励函数。第三是解释性，要让调度结果不只是一个站台编号，而能说明为什么这个订单适合这个站台。第四是工程落地，包括接口稳定性、性能压测、监控告警、异常回滚和部署文档。后续目标可以概括为：算得出、讲得清、接得上、跑得稳、验得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我的汇报到这里结束。感谢老师这一学期的指导，也感谢组里同学在数据、接口和验证过程中的帮助。后面如果老师有问题，我可以从算法训练、数据处理、系统接口或者验证指标几个角度展开说明。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56da1778614b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932a9e2ff4f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aa60e4540940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c60f329f94b3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3e868d53534d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fc7bf0bb774c5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3595ed82443c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4ac0a45ad4bd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7aacf3599e40a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27f4e9aca413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9672abb6c94eb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9b4a342940420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ca9673e3e1446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797660bc738465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7fdd994f1cf47e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6ddeef70bf44d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64e291d0114ff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05cfab496a4fca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3ed6b18184d429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776ab6868e432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18d8f29d9c64c7e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91645a30014942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6dafc26c844ece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6467616f73843bc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59DFA9-907F-43BF-9B28-FC6AF0303DE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1B4B1ED6-1C9C-4C29-B2EE-E724257A9A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27A6ED-3FE1-4219-88D4-A96C89F91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5AA9C26-5D2F-4B65-8566-B03C8F336E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85512C4-39A6-491B-859D-BBE5CB75C1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1EBCE8-FDD6-47DC-B49E-7CCA6C16C3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2DDB10CF-FAF6-4D84-BB8D-907DB71646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46B05E6-D681-4650-96B3-18920CF3A89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0892DB3-3F64-4A81-849F-C9667B9391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F16D39A-B34A-4430-AA7C-732A6E5DC6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95F9E31-37E2-4A2A-889D-9D479E0C12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A97A37-3BBA-4258-905C-78F185B2F3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03BEECB-9DA2-4D60-98DE-E8A76C55BA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CC1DEA5-5532-4B58-B73D-96408E585C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52A1D0E-8B4B-4A46-8BBB-790CECFC78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5CD7128-D2B9-4FB2-9318-BA53C2B06D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8D0CC4C-2401-433F-913C-5753E96547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56A7E62-0546-4E26-8DEB-FD0003F536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BED98942-4B3B-450D-94C3-771B24484D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2086078-C871-40AA-A8D0-A72B0AE9CB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79547A0-C07B-44A5-B4D8-88E833B5A3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BC129D-2A03-4C3A-8536-24F4A7DC56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D3B3AC6-5266-4DAA-B435-D43DDC4C3F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72A1F6C-23B4-4DD9-A8BC-24FC53365B1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70C999F-DB5B-4B8A-AA4B-EA23D00537C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E1B4ABD0-CF06-40CD-A436-45200F7DB63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A198029E-0A83-4F22-945C-90E88475BF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EEB99CC-AD9A-4B32-A43C-9C69BF5673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68B3350-0223-458F-A63F-438483266F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E69B36E-8C4D-4E7B-869E-D2496E628C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5AEFE7A8-3162-4E4E-BBD3-DD1E94B7F6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0C05ABC-BA71-4C6C-B09C-4DAB24D7B4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E875A68-BBD9-4CCA-B6D9-479A3C43E3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8F073631-0099-4F85-9D9A-9EC2C6A8A7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D50BD9C1-F07C-4EB6-BD07-E514610002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F653498-0AFD-425E-A2CA-ABD1D4D214E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57FD1C0-BFAF-4337-9DDB-1846A0F388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431F01FE-7912-460B-8A40-043D5C9C862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7FA88FFC-3694-4721-BFB4-43EC96F717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ECC229C3-151D-448E-A368-0D84DA4B81A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B1F6F442-8E33-46FD-8F47-F72449BFD6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D3FB920-E9C5-4553-B782-AF5C4E929F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7673800-8B6F-404A-9E16-5448D27510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F0A6BB49-7426-488A-A594-B2ED8198E17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57D0119-F939-46E3-AAE6-1652A202E6A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422C832-34C3-437C-A980-6C5CDF9962D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629E06E-7DD6-4E29-92BF-8B254F26D0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E711E79-25AD-4BAB-B201-062587223B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76A2F3F-E827-49F6-8141-95D9F543DF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BD2F962A-BC38-42B9-BBF4-CA524B3AB6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BB226FC3-4F25-4403-BA57-ECFF6377EB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332825A-2191-4E66-AB25-8E2BE0E436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799D66-B082-4EF0-8841-80F833FA38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0057413-87D3-4870-88B7-CB514FACDC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2CF8B5A-67D7-41CE-98D0-E85BFF085B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43B8855-53D2-4BB8-B647-B5213EFDD9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2D2DEA9-B900-4E24-8C84-6D8CD38FC6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3811E49-172E-4ABA-AECB-E867E9B83F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85FA2AC-058F-4003-BB63-D559F4E2EF3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760F82B9-0950-4173-B837-33F4F5E1F0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7E632E1-16CA-4445-8F8E-3C7FFC0F9D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19B5E03-9DF2-45E4-9891-22DAAFB685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C0E263C-F780-4C60-A6AC-58F0626B15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73D2BDC-F170-4DEB-976B-AA005746BB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9D8B48F-A802-434A-8F1B-77A6B87DDD6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E17B7B6-7DBD-4F2A-8A94-0C63F2968E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0579FA3-DE88-4E4D-A551-95C701722E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7C3B3BE-8B79-4BC2-8AAD-A6960BF47C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EABC08-93CD-4076-A8CF-A34C6F932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53633CF-7C2E-4FC3-9885-7DF3542982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EF73B5C-0264-4231-BDCE-F70A6B238B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53CA1-86A2-498A-B275-EB7290809B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0CB383-C798-47F4-8809-32C20AAD86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8CDECCE-6E7C-469A-9A18-116349EC74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D0A9CAD-DA28-4BC2-AC8D-3E3FEBCB31F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CF01162-B36D-4CE3-B582-37B8AD65CD4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106EF2-D0E2-4ACE-B3A8-7A3EBAFA00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8E19BB1-DAED-4E26-A20A-CD617D46DA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D8A46D7-B4B3-47C5-913D-2F4FE04D85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2CA753D-4E69-4AB0-910C-1F23AFC798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8A6217-8F49-437C-A364-B2045C533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94E640EE-ED02-457D-89FC-63BFE75B37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079B053-7794-4FBE-B8E9-4287D698346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7513F72-F6AB-48AE-9EED-265C525B18B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0289C0E9-15CB-4D03-BF31-8D9FCAB0BF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15E27B6B-32A5-492A-BA9A-CF9E6B851C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99A9FAB-56FD-4699-B636-7039024424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72E4992-25F6-426A-823B-129A290FC2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86B95FE3-53A7-4C5B-A988-38630D04EC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3BBE9F9-2267-4000-8411-D771A1F2F5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7A5AABF-1340-44B5-AB97-2AE545628B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A24EA4A-2362-4491-AECB-ED2454A58D2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99E87A0B-CCD4-4EF8-89E2-A8FC501F986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22CD000-035F-4B47-9ACE-5963859AD5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91AEE36-3BE4-4E90-A902-4CC53FFF75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A4B9624-399B-420B-B78C-91FF67FEAD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C715283-AB59-46CE-94CA-11D520F3A2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1684150-59E6-4CD7-9D39-8A8563793F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96FA1D1-F52F-4E1F-9906-83391110EF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5C5B6339-5867-4D4B-ACB3-E00F30B15E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53A1D95-A618-429B-8F1F-59DBAB3124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F27DF7FF-02FC-4DE4-B7B0-1730F9DF117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E711EC6-AA46-4587-9E02-19D25345F7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2797BEA-F463-46CC-8111-9B435081EDE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043402F-C28C-41B4-B515-3E4D5394A7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FFD40849-5FD7-473D-84EC-9FD74B6172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3C5EBD9-2B93-4791-9722-22FFAEF310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C78C8B8-F12E-4C94-890A-755DFD1149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206E97E-F1D0-4957-B6D5-352EBE8C41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F3C8C1B-0829-4F3D-A0EC-6CA2510BC4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B911774-A9CB-4EAE-BB2F-700F19566FF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70B2A848-47B5-4363-8D1D-EA5A36AF4C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341ADA3-877A-4817-B6F4-C45E1780B9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8C97D3-CB7B-4B85-8D77-FFF9DC7D3D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E7E283C-BDC6-40A6-A7D1-912C5DA533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1BAFE79-6E5B-40AF-84AD-C4C7ADDA90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4.xml><?xml version="1.0" encoding="utf-8"?>
<p:sldLayout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566b83b5449ba" /><Relationship Type="http://schemas.openxmlformats.org/officeDocument/2006/relationships/slideLayout" Target="/ppt/slideLayouts/slideLayout1.xml" Id="Rb410eb7dcf81493a" /><Relationship Type="http://schemas.openxmlformats.org/officeDocument/2006/relationships/slideLayout" Target="/ppt/slideLayouts/slideLayout2.xml" Id="Rd1c8fbbd90904303" /><Relationship Type="http://schemas.openxmlformats.org/officeDocument/2006/relationships/slideLayout" Target="/ppt/slideLayouts/slideLayout3.xml" Id="Rfe7403d3648541b4" /><Relationship Type="http://schemas.openxmlformats.org/officeDocument/2006/relationships/slideLayout" Target="/ppt/slideLayouts/slideLayout4.xml" Id="R06c9142c979b49fd" /><Relationship Type="http://schemas.openxmlformats.org/officeDocument/2006/relationships/slideLayout" Target="/ppt/slideLayouts/slideLayout5.xml" Id="R9433d4eb33404c7c" /><Relationship Type="http://schemas.openxmlformats.org/officeDocument/2006/relationships/slideLayout" Target="/ppt/slideLayouts/slideLayout6.xml" Id="R1ac1aa5d7ca04564" /><Relationship Type="http://schemas.openxmlformats.org/officeDocument/2006/relationships/slideLayout" Target="/ppt/slideLayouts/slideLayout7.xml" Id="R4aaaceb1e87c41d4" /><Relationship Type="http://schemas.openxmlformats.org/officeDocument/2006/relationships/slideLayout" Target="/ppt/slideLayouts/slideLayout8.xml" Id="R566fec4e781e4191" /><Relationship Type="http://schemas.openxmlformats.org/officeDocument/2006/relationships/slideLayout" Target="/ppt/slideLayouts/slideLayout9.xml" Id="R7fa52a5ef71646f2" /><Relationship Type="http://schemas.openxmlformats.org/officeDocument/2006/relationships/slideLayout" Target="/ppt/slideLayouts/slideLayout10.xml" Id="Rdf30f3846cd64996" /><Relationship Type="http://schemas.openxmlformats.org/officeDocument/2006/relationships/slideLayout" Target="/ppt/slideLayouts/slideLayout11.xml" Id="R36950c82f0f14300" /><Relationship Type="http://schemas.openxmlformats.org/officeDocument/2006/relationships/slideLayout" Target="/ppt/slideLayouts/slideLayout12.xml" Id="Rb4b09527a9db436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a8188137f0d4a15" /><Relationship Type="http://schemas.openxmlformats.org/officeDocument/2006/relationships/slideLayout" Target="/ppt/slideLayouts/slideLayout13.xml" Id="R767e3ff8a4614145" /><Relationship Type="http://schemas.openxmlformats.org/officeDocument/2006/relationships/slideLayout" Target="/ppt/slideLayouts/slideLayout14.xml" Id="R34d23b1c8d964179" /><Relationship Type="http://schemas.openxmlformats.org/officeDocument/2006/relationships/slideLayout" Target="/ppt/slideLayouts/slideLayout15.xml" Id="Ref06c18cceb544a2" /><Relationship Type="http://schemas.openxmlformats.org/officeDocument/2006/relationships/slideLayout" Target="/ppt/slideLayouts/slideLayout16.xml" Id="Ra332719f35e64716" /><Relationship Type="http://schemas.openxmlformats.org/officeDocument/2006/relationships/slideLayout" Target="/ppt/slideLayouts/slideLayout17.xml" Id="R2bad76be0cc24b34" /><Relationship Type="http://schemas.openxmlformats.org/officeDocument/2006/relationships/slideLayout" Target="/ppt/slideLayouts/slideLayout18.xml" Id="R3534dfc00749417f" /><Relationship Type="http://schemas.openxmlformats.org/officeDocument/2006/relationships/slideLayout" Target="/ppt/slideLayouts/slideLayout19.xml" Id="R44a38ac66a524aaa" /><Relationship Type="http://schemas.openxmlformats.org/officeDocument/2006/relationships/slideLayout" Target="/ppt/slideLayouts/slideLayout20.xml" Id="R28b1931e53d14b81" /><Relationship Type="http://schemas.openxmlformats.org/officeDocument/2006/relationships/slideLayout" Target="/ppt/slideLayouts/slideLayout21.xml" Id="Rc490e5572b514494" /><Relationship Type="http://schemas.openxmlformats.org/officeDocument/2006/relationships/slideLayout" Target="/ppt/slideLayouts/slideLayout22.xml" Id="Rab54e7452ee1484c" /><Relationship Type="http://schemas.openxmlformats.org/officeDocument/2006/relationships/slideLayout" Target="/ppt/slideLayouts/slideLayout23.xml" Id="R3d2a019ba54a4e9d" /><Relationship Type="http://schemas.openxmlformats.org/officeDocument/2006/relationships/slideLayout" Target="/ppt/slideLayouts/slideLayout24.xml" Id="R371a1d573cb7486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6409774C-C8F5-4D96-B70E-C4B894798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A396D58-C0C7-4B77-9022-67A7F2070A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BBC623D-E1E0-4802-AA52-F7A366F166D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C79BC06-9C26-4526-9BC4-8A34166BE9D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424F34D-6FDE-418A-9FD5-37FEF1144C5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10eb7dcf81493a"/>
    <p:sldLayoutId xmlns:r="http://schemas.openxmlformats.org/officeDocument/2006/relationships" id="2147483650" r:id="Rd1c8fbbd90904303"/>
    <p:sldLayoutId xmlns:r="http://schemas.openxmlformats.org/officeDocument/2006/relationships" id="2147483651" r:id="Rfe7403d3648541b4"/>
    <p:sldLayoutId xmlns:r="http://schemas.openxmlformats.org/officeDocument/2006/relationships" id="2147483652" r:id="R06c9142c979b49fd"/>
    <p:sldLayoutId xmlns:r="http://schemas.openxmlformats.org/officeDocument/2006/relationships" id="2147483653" r:id="R9433d4eb33404c7c"/>
    <p:sldLayoutId xmlns:r="http://schemas.openxmlformats.org/officeDocument/2006/relationships" id="2147483654" r:id="R1ac1aa5d7ca04564"/>
    <p:sldLayoutId xmlns:r="http://schemas.openxmlformats.org/officeDocument/2006/relationships" id="2147483655" r:id="R4aaaceb1e87c41d4"/>
    <p:sldLayoutId xmlns:r="http://schemas.openxmlformats.org/officeDocument/2006/relationships" id="2147483656" r:id="R566fec4e781e4191"/>
    <p:sldLayoutId xmlns:r="http://schemas.openxmlformats.org/officeDocument/2006/relationships" id="2147483657" r:id="R7fa52a5ef71646f2"/>
    <p:sldLayoutId xmlns:r="http://schemas.openxmlformats.org/officeDocument/2006/relationships" id="2147483658" r:id="Rdf30f3846cd64996"/>
    <p:sldLayoutId xmlns:r="http://schemas.openxmlformats.org/officeDocument/2006/relationships" id="2147483659" r:id="R36950c82f0f14300"/>
    <p:sldLayoutId xmlns:r="http://schemas.openxmlformats.org/officeDocument/2006/relationships" id="2147483660" r:id="Rb4b09527a9db4361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5806C768-0052-4A0C-B449-4F9A4C87D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52F8FA9-9DAD-4BA3-89E3-6B2C139952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单击此处编辑母版文本样式</a:t>
            </a:r>
          </a:p>
          <a:p xmlns:a="http://schemas.openxmlformats.org/drawingml/2006/main">
            <a:pPr>
              <a:buNone/>
            </a:pPr>
            <a:r>
              <a:t>二级</a:t>
            </a:r>
          </a:p>
          <a:p xmlns:a="http://schemas.openxmlformats.org/drawingml/2006/main">
            <a:pPr>
              <a:buNone/>
            </a:pPr>
            <a:r>
              <a:t>三级</a:t>
            </a:r>
          </a:p>
          <a:p xmlns:a="http://schemas.openxmlformats.org/drawingml/2006/main">
            <a:pPr>
              <a:buNone/>
            </a:pPr>
            <a:r>
              <a:t>四级</a:t>
            </a:r>
          </a:p>
          <a:p xmlns:a="http://schemas.openxmlformats.org/drawingml/2006/main"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6BDA22D-695A-4786-9139-589938010E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995BE46-BE60-45C8-A912-52F24180B5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52071E5-CD38-4907-84B0-FF776EC42E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2" r:id="R767e3ff8a4614145"/>
    <p:sldLayoutId xmlns:r="http://schemas.openxmlformats.org/officeDocument/2006/relationships" id="2147483663" r:id="R34d23b1c8d964179"/>
    <p:sldLayoutId xmlns:r="http://schemas.openxmlformats.org/officeDocument/2006/relationships" id="2147483664" r:id="Ref06c18cceb544a2"/>
    <p:sldLayoutId xmlns:r="http://schemas.openxmlformats.org/officeDocument/2006/relationships" id="2147483665" r:id="Ra332719f35e64716"/>
    <p:sldLayoutId xmlns:r="http://schemas.openxmlformats.org/officeDocument/2006/relationships" id="2147483666" r:id="R2bad76be0cc24b34"/>
    <p:sldLayoutId xmlns:r="http://schemas.openxmlformats.org/officeDocument/2006/relationships" id="2147483667" r:id="R3534dfc00749417f"/>
    <p:sldLayoutId xmlns:r="http://schemas.openxmlformats.org/officeDocument/2006/relationships" id="2147483668" r:id="R44a38ac66a524aaa"/>
    <p:sldLayoutId xmlns:r="http://schemas.openxmlformats.org/officeDocument/2006/relationships" id="2147483669" r:id="R28b1931e53d14b81"/>
    <p:sldLayoutId xmlns:r="http://schemas.openxmlformats.org/officeDocument/2006/relationships" id="2147483670" r:id="Rc490e5572b514494"/>
    <p:sldLayoutId xmlns:r="http://schemas.openxmlformats.org/officeDocument/2006/relationships" id="2147483671" r:id="Rab54e7452ee1484c"/>
    <p:sldLayoutId xmlns:r="http://schemas.openxmlformats.org/officeDocument/2006/relationships" id="2147483672" r:id="R3d2a019ba54a4e9d"/>
    <p:sldLayoutId xmlns:r="http://schemas.openxmlformats.org/officeDocument/2006/relationships" id="2147483673" r:id="R371a1d573cb7486a"/>
  </p:sldLayoutIdLst>
  <p:txStyles>
    <p:titleStyle>
      <a:lvl1pPr xmlns:a="http://schemas.openxmlformats.org/drawingml/2006/main"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7efa99445a74ff5" /><Relationship Type="http://schemas.openxmlformats.org/officeDocument/2006/relationships/image" Target="/ppt/media/image.png" Id="Ra17d0f2ac64a4114" /><Relationship Type="http://schemas.openxmlformats.org/officeDocument/2006/relationships/image" Target="/ppt/media/image2.png" Id="Rdc8a9cf48922427e" /><Relationship Type="http://schemas.openxmlformats.org/officeDocument/2006/relationships/image" Target="/ppt/media/image3.png" Id="Radba2d361cf64826" /><Relationship Type="http://schemas.openxmlformats.org/officeDocument/2006/relationships/notesSlide" Target="/ppt/notesSlides/notesSlide1.xml" Id="Ra5d42ff3867a43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696eaf515f49b1" /><Relationship Type="http://schemas.openxmlformats.org/officeDocument/2006/relationships/image" Target="/ppt/media/image.png" Id="R3e081ae016fa4184" /><Relationship Type="http://schemas.openxmlformats.org/officeDocument/2006/relationships/image" Target="/ppt/media/image2.png" Id="R8b54235a9a724759" /><Relationship Type="http://schemas.openxmlformats.org/officeDocument/2006/relationships/image" Target="/ppt/media/image3.png" Id="R028ddde68f47473c" /><Relationship Type="http://schemas.openxmlformats.org/officeDocument/2006/relationships/notesSlide" Target="/ppt/notesSlides/notesSlide2.xml" Id="R12bffb15e2594b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362866a8036469b" /><Relationship Type="http://schemas.openxmlformats.org/officeDocument/2006/relationships/image" Target="/ppt/media/image.png" Id="R798175d3a7944be1" /><Relationship Type="http://schemas.openxmlformats.org/officeDocument/2006/relationships/image" Target="/ppt/media/image2.png" Id="R13c556c761514605" /><Relationship Type="http://schemas.openxmlformats.org/officeDocument/2006/relationships/image" Target="/ppt/media/image3.png" Id="R9cdfc1e94eac471e" /><Relationship Type="http://schemas.openxmlformats.org/officeDocument/2006/relationships/notesSlide" Target="/ppt/notesSlides/notesSlide3.xml" Id="R606e4cec38d749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0d49a3ceb34afe" /><Relationship Type="http://schemas.openxmlformats.org/officeDocument/2006/relationships/image" Target="/ppt/media/image.png" Id="Rc0bc3336ece84d8b" /><Relationship Type="http://schemas.openxmlformats.org/officeDocument/2006/relationships/image" Target="/ppt/media/image2.png" Id="R71e65e4ca3d04e2d" /><Relationship Type="http://schemas.openxmlformats.org/officeDocument/2006/relationships/image" Target="/ppt/media/image3.png" Id="R85a14bb7eeca4067" /><Relationship Type="http://schemas.openxmlformats.org/officeDocument/2006/relationships/notesSlide" Target="/ppt/notesSlides/notesSlide4.xml" Id="Rc238e15a0fe04b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4aebe03024b446f8" /><Relationship Type="http://schemas.openxmlformats.org/officeDocument/2006/relationships/image" Target="/ppt/media/image.png" Id="R26e8bd4b55734828" /><Relationship Type="http://schemas.openxmlformats.org/officeDocument/2006/relationships/image" Target="/ppt/media/image2.png" Id="R7b9ee3bce0e94b2e" /><Relationship Type="http://schemas.openxmlformats.org/officeDocument/2006/relationships/image" Target="/ppt/media/image3.png" Id="R1da441685f58439b" /><Relationship Type="http://schemas.openxmlformats.org/officeDocument/2006/relationships/notesSlide" Target="/ppt/notesSlides/notesSlide5.xml" Id="R1547699f060b41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e375d0bf5724865" /><Relationship Type="http://schemas.openxmlformats.org/officeDocument/2006/relationships/image" Target="/ppt/media/image.png" Id="R1394bcbbf6604792" /><Relationship Type="http://schemas.openxmlformats.org/officeDocument/2006/relationships/image" Target="/ppt/media/image2.png" Id="R0587661e772746fb" /><Relationship Type="http://schemas.openxmlformats.org/officeDocument/2006/relationships/image" Target="/ppt/media/image3.png" Id="R5608ba6db12a4ba1" /><Relationship Type="http://schemas.openxmlformats.org/officeDocument/2006/relationships/notesSlide" Target="/ppt/notesSlides/notesSlide6.xml" Id="Ree8980cc6c3c43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3aa748671a0465c" /><Relationship Type="http://schemas.openxmlformats.org/officeDocument/2006/relationships/image" Target="/ppt/media/image.png" Id="R2147408493ad474c" /><Relationship Type="http://schemas.openxmlformats.org/officeDocument/2006/relationships/image" Target="/ppt/media/image2.png" Id="R3aaee7f5981745ff" /><Relationship Type="http://schemas.openxmlformats.org/officeDocument/2006/relationships/image" Target="/ppt/media/image3.png" Id="R4aa5b52694fd4e96" /><Relationship Type="http://schemas.openxmlformats.org/officeDocument/2006/relationships/image" Target="/ppt/media/image.jpeg" Id="R19e32d2a9aa6435d" /><Relationship Type="http://schemas.openxmlformats.org/officeDocument/2006/relationships/notesSlide" Target="/ppt/notesSlides/notesSlide7.xml" Id="Rabe2e5528a784d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6181b2376304c32" /><Relationship Type="http://schemas.openxmlformats.org/officeDocument/2006/relationships/image" Target="/ppt/media/image.png" Id="R0f2fa7f16a22480d" /><Relationship Type="http://schemas.openxmlformats.org/officeDocument/2006/relationships/image" Target="/ppt/media/image2.png" Id="R4a529f853dd344fa" /><Relationship Type="http://schemas.openxmlformats.org/officeDocument/2006/relationships/image" Target="/ppt/media/image3.png" Id="R1ff9e43000874c2b" /><Relationship Type="http://schemas.openxmlformats.org/officeDocument/2006/relationships/notesSlide" Target="/ppt/notesSlides/notesSlide8.xml" Id="Recb8d50d13f142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d7ffc58fc7d24cd2" /><Relationship Type="http://schemas.openxmlformats.org/officeDocument/2006/relationships/image" Target="/ppt/media/image.png" Id="R3796f7debe684950" /><Relationship Type="http://schemas.openxmlformats.org/officeDocument/2006/relationships/image" Target="/ppt/media/image2.png" Id="R89422966552b429d" /><Relationship Type="http://schemas.openxmlformats.org/officeDocument/2006/relationships/image" Target="/ppt/media/image3.png" Id="Ra09caab80ac749cf" /><Relationship Type="http://schemas.openxmlformats.org/officeDocument/2006/relationships/image" Target="/ppt/media/image4.png" Id="R71b2750e66be44b8" /><Relationship Type="http://schemas.openxmlformats.org/officeDocument/2006/relationships/notesSlide" Target="/ppt/notesSlides/notesSlide9.xml" Id="R7b120f38e9be43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4.xml" Id="R4e3faba31e894a8d" /><Relationship Type="http://schemas.openxmlformats.org/officeDocument/2006/relationships/image" Target="/ppt/media/image.png" Id="R7e96793866f24dba" /><Relationship Type="http://schemas.openxmlformats.org/officeDocument/2006/relationships/image" Target="/ppt/media/image2.png" Id="Rb2fb634643ed4d77" /><Relationship Type="http://schemas.openxmlformats.org/officeDocument/2006/relationships/image" Target="/ppt/media/image3.png" Id="Rb47551f2665b443c" /><Relationship Type="http://schemas.openxmlformats.org/officeDocument/2006/relationships/image" Target="/ppt/media/image5.png" Id="R3190e1c174b945db" /><Relationship Type="http://schemas.openxmlformats.org/officeDocument/2006/relationships/notesSlide" Target="/ppt/notesSlides/notesSlide10.xml" Id="R8eac3f3e4dbd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6ae445c1fff4133" /><Relationship Type="http://schemas.openxmlformats.org/officeDocument/2006/relationships/image" Target="/ppt/media/image.png" Id="R556d1bb6d0ec4428" /><Relationship Type="http://schemas.openxmlformats.org/officeDocument/2006/relationships/image" Target="/ppt/media/image2.png" Id="Rcedee993998b4f0c" /><Relationship Type="http://schemas.openxmlformats.org/officeDocument/2006/relationships/image" Target="/ppt/media/image3.png" Id="R41d8b13f8bb84f9f" /><Relationship Type="http://schemas.openxmlformats.org/officeDocument/2006/relationships/notesSlide" Target="/ppt/notesSlides/notesSlide11.xml" Id="Rc0ca45d488244c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5c4858aed746f0" /><Relationship Type="http://schemas.openxmlformats.org/officeDocument/2006/relationships/image" Target="/ppt/media/image.png" Id="Rfcdb36489ebe44f3" /><Relationship Type="http://schemas.openxmlformats.org/officeDocument/2006/relationships/image" Target="/ppt/media/image2.png" Id="R324f22731c6d4c49" /><Relationship Type="http://schemas.openxmlformats.org/officeDocument/2006/relationships/image" Target="/ppt/media/image3.png" Id="R719b7fe597ed47e5" /><Relationship Type="http://schemas.openxmlformats.org/officeDocument/2006/relationships/notesSlide" Target="/ppt/notesSlides/notesSlide12.xml" Id="R0e82bbd37eba44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d8563c64c624096" /><Relationship Type="http://schemas.openxmlformats.org/officeDocument/2006/relationships/image" Target="/ppt/media/image.png" Id="R248cbb24445c46b6" /><Relationship Type="http://schemas.openxmlformats.org/officeDocument/2006/relationships/image" Target="/ppt/media/image2.png" Id="R17c6d49ca3d642c8" /><Relationship Type="http://schemas.openxmlformats.org/officeDocument/2006/relationships/image" Target="/ppt/media/image3.png" Id="R421d3f006c094d96" /><Relationship Type="http://schemas.openxmlformats.org/officeDocument/2006/relationships/notesSlide" Target="/ppt/notesSlides/notesSlide13.xml" Id="Re8d3d81bd54a457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9328492dc604ea6" /><Relationship Type="http://schemas.openxmlformats.org/officeDocument/2006/relationships/image" Target="/ppt/media/image.png" Id="R6b773d4bc3f241b0" /><Relationship Type="http://schemas.openxmlformats.org/officeDocument/2006/relationships/image" Target="/ppt/media/image2.png" Id="Ra9ab8c790bbc4554" /><Relationship Type="http://schemas.openxmlformats.org/officeDocument/2006/relationships/image" Target="/ppt/media/image3.png" Id="R0d3e7cf595c74f6e" /><Relationship Type="http://schemas.openxmlformats.org/officeDocument/2006/relationships/image" Target="/ppt/media/image6.png" Id="Re4954ea660234a42" /><Relationship Type="http://schemas.openxmlformats.org/officeDocument/2006/relationships/image" Target="/ppt/media/image7.png" Id="R5d38fd80b39a45cb" /><Relationship Type="http://schemas.openxmlformats.org/officeDocument/2006/relationships/notesSlide" Target="/ppt/notesSlides/notesSlide14.xml" Id="R3f211c26724545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78934f4cf8433f" /><Relationship Type="http://schemas.openxmlformats.org/officeDocument/2006/relationships/image" Target="/ppt/media/image.png" Id="R2b6b36ea9824402d" /><Relationship Type="http://schemas.openxmlformats.org/officeDocument/2006/relationships/image" Target="/ppt/media/image2.png" Id="Rb652616602624d4c" /><Relationship Type="http://schemas.openxmlformats.org/officeDocument/2006/relationships/image" Target="/ppt/media/image3.png" Id="R6a3bf1a83d2d44be" /><Relationship Type="http://schemas.openxmlformats.org/officeDocument/2006/relationships/notesSlide" Target="/ppt/notesSlides/notesSlide15.xml" Id="Rdf679461ddb340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3d5e98e6ba048c4" /><Relationship Type="http://schemas.openxmlformats.org/officeDocument/2006/relationships/image" Target="/ppt/media/image.png" Id="Ra2b8e816638e4659" /><Relationship Type="http://schemas.openxmlformats.org/officeDocument/2006/relationships/image" Target="/ppt/media/image2.png" Id="R251322ae2cb745f7" /><Relationship Type="http://schemas.openxmlformats.org/officeDocument/2006/relationships/image" Target="/ppt/media/image3.png" Id="R9856d58bb9554786" /><Relationship Type="http://schemas.openxmlformats.org/officeDocument/2006/relationships/notesSlide" Target="/ppt/notesSlides/notesSlide16.xml" Id="R5c5c034a79c84fa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50a6476af9f47b5" /><Relationship Type="http://schemas.openxmlformats.org/officeDocument/2006/relationships/image" Target="/ppt/media/image.png" Id="Red5d9fc44c61434c" /><Relationship Type="http://schemas.openxmlformats.org/officeDocument/2006/relationships/image" Target="/ppt/media/image2.png" Id="Re5c00974094448e5" /><Relationship Type="http://schemas.openxmlformats.org/officeDocument/2006/relationships/image" Target="/ppt/media/image3.png" Id="R0c93cf432fbe45b3" /><Relationship Type="http://schemas.openxmlformats.org/officeDocument/2006/relationships/notesSlide" Target="/ppt/notesSlides/notesSlide17.xml" Id="R12ab17fc2a464c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122ce8dccc94d07" /><Relationship Type="http://schemas.openxmlformats.org/officeDocument/2006/relationships/image" Target="/ppt/media/image.png" Id="R005ad33013334f02" /><Relationship Type="http://schemas.openxmlformats.org/officeDocument/2006/relationships/image" Target="/ppt/media/image2.png" Id="Rcfbfef46a2a04b8f" /><Relationship Type="http://schemas.openxmlformats.org/officeDocument/2006/relationships/image" Target="/ppt/media/image3.png" Id="R29b0021217184e57" /><Relationship Type="http://schemas.openxmlformats.org/officeDocument/2006/relationships/image" Target="/ppt/media/image8.png" Id="R0dd75cbc909f4b9c" /><Relationship Type="http://schemas.openxmlformats.org/officeDocument/2006/relationships/notesSlide" Target="/ppt/notesSlides/notesSlide18.xml" Id="R82a3e0090fd2437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96725FDC-4AAF-4A69-AFC4-856DE587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227" y="1652137"/>
            <a:ext cx="9929546" cy="1310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Semester Report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3200" b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/>
                <a:ea typeface="Times New Roman"/>
                <a:cs typeface="Times New Roman"/>
              </a:rPr>
              <a:t>潍柴订单分拣智能调度项目学期汇报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019D381-E76D-4348-9651-AC31C35F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06635"/>
            <a:ext cx="12192000" cy="751365"/>
          </a:xfrm>
          <a:custGeom xmlns:a="http://schemas.openxmlformats.org/drawingml/2006/main">
            <a:rect l="l" t="t" r="r" b="b"/>
            <a:pathLst>
              <a:path w="9144000" h="374633">
                <a:moveTo>
                  <a:pt x="0" y="158633"/>
                </a:moveTo>
                <a:cubicBezTo>
                  <a:pt x="4165456" y="-109488"/>
                  <a:pt x="5852160" y="12329"/>
                  <a:pt x="9144000" y="158633"/>
                </a:cubicBezTo>
                <a:lnTo>
                  <a:pt x="9144000" y="374633"/>
                </a:lnTo>
                <a:lnTo>
                  <a:pt x="0" y="374633"/>
                </a:lnTo>
                <a:lnTo>
                  <a:pt x="0" y="158633"/>
                </a:lnTo>
                <a:close/>
              </a:path>
            </a:pathLst>
          </a:custGeom>
          <a:solidFill xmlns:a="http://schemas.openxmlformats.org/drawingml/2006/main">
            <a:srgbClr val="306A99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EACAC63-E671-4DF1-9DD4-CAB829980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7d0f2ac64a41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9929" y="226764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a9cf4892242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107" y="247544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ba2d361cf6482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2601" y="92822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DC3AD87D-CE73-4D16-9B14-2523BB05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557" y="3525011"/>
            <a:ext cx="954567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DF670FF5-3189-47E9-B438-5501FCA8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193" y="3826303"/>
            <a:ext cx="3290153" cy="1078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135"/>
              <a:t>汇报人：</a:t>
            </a:r>
            <a:r>
              <a:rPr sz="2135"/>
              <a:t>王志豪</a:t>
            </a:r>
          </a:p>
          <a:p xmlns:a="http://schemas.openxmlformats.org/drawingml/2006/main">
            <a:r>
              <a:rPr sz="2135"/>
              <a:t>指导老师：</a:t>
            </a:r>
            <a:r>
              <a:rPr sz="2135"/>
              <a:t>张利国</a:t>
            </a:r>
          </a:p>
          <a:p xmlns:a="http://schemas.openxmlformats.org/drawingml/2006/main">
            <a:r>
              <a:rPr sz="2135"/>
              <a:t>日期：2026.07</a:t>
            </a:r>
          </a:p>
        </p:txBody>
      </p:sp>
    </p:spTree>
    <p:extLst>
      <p:ext uri="{BB962C8B-B14F-4D97-AF65-F5344CB8AC3E}">
        <p14:creationId xmlns:p14="http://schemas.microsoft.com/office/powerpoint/2010/main" val="4638172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7D34C051-E4FE-49C4-88F3-288D5B5D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A78082C-F2AC-4F32-9B9A-E820C297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4B2D1C86-72E3-46E3-94BE-2B8D7C2E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81ae016fa418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4235a9a7247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ddde68f4747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690914C2-AA46-4485-8829-FC1DC149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5BA8A545-3821-4388-9724-77AC592A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31969B6-3C47-4F21-9555-0C1D81F1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BDE69BDE-921B-45F1-83A0-6A992DAD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3567872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EC1348B-178E-4C9D-ADE4-AA55C272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3309170"/>
            <a:ext cx="2354042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D8AAE676-DD10-4938-AF08-F464C78E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CB831C6-F3AA-4BFC-A548-EAC08D8C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CDEBF728-A193-4C29-A494-1B32EE88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4618408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4AD2A58-A8E7-4F8F-B1BB-C8A3BC6A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4359706"/>
            <a:ext cx="2354040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方法求解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D6BD870E-9EEA-4499-90A4-E8DC548A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949DD5F-B27A-41D5-8301-483AB134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Part5 实验分析</a:t>
            </a:r>
          </a:p>
        </p:txBody>
      </p:sp>
      <p:sp>
        <p:nvSpPr>
          <p:cNvPr id="2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DF0BEF84-077F-48FE-B6DB-37F2673B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9565" y="5668943"/>
            <a:ext cx="445881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E098885-AFBB-4734-9E3C-8C6711E2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45" y="5410241"/>
            <a:ext cx="2320379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总结与展望 Part6</a:t>
            </a:r>
          </a:p>
        </p:txBody>
      </p:sp>
    </p:spTree>
    <p:extLst>
      <p:ext uri="{BB962C8B-B14F-4D97-AF65-F5344CB8AC3E}">
        <p14:creationId xmlns:p14="http://schemas.microsoft.com/office/powerpoint/2010/main" val="10847252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DE043B96-7563-4A82-A795-E6BD2735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B4B9C1D-9857-4A16-820A-33280B27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F7EBA516-DCC2-4479-B5E5-E82DDA89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8175d3a7944b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556c7615146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fc1e94eac47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20C7A895-B8C6-4D35-A3EA-AFBEDEEF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E0A1B06D-4537-4043-9EA0-D1B8929F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CFDACB57-1E70-4F69-A8F3-A79AAC33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</p:spTree>
    <p:extLst>
      <p:ext uri="{BB962C8B-B14F-4D97-AF65-F5344CB8AC3E}">
        <p14:creationId xmlns:p14="http://schemas.microsoft.com/office/powerpoint/2010/main" val="87123400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C7E45C9-473C-4B9F-A228-4EBED293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c3336ece84d8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65e4ca3d04e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14bb7eeca406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951481E3-179B-433D-8D53-00FA92A9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90867" cy="341104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1857C8-2499-4F4A-82AF-467DB99A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10572750" cy="50673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0">
            <a:srgbClr val="FFFFFF"/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chemeClr val="bg1"/>
                </a:solidFill>
                <a:latin typeface="宋体"/>
                <a:ea typeface="宋体"/>
                <a:cs typeface="宋体"/>
              </a:rPr>
              <a:t>研究意义：将经验分配转化为可仿真、可验证、可接口化调用的调度能力，降低站台拥堵和库存等待。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D0170EA2-BAA3-4795-9003-2E763DC47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" y="1827530"/>
            <a:ext cx="9989820" cy="38614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spcAft>
                <a:spcPts val="600"/>
              </a:spcAft>
              <a:buClrTx/>
              <a:buSzTx/>
              <a:buFontTx/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       </a:t>
            </a:r>
            <a:r>
              <a:rPr sz="1600">
                <a:latin typeface="微软雅黑"/>
                <a:ea typeface="微软雅黑"/>
                <a:cs typeface="微软雅黑"/>
              </a:rPr>
              <a:t>随着制造企业订单类型和生产节奏不断变化，仓储与分拣环节面临越来越明显的动态调度压力。以潍柴订单分拣场景为例，订单通常包含多个 SKU、不同数量和不同处理时间，分拣站台数量有限，且现场还受到库存状态、站台负载、排队等待、物料搬运距离等因素影响。传统依赖人工经验或固定规则的分配方式，在订单波动较大、物料结构复杂、资源状态实时变化的情况下，容易出现站台忙闲不均、局部拥堵、订单等待时间较长、整体完工效率不稳定等问题。</a:t>
            </a:r>
          </a:p>
          <a:p xmlns:a="http://schemas.openxmlformats.org/drawingml/2006/main">
            <a:pPr algn="l">
              <a:lnSpc>
                <a:spcPct val="150000"/>
              </a:lnSpc>
              <a:spcAft>
                <a:spcPts val="600"/>
              </a:spcAft>
              <a:buClrTx/>
              <a:buSzTx/>
              <a:buFontTx/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       </a:t>
            </a:r>
            <a:r>
              <a:rPr sz="1600">
                <a:latin typeface="微软雅黑"/>
                <a:ea typeface="微软雅黑"/>
                <a:cs typeface="微软雅黑"/>
              </a:rPr>
              <a:t>因此，如何将订单、SKU 工时、库存快照、站台资源等业务数据转化为可计算、可仿真、可验证的调度模型，成为提升分拣效率的重要问题。本项目围绕潍柴订单分拣业务，研究基于强化学习的智能调度方法，并结合离散事件仿真、数据库管理、后端服务和前端可视化，构建订单分拣智能调度与数字孪生仿真系统。项目旨在通过智能算法实现订单到站台的合理分配，减少站台拥堵和库存等待，提高订单分拣效率，并为实际业务场景中的调度优化和系统落地提供可验证的技术路径。</a:t>
            </a:r>
          </a:p>
        </p:txBody>
      </p:sp>
    </p:spTree>
    <p:extLst>
      <p:ext uri="{BB962C8B-B14F-4D97-AF65-F5344CB8AC3E}">
        <p14:creationId xmlns:p14="http://schemas.microsoft.com/office/powerpoint/2010/main" val="18514688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1270666A-3E1C-4AB6-9BFE-FCD604B01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8bd4b557348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9ee3bce0e94b2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441685f5843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9FE2801C-40F3-4AB2-B488-4490EFBB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90867" cy="341104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36CBF5F-3175-422C-AECB-70FD40FD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353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我本学期的学习任务本身就是项目落地的一部分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EBB93970-5DAA-44D2-89B7-D37D6ABD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0735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5B5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B5B5B"/>
                </a:solidFill>
                <a:latin typeface="微软雅黑"/>
                <a:ea typeface="微软雅黑"/>
                <a:cs typeface="微软雅黑"/>
              </a:rPr>
              <a:t>从基础概念补齐，到能解释每个模块为什么存在、怎样验证。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C797FFB-F716-49A2-97DD-46962C101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4FDA8BD-8161-4026-A617-E79F1EEF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强化学习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BD6B4B0-3FE7-47DD-8564-0F3011AB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环境、动作、奖励、PPO、动作掩码、checkpoint 选择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3A7429E-82E6-44F1-B2DF-1E9013F2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0FD2A98-7947-4A3A-BB4B-38C6DE0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数据与数据库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4B7A08C-07A3-4B3D-8509-BBD0C4D9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Excel 清洗、SKU 工时、库存快照、MySQL 表结构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08761DF-202A-4A44-A2EE-3A2C86C7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43175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179DC7F-040A-4F2E-944C-4AE6757A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38425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后端服务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7408105-1F54-4345-8998-809CFFA7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43225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FastAPI 接口、订单导入、仿真任务、状态轮询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B5B45CD-A592-4754-B205-6174AA89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3348D39-99B9-4445-9933-0D4501E8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10050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前端展示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11A5B60-D8E3-4416-B2BA-86022064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Vue + Three.js 的订单进度、站台状态和3D动画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61713C7-A53C-4346-9A41-0D2D100A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3095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46D4F94-E192-4BA2-9841-F4C4E6DA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210050"/>
            <a:ext cx="2828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4675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E4675"/>
                </a:solidFill>
                <a:latin typeface="微软雅黑"/>
                <a:ea typeface="微软雅黑"/>
                <a:cs typeface="微软雅黑"/>
              </a:rPr>
              <a:t>落地验证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8224C2F-CADE-47FD-A55B-42EBD615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14850"/>
            <a:ext cx="28289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历史回放、库存等待、站台工时效率等业务指标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00CCDB8-EACD-4907-9F0C-7E1FB743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95750"/>
            <a:ext cx="29527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  <a:ln xmlns:a="http://schemas.openxmlformats.org/drawingml/2006/main" w="9525">
            <a:solidFill>
              <a:srgbClr val="D6E1EA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1EAEF8F-D746-4113-B730-9B868D35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240" y="4177665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00000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汇报重点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B328389-C845-4323-91F2-C9D0C8AB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48175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1F1F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0">
                <a:solidFill>
                  <a:srgbClr val="1F1F1F"/>
                </a:solidFill>
                <a:latin typeface="微软雅黑"/>
                <a:ea typeface="微软雅黑"/>
                <a:cs typeface="微软雅黑"/>
              </a:rPr>
              <a:t>项目做了什么。</a:t>
            </a:r>
          </a:p>
        </p:txBody>
      </p:sp>
    </p:spTree>
    <p:extLst>
      <p:ext uri="{BB962C8B-B14F-4D97-AF65-F5344CB8AC3E}">
        <p14:creationId xmlns:p14="http://schemas.microsoft.com/office/powerpoint/2010/main" val="169753150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6DC6388E-F74D-432A-B8C6-F31E5E9E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6FC91737-BEBD-42B3-98CD-89301E7D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72AAF79-453D-448D-B170-D3789BB5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94bcbbf66047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7661e772746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8ba6db12a4b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254BF81B-F3A5-49D9-B367-9864E192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722440CC-AB98-444E-9A70-11B1729F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164709C-C143-44CF-903E-14DC3E14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14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731AB520-F998-491D-8ECD-D5EF1621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2" y="3567872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0F28163-FE58-4251-98B9-DB2143D7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1" y="3309170"/>
            <a:ext cx="2354042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</p:spTree>
    <p:extLst>
      <p:ext uri="{BB962C8B-B14F-4D97-AF65-F5344CB8AC3E}">
        <p14:creationId xmlns:p14="http://schemas.microsoft.com/office/powerpoint/2010/main" val="19408721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B89A2C53-21D5-4604-BBF5-CBB0AB89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2789" y="-25744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7408493ad47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ee7f5981745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5b52694fd4e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矩形: 圆角 1">
            <a:extLst xmlns:a="http://schemas.openxmlformats.org/drawingml/2006/main">
              <a:ext uri="{FF2B5EF4-FFF2-40B4-BE49-F238E27FC236}">
                <a16:creationId xmlns:a16="http://schemas.microsoft.com/office/drawing/2014/main" id="{80FCBD1D-3491-48DF-AA2B-AF55144D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49" y="1089957"/>
            <a:ext cx="1299028" cy="327998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问题描述</a:t>
            </a: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ED0E4E4-173A-43A0-86D6-A6709863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105" y="2468880"/>
            <a:ext cx="10470515" cy="17532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要解决的不是单一算法题，而是带约束的生产调度问题。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订单包含 SKU、数量和处理时间；站台数量有限，存在排队与拥堵。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库存快照决定订单是否可执行，缺料订单需要进入异常队列。</a:t>
            </a:r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1">
                <a:solidFill>
                  <a:srgbClr val="FF0000"/>
                </a:solidFill>
                <a:latin typeface="宋体"/>
                <a:ea typeface="宋体"/>
                <a:cs typeface="宋体"/>
              </a:rPr>
              <a:t>目标是在业务约束下，让分配更均衡、完工时间更短、系统运行更稳定。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1661F7D-A11E-4915-88BE-3263FF91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2710180"/>
            <a:ext cx="2595245" cy="4147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0C1DE00-4F52-483F-A4D8-7F24B1E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33650"/>
            <a:ext cx="8975090" cy="4323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C1686580-9B9A-492E-90DB-824DFA37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3871595"/>
            <a:ext cx="2097405" cy="23272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1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在给定工作时长内如何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优化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需启用的最少站台？</a:t>
            </a:r>
          </a:p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2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在给定站台情况下如何将订单分配到不同站台？</a:t>
            </a:r>
          </a:p>
          <a:p xmlns:a="http://schemas.openxmlformats.org/drawingml/2006/main">
            <a:pPr marL="171450" indent="-171450">
              <a:lnSpc>
                <a:spcPct val="120000"/>
              </a:lnSpc>
              <a:buClr>
                <a:srgbClr val="1F497D"/>
              </a:buClr>
              <a:buFont typeface="Wingdings"/>
              <a:buChar char="n"/>
            </a:pPr>
            <a:r>
              <a:rPr sz="1400">
                <a:latin typeface="微软雅黑"/>
                <a:ea typeface="微软雅黑"/>
                <a:cs typeface="微软雅黑"/>
              </a:rPr>
              <a:t>问题</a:t>
            </a:r>
            <a:r>
              <a:rPr sz="1400">
                <a:latin typeface="微软雅黑"/>
                <a:ea typeface="微软雅黑"/>
                <a:cs typeface="微软雅黑"/>
              </a:rPr>
              <a:t>3</a:t>
            </a:r>
            <a:r>
              <a:rPr sz="1400">
                <a:latin typeface="微软雅黑"/>
                <a:ea typeface="微软雅黑"/>
                <a:cs typeface="微软雅黑"/>
              </a:rPr>
              <a:t>：</a:t>
            </a:r>
            <a:r>
              <a:rPr sz="140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在每个站台如何优化订单处理顺序？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A73098-50D4-4FE3-810E-86AC0ED9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435" y="1535430"/>
            <a:ext cx="1094549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Font typeface="Wingdings"/>
              <a:buChar char="n"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订单分拣调度</a:t>
            </a:r>
          </a:p>
          <a:p xmlns:a="http://schemas.openxmlformats.org/drawingml/2006/main">
            <a:pPr>
              <a:lnSpc>
                <a:spcPct val="120000"/>
              </a:lnSpc>
              <a:buClr>
                <a:srgbClr val="1F497D"/>
              </a:buClr>
              <a:buNone/>
            </a:pPr>
            <a:r>
              <a:rPr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     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生产系统下发一批需在当日完成的订单，每个订单包含多种零件拣选需求。仓库调度对应物料箱通过传送带送至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16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个站台之一，工人完成拣选后物料箱立即返回仓库。站台缓冲区最多可存放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8</a:t>
            </a:r>
            <a:r>
              <a:rPr sz="14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个物料箱，且一次只能处理一个订单，物料箱到达节奏与站台订单分配将直接影响整体工作效率。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0EFCA3C-7A57-4064-B94A-F662C059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070" y="2806065"/>
            <a:ext cx="2139315" cy="13093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Font typeface="Wingdings"/>
              <a:buChar char="n"/>
            </a:pPr>
            <a:r>
              <a:rPr b="1">
                <a:latin typeface="微软雅黑"/>
                <a:ea typeface="微软雅黑"/>
                <a:cs typeface="微软雅黑"/>
              </a:rPr>
              <a:t>优化问题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F497D"/>
              </a:buClr>
              <a:buNone/>
            </a:pPr>
            <a:r>
              <a:rPr sz="1400">
                <a:latin typeface="微软雅黑"/>
                <a:ea typeface="微软雅黑"/>
                <a:cs typeface="微软雅黑"/>
              </a:rPr>
              <a:t>在给定工作时长中，对订单分拣过程进行整体优化决策。</a:t>
            </a:r>
          </a:p>
        </p:txBody>
      </p:sp>
      <p:pic>
        <p:nvPicPr>
          <p:cNvPr id="5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32d2a9aa643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4475" y="2710180"/>
            <a:ext cx="8800465" cy="3667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225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052C0C7C-CA44-472D-8112-BA96BAF9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4EF340C-9AF9-4CFA-B04E-44F85895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4A00703-EE1E-4843-A9C2-7B0C123E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fa7f16a2248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529f853dd344f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9e43000874c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8D8CBF12-8ADB-4184-BF1B-513A72EC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8BA6BFF1-B634-488A-A556-8A43F51B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0F96545-22B8-4858-A011-869DD32C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5FC7F4F0-B610-4451-B1AD-A2D59E5B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AE2B6A2E-19A4-481B-A862-B98DACC4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ED727B99-882D-429C-AAED-34B86C3A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BAD43676-D106-42FC-80E1-CC10EB57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</p:spTree>
    <p:extLst>
      <p:ext uri="{BB962C8B-B14F-4D97-AF65-F5344CB8AC3E}">
        <p14:creationId xmlns:p14="http://schemas.microsoft.com/office/powerpoint/2010/main" val="12134864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6B525FE-E9B6-4CBC-873E-EEFC893C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6f7debe6849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22966552b42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caab80ac749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AE58A184-856C-4D50-989F-57A82A02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</a:t>
            </a: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pic>
        <p:nvPicPr>
          <p:cNvPr id="33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2750e66be44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83055" y="1489710"/>
            <a:ext cx="9025255" cy="49180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18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94A1E06-3BA2-466E-9129-AD94318A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6793866f24d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b634643ed4d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551f2665b44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405F2B5-0D27-4412-85E0-D97E83CC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" y="1661795"/>
            <a:ext cx="3690620" cy="39046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/>
                <a:ea typeface="微软雅黑"/>
                <a:cs typeface="微软雅黑"/>
              </a:rPr>
              <a:t>1.</a:t>
            </a: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 数据侧：Excel 拣选记录、SKU 标准工时、库存快照、订单波次入库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2. 算法侧：Maskable PPO 强化学习调度，结合 SimPy 离散事件仿真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</a:p>
          <a:p xmlns:a="http://schemas.openxmlformats.org/drawingml/2006/main">
            <a:pPr marL="285750" indent="-285750">
              <a:lnSpc>
                <a:spcPct val="150000"/>
              </a:lnSpc>
              <a:buChar char="•"/>
            </a:pPr>
            <a:r>
              <a:rPr sz="16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3. 系统侧：FastAPI 后端、MySQL 数据库、Vue + Three.js 前端可视化</a:t>
            </a:r>
          </a:p>
        </p:txBody>
      </p:sp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8013C179-AC06-49B3-B0F1-89110DCB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研究</a:t>
            </a: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0B24C61-CFED-4FFB-81FF-CC9271AB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155" y="6096635"/>
            <a:ext cx="1057973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重点不只是训练模型，而是把“模型能不能用”拆成数据准备、规则约束、接口联调和效率验证四个环节。</a:t>
            </a:r>
          </a:p>
        </p:txBody>
      </p:sp>
      <p:pic>
        <p:nvPicPr>
          <p:cNvPr id="35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0e1c174b945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85235" y="1070610"/>
            <a:ext cx="8100695" cy="49637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7560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F78A390A-ABFA-4753-8DCC-F74F522AA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0A78492-A651-4063-B299-B9C7F623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AE8781F-F928-42C0-86E9-FDDDDF0A4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d1bb6d0ec442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dee993998b4f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8b13f8bb84f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8DF534E4-B27B-429B-9830-DA7DF9A1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A99347A5-52CC-425D-B3D3-8BA4A7CC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65604B1-BE25-44F0-87D5-93667E09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5D634684-7972-4816-97ED-BC251B3C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22122E81-D448-46B5-8C32-B7B6085F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CECB01C6-42F7-4125-8E9F-39635412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BE7A01C2-6192-45E1-B15D-1FCAB644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7F08DCAA-0D25-436F-9D78-5E67F0B8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8" y="4618406"/>
            <a:ext cx="474778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F8AA97BA-E5D8-4619-B84B-6185AC9E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86" y="4359703"/>
            <a:ext cx="240590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方法求解 Part4</a:t>
            </a:r>
          </a:p>
        </p:txBody>
      </p:sp>
    </p:spTree>
    <p:extLst>
      <p:ext uri="{BB962C8B-B14F-4D97-AF65-F5344CB8AC3E}">
        <p14:creationId xmlns:p14="http://schemas.microsoft.com/office/powerpoint/2010/main" val="107028987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9B984C8-DA09-4B67-A850-4F908C9B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b36489ebe44f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f22731c6d4c4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b7fe597ed47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: 圆角 12">
            <a:extLst xmlns:a="http://schemas.openxmlformats.org/drawingml/2006/main">
              <a:ext uri="{FF2B5EF4-FFF2-40B4-BE49-F238E27FC236}">
                <a16:creationId xmlns:a16="http://schemas.microsoft.com/office/drawing/2014/main" id="{260221EC-CFD9-4FCC-B624-1BF3A0C9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72631"/>
            <a:ext cx="1502227" cy="335256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27" name="route-main-copy">
            <a:extLst xmlns:a="http://schemas.openxmlformats.org/drawingml/2006/main">
              <a:ext uri="{FF2B5EF4-FFF2-40B4-BE49-F238E27FC236}">
                <a16:creationId xmlns:a16="http://schemas.microsoft.com/office/drawing/2014/main" id="{0546A02A-AEB3-4881-B4B8-AAD740A5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4953000" cy="24371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技术路线：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订单导入 -&gt; SKU 工时重建 -&gt; 库存预处理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AI 调度 -&gt; SimPy 仿真 -&gt; 前端 3D 播放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方法选择：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PPO 学习订单到站台的长期收益；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动作掩码避免非法分配；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202020"/>
                </a:solidFill>
              </a:defRPr>
            </a:pPr>
            <a:r>
              <a:rPr sz="1650" b="0">
                <a:solidFill>
                  <a:srgbClr val="202020"/>
                </a:solidFill>
              </a:rPr>
              <a:t>整批 makespan 奖励约束最终效率。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768091-FB5A-4198-BE17-2A62771C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18D257F-B67A-4C1C-8B28-92F1FB74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F4F73"/>
                </a:solidFill>
              </a:defRPr>
            </a:pPr>
            <a:r>
              <a:rPr sz="1875" b="1">
                <a:solidFill>
                  <a:srgbClr val="1F4F73"/>
                </a:solidFill>
              </a:rPr>
              <a:t>强化学习把调度问题表述为“状态-动作-反馈”的序贯决策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161801-F665-41E7-A696-BE1D5DF2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理论基础：MDP、PPO 与优势函数估计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1928F1-3DD2-4FD1-B86C-0BB6B9F3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2571750"/>
          </a:xfrm>
          <a:prstGeom xmlns:a="http://schemas.openxmlformats.org/drawingml/2006/main" prst="roundRect">
            <a:avLst>
              <a:gd name="adj" fmla="val 74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36C08B-1BC2-4EAE-950A-F63277EA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1F1F"/>
                </a:solidFill>
              </a:defRPr>
            </a:pPr>
            <a:r>
              <a:rPr sz="1875" b="1">
                <a:solidFill>
                  <a:srgbClr val="1F1F1F"/>
                </a:solidFill>
              </a:rPr>
              <a:t>𝓜 = ⟨ 𝓢, 𝓐, 𝓟, 𝓡, γ 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7F74929-5AB2-4C87-8DC8-02127F52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>
                <a:solidFill>
                  <a:srgbClr val="4A4A4A"/>
                </a:solidFill>
              </a:defRPr>
            </a:pPr>
            <a:r>
              <a:rPr sz="1163">
                <a:solidFill>
                  <a:srgbClr val="4A4A4A"/>
                </a:solidFill>
              </a:rPr>
              <a:t>目标：学习策略 πθ(a|s)，最大化累计折扣回报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93144B-3240-41D4-8AA9-045BBB78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4333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71920"/>
                </a:solidFill>
              </a:defRPr>
            </a:pPr>
            <a:r>
              <a:rPr sz="1575" b="1">
                <a:solidFill>
                  <a:srgbClr val="D71920"/>
                </a:solidFill>
              </a:rPr>
              <a:t>J(θ) = E [ Σₜ γᵗ rₜ 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9AC883-EAA4-41B8-937C-5ED0A39B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4F73"/>
                </a:solidFill>
              </a:defRPr>
            </a:pPr>
            <a:r>
              <a:rPr sz="1163" b="1">
                <a:solidFill>
                  <a:srgbClr val="1F4F73"/>
                </a:solidFill>
              </a:rPr>
              <a:t>PPO 剪切目标函数：限制新旧策略差异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C253F0-FE34-47A7-ABE3-C94FE55C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766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1F1F1F"/>
                </a:solidFill>
              </a:defRPr>
            </a:pPr>
            <a:r>
              <a:rPr sz="1163" b="1">
                <a:solidFill>
                  <a:srgbClr val="1F1F1F"/>
                </a:solidFill>
              </a:rPr>
              <a:t>ρₜ = πθ(aₜ|sₜ) / πθ⁻(aₜ|sₜ)</a:t>
            </a:r>
          </a:p>
          <a:p xmlns:a="http://schemas.openxmlformats.org/drawingml/2006/main">
            <a:pPr algn="ctr">
              <a:defRPr sz="1163" b="1">
                <a:solidFill>
                  <a:srgbClr val="1F1F1F"/>
                </a:solidFill>
              </a:defRPr>
            </a:pPr>
            <a:r>
              <a:rPr sz="1163" b="1">
                <a:solidFill>
                  <a:srgbClr val="1F1F1F"/>
                </a:solidFill>
              </a:rPr>
              <a:t>L(θ) = Eₜ [ min( ρₜ Âₜ, clip(ρₜ, 1−ε, 1+ε) Âₜ ) 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0C7B7D-BAB9-4106-9A3D-B3657675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05300"/>
            <a:ext cx="4572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10" b="1">
                <a:solidFill>
                  <a:srgbClr val="D71920"/>
                </a:solidFill>
              </a:defRPr>
            </a:pPr>
            <a:r>
              <a:rPr sz="1110" b="1">
                <a:solidFill>
                  <a:srgbClr val="D71920"/>
                </a:solidFill>
              </a:rPr>
              <a:t>GAE 优势估计：Âₜ = δₜ + (γλ)δₜ₊₁ + (γλ)²δₜ₊₂ + 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19ECEB-8DEB-4C08-9BB6-11532CBB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433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35">
                <a:solidFill>
                  <a:srgbClr val="1F1F1F"/>
                </a:solidFill>
              </a:defRPr>
            </a:pPr>
            <a:r>
              <a:rPr sz="1035">
                <a:solidFill>
                  <a:srgbClr val="1F1F1F"/>
                </a:solidFill>
              </a:rPr>
              <a:t>δₜ = rₜ + γV(sₜ₊₁) − V(sₜ)，πθ⁻ 表示更新前策略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033CB3-2994-4A8F-A08B-5BA87C2D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625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含义：ρₜ控制更新幅度，Âₜ衡量当前动作相对平均策略的优劣。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2B15CA-EBA8-4713-A1CD-30D3CDB3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431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项目映射：动作掩码与奖励/惩罚设计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749BAE-3DE1-490B-A8F4-BAD0E28F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285875" cy="1000125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B383A7-C61B-4E0C-8B0E-823AD299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28875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状态 sₜ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971FB2E-C05D-4387-8635-1DE0A4E5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33675"/>
            <a:ext cx="1019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剩余订单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站台负载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库存可用性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522DCA1-CFCA-4481-A402-105C5F34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146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DEE8B0B-2C42-4F28-8F21-A5FAC25D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33625"/>
            <a:ext cx="1285875" cy="1000125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1E6B7A8-6879-4157-A781-E90BF312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428875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动作 aₜ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484D34-4BC9-43D7-B07F-1B4ED440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733675"/>
            <a:ext cx="1019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选择站台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动作掩码过滤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非法动作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0491D06-7164-4BA7-A3D7-591B818C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71462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2F77D7-8065-44B0-8325-F60D4303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33625"/>
            <a:ext cx="1285875" cy="1000125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6FBFE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523E12-A5DC-45E1-B734-AD5FB3AB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28875"/>
            <a:ext cx="1057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环境反馈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E9018B-9098-4BFC-AD95-41A21B22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33675"/>
            <a:ext cx="10191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SimPy 推进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队列变化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奖励计算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4B48A3-8251-403B-BCE3-C2FF6E28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623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6F99"/>
                </a:solidFill>
              </a:defRPr>
            </a:pPr>
            <a:r>
              <a:rPr sz="1650" b="1">
                <a:solidFill>
                  <a:srgbClr val="2F6F99"/>
                </a:solidFill>
              </a:rPr>
              <a:t>-&gt;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A55092-4251-4E97-89CF-2694B72C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175260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DD5E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F412BC-5388-4DC9-8F98-AA410C26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00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4F73"/>
                </a:solidFill>
              </a:defRPr>
            </a:pPr>
            <a:r>
              <a:rPr sz="1275" b="1">
                <a:solidFill>
                  <a:srgbClr val="1F4F73"/>
                </a:solidFill>
              </a:rPr>
              <a:t>策略更新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7EFC8F-60F8-4FFF-80A6-2B3243B2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14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按 clipped objective</a:t>
            </a:r>
          </a:p>
          <a:p xmlns:a="http://schemas.openxmlformats.org/drawingml/2006/main">
            <a:pPr algn="ctr">
              <a:defRPr sz="1088">
                <a:solidFill>
                  <a:srgbClr val="4A4A4A"/>
                </a:solidFill>
              </a:defRPr>
            </a:pPr>
            <a:r>
              <a:rPr sz="1088">
                <a:solidFill>
                  <a:srgbClr val="4A4A4A"/>
                </a:solidFill>
              </a:rPr>
              <a:t>更新 πθ(a|s)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7A464C7-B33E-4B07-A3F6-CED24C82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62500"/>
            <a:ext cx="228600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E513CD-7DD1-411D-8FDB-58EAF892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62500"/>
            <a:ext cx="228600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C7C35E-AFA2-442B-BC3E-6E470766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F4F73"/>
                </a:solidFill>
              </a:defRPr>
            </a:pPr>
            <a:r>
              <a:rPr sz="1200" b="1">
                <a:solidFill>
                  <a:srgbClr val="1F4F73"/>
                </a:solidFill>
              </a:rPr>
              <a:t>动作掩码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6C44F78-65C5-4FD7-B0CF-4249025C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0540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45">
                <a:solidFill>
                  <a:srgbClr val="1F1F1F"/>
                </a:solidFill>
              </a:defRPr>
            </a:pPr>
            <a:r>
              <a:rPr sz="945">
                <a:solidFill>
                  <a:srgbClr val="1F1F1F"/>
                </a:solidFill>
              </a:rPr>
              <a:t>若站台不可用、缓冲区满或订单缺料，则令 logit(a)=-∞，使 πθ(a|s)=0，训练与推理都不选择非法站台。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14A491-A8C2-4495-9439-B3313C8E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71920"/>
                </a:solidFill>
              </a:defRPr>
            </a:pPr>
            <a:r>
              <a:rPr sz="1200" b="1">
                <a:solidFill>
                  <a:srgbClr val="D71920"/>
                </a:solidFill>
              </a:rPr>
              <a:t>奖励/惩罚函数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7D5520F-4E25-4367-802A-2381A009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24450"/>
            <a:ext cx="1962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1F1F1F"/>
                </a:solidFill>
              </a:defRPr>
            </a:pPr>
            <a:r>
              <a:rPr sz="990" b="1">
                <a:solidFill>
                  <a:srgbClr val="1F1F1F"/>
                </a:solidFill>
              </a:rPr>
              <a:t>rₜ = −αqₜ − βbₜ − χuₜ − ηmₜ</a:t>
            </a:r>
          </a:p>
          <a:p xmlns:a="http://schemas.openxmlformats.org/drawingml/2006/main">
            <a:pPr algn="ctr">
              <a:defRPr sz="990" b="1">
                <a:solidFill>
                  <a:srgbClr val="1F1F1F"/>
                </a:solidFill>
              </a:defRPr>
            </a:pPr>
            <a:r>
              <a:rPr sz="990" b="1">
                <a:solidFill>
                  <a:srgbClr val="1F1F1F"/>
                </a:solidFill>
              </a:rPr>
              <a:t>Rᵀ = −κCmax − ξ[Cmax−D]₊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BB71D97-4EB8-4652-944C-C3596AAC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65">
                <a:solidFill>
                  <a:srgbClr val="4A4A4A"/>
                </a:solidFill>
              </a:defRPr>
            </a:pPr>
            <a:r>
              <a:rPr sz="1065">
                <a:solidFill>
                  <a:srgbClr val="4A4A4A"/>
                </a:solidFill>
              </a:rPr>
              <a:t>qₜ：排队等待  bₜ：负载不均  uₜ：缓冲区占用  mₜ：缺料/不可执行  Cmax：整批完工时间  D：日内截止线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5B8865-2AC9-4070-9BEF-2FDA2CBE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722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4F73"/>
                </a:solidFill>
              </a:defRPr>
            </a:pPr>
            <a:r>
              <a:rPr sz="1350" b="1">
                <a:solidFill>
                  <a:srgbClr val="1F4F73"/>
                </a:solidFill>
              </a:rPr>
              <a:t>数据预处理 -&gt; MDP 建模 -&gt; Maskable PPO 训练 -&gt; checkpoint 选择 -&gt; SimPy 回放 -&gt; 指标验证</a:t>
            </a:r>
          </a:p>
        </p:txBody>
      </p:sp>
    </p:spTree>
    <p:extLst>
      <p:ext uri="{BB962C8B-B14F-4D97-AF65-F5344CB8AC3E}">
        <p14:creationId xmlns:p14="http://schemas.microsoft.com/office/powerpoint/2010/main" val="17210946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9893032B-219D-4967-B645-30809C64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073C0D9E-75FD-44CF-9C6B-4D5C3DB3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68181B32-9814-420D-A1B1-6AE7F546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cbb24445c46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6d49ca3d642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d3f006c094d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F74542A6-C608-440B-863A-7AAC29F1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40C136DC-3A3C-4E7E-93CF-4A55A5D7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96CA0E5-24F6-4CD3-8BF9-663C7F5D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DC72CE2E-4C03-48FE-B769-82D14282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87F3602B-0D8F-41CE-B0DD-5BF431DA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CD95CAC8-B65F-4213-971A-108A5AF0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06A9A981-782B-4426-9908-161C9F04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D28C5026-8C09-4DA9-A051-CCBCF713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4618406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F71DB93-C47B-4D8F-8666-0974B890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4" y="4359703"/>
            <a:ext cx="2259464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技术路线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207DC50B-18A5-4C9B-A34A-A51B33FAA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E31E4AC0-4065-4851-9CDE-00D39A32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Part5 实验分析</a:t>
            </a:r>
          </a:p>
        </p:txBody>
      </p:sp>
    </p:spTree>
    <p:extLst>
      <p:ext uri="{BB962C8B-B14F-4D97-AF65-F5344CB8AC3E}">
        <p14:creationId xmlns:p14="http://schemas.microsoft.com/office/powerpoint/2010/main" val="204543417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DC7C8214-A8F3-4128-85DE-9918D0F9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4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73d4bc3f241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5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b8c790bbc45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3e7cf595c74f6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矩形: 圆角 2">
            <a:extLst xmlns:a="http://schemas.openxmlformats.org/drawingml/2006/main">
              <a:ext uri="{FF2B5EF4-FFF2-40B4-BE49-F238E27FC236}">
                <a16:creationId xmlns:a16="http://schemas.microsoft.com/office/drawing/2014/main" id="{60D1CF01-3279-4D61-91C1-6355D3DC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4" y="1029088"/>
            <a:ext cx="4188898" cy="366575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/>
              <a:t>实验验证与效率分析</a:t>
            </a:r>
          </a:p>
        </p:txBody>
      </p:sp>
      <p:sp>
        <p:nvSpPr>
          <p:cNvPr id="45" name="validation-main-copy">
            <a:extLst xmlns:a="http://schemas.openxmlformats.org/drawingml/2006/main">
              <a:ext uri="{FF2B5EF4-FFF2-40B4-BE49-F238E27FC236}">
                <a16:creationId xmlns:a16="http://schemas.microsoft.com/office/drawing/2014/main" id="{B81257D1-B85D-401F-BE1F-983074AC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29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验证设计：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15 天历史数据回放，比较 AI、轮询、随机和历史回放。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固定 2000 单测试集筛选最佳 checkpoint。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202020"/>
                </a:solidFill>
              </a:defRPr>
            </a:pPr>
            <a:r>
              <a:rPr sz="1575" b="0">
                <a:solidFill>
                  <a:srgbClr val="202020"/>
                </a:solidFill>
              </a:rPr>
              <a:t>7 月 1 日库存预处理验证异常队列与等待时间。</a:t>
            </a:r>
          </a:p>
        </p:txBody>
      </p:sp>
      <p:pic>
        <p:nvPicPr>
          <p:cNvPr id="79" name="图片 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54ea660234a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2366596"/>
            <a:ext cx="4762500" cy="2124808"/>
          </a:xfrm>
          <a:prstGeom xmlns:a="http://schemas.openxmlformats.org/drawingml/2006/main" prst="rect">
            <a:avLst/>
          </a:prstGeom>
        </p:spPr>
      </p:pic>
      <p:sp>
        <p:nvSpPr>
          <p:cNvPr id="47" name="validation-summary">
            <a:extLst xmlns:a="http://schemas.openxmlformats.org/drawingml/2006/main">
              <a:ext uri="{FF2B5EF4-FFF2-40B4-BE49-F238E27FC236}">
                <a16:creationId xmlns:a16="http://schemas.microsoft.com/office/drawing/2014/main" id="{8B789F8D-81D4-4093-95AA-57C27518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38550"/>
            <a:ext cx="4429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15 天验证摘要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随机：平均 makespan 提升 30.7%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AI vs 实际净工时：平均提升 58.8%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C00000"/>
                </a:solidFill>
              </a:defRPr>
            </a:pPr>
            <a:r>
              <a:rPr sz="1425" b="1">
                <a:solidFill>
                  <a:srgbClr val="C00000"/>
                </a:solidFill>
              </a:rPr>
              <a:t>库存预处理：等待时间下降 79.6%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98F290-2C92-4DA7-B1EE-78F76F4B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E56817-541A-45AA-8A7D-2D922CD0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15 天历史回放验证：AI 调度在完工时间和站台工时上均优于基础策略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0E3D70-7B61-40B4-A694-52F871FA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F6F99"/>
                </a:solidFill>
              </a:defRPr>
            </a:pPr>
            <a:r>
              <a:rPr sz="1350" b="1">
                <a:solidFill>
                  <a:srgbClr val="2F6F99"/>
                </a:solidFill>
              </a:rPr>
              <a:t>验证口径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2C894D-8EFD-41F9-BE36-FB8B1A07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45148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415FB54-F7BF-4B99-8095-0156BF1C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171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02">
                <a:solidFill>
                  <a:srgbClr val="1F1F1F"/>
                </a:solidFill>
              </a:defRPr>
            </a:pPr>
            <a:r>
              <a:rPr sz="1102">
                <a:solidFill>
                  <a:srgbClr val="1F1F1F"/>
                </a:solidFill>
              </a:rPr>
              <a:t>样本：2026-04 有效数据中选取 15 个业务日</a:t>
            </a:r>
          </a:p>
          <a:p xmlns:a="http://schemas.openxmlformats.org/drawingml/2006/main">
            <a:pPr>
              <a:defRPr sz="1102">
                <a:solidFill>
                  <a:srgbClr val="1F1F1F"/>
                </a:solidFill>
              </a:defRPr>
            </a:pPr>
            <a:r>
              <a:rPr sz="1102">
                <a:solidFill>
                  <a:srgbClr val="1F1F1F"/>
                </a:solidFill>
              </a:rPr>
              <a:t>对照：AI Agent、Round-robin、Random、历史真实净工时、历史站台回放</a:t>
            </a:r>
          </a:p>
          <a:p xmlns:a="http://schemas.openxmlformats.org/drawingml/2006/main">
            <a:pPr>
              <a:defRPr sz="1102">
                <a:solidFill>
                  <a:srgbClr val="1F1F1F"/>
                </a:solidFill>
              </a:defRPr>
            </a:pPr>
            <a:r>
              <a:rPr sz="1102">
                <a:solidFill>
                  <a:srgbClr val="1F1F1F"/>
                </a:solidFill>
              </a:rPr>
              <a:t>指标：平均 makespan + 站台工时效率</a:t>
            </a:r>
          </a:p>
          <a:p xmlns:a="http://schemas.openxmlformats.org/drawingml/2006/main">
            <a:pPr>
              <a:defRPr sz="1102">
                <a:solidFill>
                  <a:srgbClr val="1F1F1F"/>
                </a:solidFill>
              </a:defRPr>
            </a:pPr>
            <a:r>
              <a:rPr sz="1102">
                <a:solidFill>
                  <a:srgbClr val="1F1F1F"/>
                </a:solidFill>
              </a:rPr>
              <a:t>业务线：30600 秒作为日内完工参考线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27D7666-5F14-4921-9EEE-ED17358A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FBA496-DED8-48A4-87FA-307909ED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24.01%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97D8BC-8E68-4F6B-B5EA-938053AC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18F2E4-D2F1-4755-8A48-1F896A22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相比轮询平均提升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D10E95-70E5-4468-947E-1DB3C2ED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A0B66BF-0CE7-409C-BC9E-DA8F03B9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61.93%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05AA09-72F7-46C7-B34F-132CA97F7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5E2518-CB03-4279-A6B6-C0EE8829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相比随机平均提升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7031034-8284-4889-817D-FB15AB21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33800"/>
            <a:ext cx="1381125" cy="1190625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484F8D-D6A7-4A86-9014-5AB93F75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29050"/>
            <a:ext cx="1152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71920"/>
                </a:solidFill>
              </a:defRPr>
            </a:pPr>
            <a:r>
              <a:rPr sz="2175" b="1">
                <a:solidFill>
                  <a:srgbClr val="D71920"/>
                </a:solidFill>
              </a:rPr>
              <a:t>25.29%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39349D2-E4BB-48F5-9C03-ACB13237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A4A4A"/>
                </a:solidFill>
              </a:defRPr>
            </a:pPr>
            <a:r>
              <a:rPr sz="1050">
                <a:solidFill>
                  <a:srgbClr val="4A4A4A"/>
                </a:solidFill>
              </a:rPr>
              <a:t>站台工时效率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98CD7E4-48D7-4FD8-AD62-D27237EF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10075"/>
            <a:ext cx="1152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1F1F1F"/>
                </a:solidFill>
              </a:defRPr>
            </a:pPr>
            <a:r>
              <a:rPr sz="1125">
                <a:solidFill>
                  <a:srgbClr val="1F1F1F"/>
                </a:solidFill>
              </a:rPr>
              <a:t>AI 相比历史回放提升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0D4A1C8-EB22-4C60-B858-3AAFCA8F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4457700" cy="7239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8E88C4-7995-493C-B466-547AC8B4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40">
                <a:solidFill>
                  <a:srgbClr val="1F1F1F"/>
                </a:solidFill>
              </a:defRPr>
            </a:pPr>
            <a:r>
              <a:rPr sz="1140">
                <a:solidFill>
                  <a:srgbClr val="1F1F1F"/>
                </a:solidFill>
              </a:rPr>
              <a:t>结果解读：AI 曲线在 8 个及以上站台时已低于 30600s 完工线。它相对轮询和随机更稳定，说明模型学到的是订单耗时差异与站台负载的动态平衡。</a:t>
            </a:r>
          </a:p>
        </p:txBody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8fd80b39a45cb"/>
          <a:stretch xmlns:a="http://schemas.openxmlformats.org/drawingml/2006/main"/>
        </p:blipFill>
        <p:spPr>
          <a:xfrm xmlns:a="http://schemas.openxmlformats.org/drawingml/2006/main">
            <a:off x="5620881" y="2057400"/>
            <a:ext cx="5779413" cy="3762375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9E5D568-BF18-4884-8807-E140EA7C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867400"/>
            <a:ext cx="519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A4A4A"/>
                </a:solidFill>
              </a:defRPr>
            </a:pPr>
            <a:r>
              <a:rPr sz="975">
                <a:solidFill>
                  <a:srgbClr val="4A4A4A"/>
                </a:solidFill>
              </a:rPr>
              <a:t>图：测试集 2026-04-02 至 2026-04-29 平均完工时间对比</a:t>
            </a:r>
          </a:p>
        </p:txBody>
      </p:sp>
    </p:spTree>
    <p:extLst>
      <p:ext uri="{BB962C8B-B14F-4D97-AF65-F5344CB8AC3E}">
        <p14:creationId xmlns:p14="http://schemas.microsoft.com/office/powerpoint/2010/main" val="66214334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文本框 38">
            <a:extLst xmlns:a="http://schemas.openxmlformats.org/drawingml/2006/main">
              <a:ext uri="{FF2B5EF4-FFF2-40B4-BE49-F238E27FC236}">
                <a16:creationId xmlns:a16="http://schemas.microsoft.com/office/drawing/2014/main" id="{6E8CE251-25CB-45BA-A575-494A1238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372" y="1664175"/>
            <a:ext cx="2852864" cy="6667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3735" b="1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  <p:sp>
        <p:nvSpPr>
          <p:cNvPr id="9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BABAE80-3E48-4164-8D22-279D171D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257" y="1016463"/>
            <a:ext cx="1422612" cy="7489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4265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8CA1511-7B91-4CBB-A08E-D8E217EC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8" y="-3239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b36ea982440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2097" y="194367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52616602624d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5275" y="215147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0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bf1a83d2d44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74769" y="60425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7" name="直线连接符 46">
            <a:extLst xmlns:a="http://schemas.openxmlformats.org/drawingml/2006/main">
              <a:ext uri="{FF2B5EF4-FFF2-40B4-BE49-F238E27FC236}">
                <a16:creationId xmlns:a16="http://schemas.microsoft.com/office/drawing/2014/main" id="{48740932-773C-418E-A351-5F09347F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586" y="2417045"/>
            <a:ext cx="1" cy="3982764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tx1"/>
            </a:solidFill>
          </a:ln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1E433F36-B94F-44D8-AF04-78832760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99337" y="30397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057A578-FA18-4E37-A423-0D1B33ED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0457" y="2770406"/>
            <a:ext cx="3078293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Part1 研究背景</a:t>
            </a:r>
          </a:p>
        </p:txBody>
      </p:sp>
      <p:sp>
        <p:nvSpPr>
          <p:cNvPr id="5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4ECB0191-B20C-403E-911C-98F7B287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3567870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1108D3A3-8926-4F3D-8E6A-0AD963260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3" y="3309167"/>
            <a:ext cx="2354041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问题描述 Part2</a:t>
            </a:r>
          </a:p>
        </p:txBody>
      </p:sp>
      <p:sp>
        <p:nvSpPr>
          <p:cNvPr id="6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54C0791C-D0B2-427C-901E-E03816A2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4109965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4F2709DE-09F2-4D0C-ADBF-06784A89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95" y="3840606"/>
            <a:ext cx="3078293" cy="4737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Part3 研究</a:t>
            </a: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方案</a:t>
            </a:r>
          </a:p>
        </p:txBody>
      </p:sp>
      <p:sp>
        <p:nvSpPr>
          <p:cNvPr id="12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E6C24FEF-26E3-43FF-8DFD-39C82D15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1804" y="4618406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5F9B8516-69AB-4B60-AA8B-1E896C6E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84" y="4359703"/>
            <a:ext cx="2259464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技术路线 Part4</a:t>
            </a:r>
          </a:p>
        </p:txBody>
      </p:sp>
      <p:sp>
        <p:nvSpPr>
          <p:cNvPr id="23" name="直线连接符 52">
            <a:extLst xmlns:a="http://schemas.openxmlformats.org/drawingml/2006/main">
              <a:ext uri="{FF2B5EF4-FFF2-40B4-BE49-F238E27FC236}">
                <a16:creationId xmlns:a16="http://schemas.microsoft.com/office/drawing/2014/main" id="{EB3178A0-B943-456D-8638-5841E86A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765775" y="5180162"/>
            <a:ext cx="330225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DC547A91-E9C6-4937-A54D-C2B6DB58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8" y="4910803"/>
            <a:ext cx="3280580" cy="4750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485">
                <a:solidFill>
                  <a:schemeClr val="bg2"/>
                </a:solidFill>
                <a:latin typeface="微软雅黑"/>
                <a:ea typeface="微软雅黑"/>
                <a:cs typeface="微软雅黑"/>
              </a:rPr>
              <a:t>Part5 实验结果</a:t>
            </a:r>
          </a:p>
        </p:txBody>
      </p:sp>
      <p:sp>
        <p:nvSpPr>
          <p:cNvPr id="26" name="直线连接符 55">
            <a:extLst xmlns:a="http://schemas.openxmlformats.org/drawingml/2006/main">
              <a:ext uri="{FF2B5EF4-FFF2-40B4-BE49-F238E27FC236}">
                <a16:creationId xmlns:a16="http://schemas.microsoft.com/office/drawing/2014/main" id="{CFCE81D5-48BF-42CA-94A4-D8D13D59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29563" y="5668943"/>
            <a:ext cx="44588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1">
            <a:schemeClr val="accent3"/>
          </a:lnRef>
          <a:fillRef xmlns:a="http://schemas.openxmlformats.org/drawingml/2006/main" idx="0">
            <a:schemeClr val="accent3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F8F23F8-99C4-4DC2-890C-1865418F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442" y="5410241"/>
            <a:ext cx="1940467" cy="4750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485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微软雅黑"/>
              </a:rPr>
              <a:t>总结与展望 Part6</a:t>
            </a:r>
          </a:p>
        </p:txBody>
      </p:sp>
    </p:spTree>
    <p:extLst>
      <p:ext uri="{BB962C8B-B14F-4D97-AF65-F5344CB8AC3E}">
        <p14:creationId xmlns:p14="http://schemas.microsoft.com/office/powerpoint/2010/main" val="175322199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D869D70-EFFB-4028-8823-E7CC400A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6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8e816638e465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322ae2cb745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6d58bb955478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9788EDB-EEDE-49CD-B547-9B53E413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11" y="1313543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E5290C14-10BF-44D5-AF81-E74CCFE1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14709" cy="340180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33" name="conclusion-clean-copy">
            <a:extLst xmlns:a="http://schemas.openxmlformats.org/drawingml/2006/main">
              <a:ext uri="{FF2B5EF4-FFF2-40B4-BE49-F238E27FC236}">
                <a16:creationId xmlns:a16="http://schemas.microsoft.com/office/drawing/2014/main" id="{28F7E704-74E1-48D7-A756-17A39222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1. 本学期完成了从零基础到项目闭环的搭建：理解强化学习，整理数据库与数据集，完成后端服务、前端展示和效率验证。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02020"/>
                </a:solidFill>
              </a:defRPr>
            </a:pPr>
            <a:r>
              <a:rPr sz="1800" b="0">
                <a:solidFill>
                  <a:srgbClr val="202020"/>
                </a:solidFill>
              </a:rPr>
              <a:t>2. 项目成果不是一个孤立模型，而是一套订单导入、调度、仿真、回放、评估的工作流。</a:t>
            </a:r>
          </a:p>
        </p:txBody>
      </p:sp>
      <p:sp>
        <p:nvSpPr>
          <p:cNvPr id="34" name="conclusion-callout">
            <a:extLst xmlns:a="http://schemas.openxmlformats.org/drawingml/2006/main">
              <a:ext uri="{FF2B5EF4-FFF2-40B4-BE49-F238E27FC236}">
                <a16:creationId xmlns:a16="http://schemas.microsoft.com/office/drawing/2014/main" id="{4246D592-E266-431C-AA94-2FC5F008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06A99"/>
                </a:solidFill>
              </a:defRPr>
            </a:pPr>
            <a:r>
              <a:rPr sz="1800" b="1">
                <a:solidFill>
                  <a:srgbClr val="306A99"/>
                </a:solidFill>
              </a:rPr>
              <a:t>当前状态：已形成可演示、可接口调用、可按历史数据验证的订单分拣智能调度原型。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242AB3-F925-465E-B038-6AB27F7A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716986-AB48-4208-8B5F-31AB5E3B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阶段总结：本学期完成了从算法学习到系统闭环的工程化验证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0544DF-4DAA-4496-B1FE-86D7A946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算法建模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0C6CFD-7FD7-451F-B0D7-9A650092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数据与仿真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287887-AD18-4853-A859-C40DDF22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系统服务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7C6849B-1EBB-43EF-9DAF-8667B4C4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33600"/>
            <a:ext cx="1809750" cy="4000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2F6F99"/>
          </a:solidFill>
          <a:ln xmlns:a="http://schemas.openxmlformats.org/drawingml/2006/main" w="9525">
            <a:solidFill>
              <a:srgbClr val="2F6F9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效果验证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7FFF89-BC43-4FE0-9F08-95697454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CFEE48-DBB4-4042-B4BD-529E57FB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D2BDEB-60E2-499E-BDE3-02355AEC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4B915C-5022-4006-9D58-010C037A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24150"/>
            <a:ext cx="2238375" cy="2114550"/>
          </a:xfrm>
          <a:prstGeom xmlns:a="http://schemas.openxmlformats.org/drawingml/2006/main" prst="roundRect">
            <a:avLst>
              <a:gd name="adj" fmla="val 901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5570EC-0F8E-41C2-B929-B04857C2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理解 RL / MDP / PPO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构建状态、动作、奖励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动作掩码约束非法分配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checkpoint 筛选与评估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C36290-A652-4D66-BDF6-B3884E22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清洗订单与 SKU 工时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维护库存快照与异常队列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SimPy 还原仿真事件线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输出可追踪仿真结果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144CCD-E82C-457D-8AB1-DE97D5C9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FastAPI 调度接口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MySQL 表结构与数据流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Vue + Three.js 展示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任务状态轮询和回放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9765D0-15E3-44C1-BA4E-7B0D84BD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24175"/>
            <a:ext cx="1809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15 天历史回放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AI/轮询/随机对比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历史真实净工时对照</a:t>
            </a:r>
          </a:p>
          <a:p xmlns:a="http://schemas.openxmlformats.org/drawingml/2006/main">
            <a:pPr>
              <a:defRPr sz="1200">
                <a:solidFill>
                  <a:srgbClr val="1F1F1F"/>
                </a:solidFill>
              </a:defRPr>
            </a:pPr>
            <a:r>
              <a:rPr sz="1200">
                <a:solidFill>
                  <a:srgbClr val="1F1F1F"/>
                </a:solidFill>
              </a:rPr>
              <a:t>· 站台工时效率评估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80996D-6011-4185-9F35-D6DF6186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191625" cy="9906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11430">
            <a:solidFill>
              <a:srgbClr val="EAD8A9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2708AC-4FBC-4FE1-BC70-67307577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6255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85" b="1">
                <a:solidFill>
                  <a:srgbClr val="1F4F73"/>
                </a:solidFill>
              </a:defRPr>
            </a:pPr>
            <a:r>
              <a:rPr sz="1185" b="1">
                <a:solidFill>
                  <a:srgbClr val="1F4F73"/>
                </a:solidFill>
              </a:rPr>
              <a:t>当前状态：已形成“订单导入 -&gt; 智能调度 -&gt; 仿真回放 -&gt; 前端展示 -&gt; 效率报告”的原型闭环，具备可演示、可接口调用、可按历史数据验证的基础能力。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B724E60-B1E2-44FC-8FC4-42B0A36F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38800"/>
            <a:ext cx="862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85" b="0">
                <a:solidFill>
                  <a:srgbClr val="1F1F1F"/>
                </a:solidFill>
              </a:defRPr>
            </a:pPr>
            <a:r>
              <a:rPr sz="1185" b="0">
                <a:solidFill>
                  <a:srgbClr val="1F1F1F"/>
                </a:solidFill>
              </a:rPr>
              <a:t>个人收获：从不懂强化学习、数据库和前后端服务，到能够解释模型设计、数据流转和业务指标验证。</a:t>
            </a:r>
          </a:p>
        </p:txBody>
      </p:sp>
    </p:spTree>
    <p:extLst>
      <p:ext uri="{BB962C8B-B14F-4D97-AF65-F5344CB8AC3E}">
        <p14:creationId xmlns:p14="http://schemas.microsoft.com/office/powerpoint/2010/main" val="87317477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130007EF-36BE-42EB-8BE2-029CAE5C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7282"/>
            <a:ext cx="12214789" cy="9981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5d9fc44c6143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2" y="219481"/>
            <a:ext cx="1876957" cy="5992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8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00974094448e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0" y="240261"/>
            <a:ext cx="758666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9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3cf432fbe45b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3" y="85538"/>
            <a:ext cx="3350801" cy="9222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E4141E-0F64-4F4A-9AFB-91FB1BFB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11" y="1313543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EDD03F3C-ACF0-475D-BF44-3897AC61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43" y="1043602"/>
            <a:ext cx="1814709" cy="340180"/>
          </a:xfrm>
          <a:prstGeom xmlns:a="http://schemas.openxmlformats.org/drawingml/2006/main" prst="roundRect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总结与展望</a:t>
            </a:r>
          </a:p>
        </p:txBody>
      </p:sp>
      <p:sp>
        <p:nvSpPr>
          <p:cNvPr id="33" name="learning-clean-copy">
            <a:extLst xmlns:a="http://schemas.openxmlformats.org/drawingml/2006/main">
              <a:ext uri="{FF2B5EF4-FFF2-40B4-BE49-F238E27FC236}">
                <a16:creationId xmlns:a16="http://schemas.microsoft.com/office/drawing/2014/main" id="{F841922D-2DB2-4186-8FF5-5EC2B3D1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933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00000"/>
                </a:solidFill>
              </a:defRPr>
            </a:pPr>
            <a:r>
              <a:rPr sz="1800" b="0">
                <a:solidFill>
                  <a:srgbClr val="C00000"/>
                </a:solidFill>
              </a:rPr>
              <a:t>已掌握：强化学习基本流程、PPO 训练与 checkpoint 评估、MySQL 表结构、FastAPI 接口、Vue/Three.js 前端展示。</a:t>
            </a:r>
          </a:p>
          <a:p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C00000"/>
                </a:solidFill>
              </a:defRPr>
            </a:pPr>
            <a:r>
              <a:rPr sz="1800" b="0">
                <a:solidFill>
                  <a:srgbClr val="C00000"/>
                </a:solidFill>
              </a:rPr>
              <a:t>后续计划：补充更多真实业务日验证；增强异常订单解释；把模型选择、仿真报告和前端配置做得更自动化。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46DC70-719E-4FB5-8C0D-76F55578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B179F2-5900-4405-BBAA-F7D1F3C9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4F73"/>
                </a:solidFill>
              </a:defRPr>
            </a:pPr>
            <a:r>
              <a:rPr sz="1800" b="1">
                <a:solidFill>
                  <a:srgbClr val="1F4F73"/>
                </a:solidFill>
              </a:rPr>
              <a:t>展望：从离线验证走向更稳定的现场可用调度能力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D9D9FE-EBF7-433D-A6D8-4E337DE7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71920"/>
                </a:solidFill>
              </a:defRPr>
            </a:pPr>
            <a:r>
              <a:rPr sz="1425" b="1">
                <a:solidFill>
                  <a:srgbClr val="D71920"/>
                </a:solidFill>
              </a:rPr>
              <a:t>当前不足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C8C95F-FF97-477A-A947-10ADA28E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46482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EFC4C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FA98B9-0B65-4A1F-823F-9DB3F5DE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076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（1）数据覆盖仍以离线历史样本为主，跨月份、跨波次泛化能力还需继续验证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（2）奖励函数能反映 makespan 和负载，但缺料、搬运距离、人工节拍等约束仍可细化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（3）模型解释性还不足，需要把每个站台分配决策转化为更清楚的业务原因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（4）系统落地还要补充监控、异常回滚、参数配置、接口稳定性和性能压测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48B2C1-88FE-4C8D-94CA-FCDF7C25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F6F99"/>
                </a:solidFill>
              </a:defRPr>
            </a:pPr>
            <a:r>
              <a:rPr sz="1425" b="1">
                <a:solidFill>
                  <a:srgbClr val="2F6F99"/>
                </a:solidFill>
              </a:rPr>
              <a:t>下一步计划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3390CB-25BA-4749-87F4-DCFC0815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14600"/>
            <a:ext cx="4648200" cy="2857500"/>
          </a:xfrm>
          <a:prstGeom xmlns:a="http://schemas.openxmlformats.org/drawingml/2006/main" prst="roundRect">
            <a:avLst>
              <a:gd name="adj" fmla="val 667"/>
            </a:avLst>
          </a:prstGeom>
          <a:solidFill xmlns:a="http://schemas.openxmlformats.org/drawingml/2006/main">
            <a:srgbClr val="F7FBFD"/>
          </a:solidFill>
          <a:ln xmlns:a="http://schemas.openxmlformats.org/drawingml/2006/main" w="11430">
            <a:solidFill>
              <a:srgbClr val="C7DD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2BB4AF-BC31-4521-8578-7C9B5A29E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14650"/>
            <a:ext cx="4076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（1）引入库存状态和订单优先级，形成更贴近现场约束的多目标奖励函数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（2）扩展历史业务日和不同站台配置，建立自动化模型选择与回归验证流程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（3）将调度从单批离线决策推进到滚动优化，支持订单变化和站台状态变化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70">
                <a:solidFill>
                  <a:srgbClr val="1F1F1F"/>
                </a:solidFill>
              </a:defRPr>
            </a:pPr>
            <a:r>
              <a:rPr sz="1170">
                <a:solidFill>
                  <a:srgbClr val="1F1F1F"/>
                </a:solidFill>
              </a:rPr>
              <a:t>（4）完善前端对比视图、仿真报告自动生成和部署文档，提升项目可复用性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65E300-FA0B-4D9E-8677-F15CD1CF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695950"/>
            <a:ext cx="8715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4F73"/>
                </a:solidFill>
              </a:defRPr>
            </a:pPr>
            <a:r>
              <a:rPr sz="1650" b="1">
                <a:solidFill>
                  <a:srgbClr val="1F4F73"/>
                </a:solidFill>
              </a:rPr>
              <a:t>后续目标：让算法输出不仅“算得出”，还要“讲得清、接得上、跑得稳、验得过”。</a:t>
            </a:r>
          </a:p>
        </p:txBody>
      </p:sp>
    </p:spTree>
    <p:extLst>
      <p:ext uri="{BB962C8B-B14F-4D97-AF65-F5344CB8AC3E}">
        <p14:creationId xmlns:p14="http://schemas.microsoft.com/office/powerpoint/2010/main" val="103537894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436CBF4-E743-41AF-BD09-3DFE0151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57"/>
            <a:ext cx="12214789" cy="9981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99"/>
          </a:solidFill>
          <a:ln xmlns:a="http://schemas.openxmlformats.org/drawingml/2006/main">
            <a:solidFill>
              <a:srgbClr val="E6E6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1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ad33013334f0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0433" y="235120"/>
            <a:ext cx="1876957" cy="59929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2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fef46a2a04b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3611" y="255900"/>
            <a:ext cx="758666" cy="5992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3" name="pasted-image.pdf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b0021217184e5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3105" y="101178"/>
            <a:ext cx="3350801" cy="9222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90E31F4D-F289-455A-B313-DFF53C49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981" y="3827105"/>
            <a:ext cx="8392041" cy="10772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6400" b="1">
                <a:solidFill>
                  <a:srgbClr val="409EC4"/>
                </a:solidFill>
                <a:latin typeface="微软雅黑"/>
                <a:ea typeface="微软雅黑"/>
                <a:cs typeface="微软雅黑"/>
              </a:rPr>
              <a:t>衷心感谢老师的指导！</a:t>
            </a:r>
          </a:p>
        </p:txBody>
      </p:sp>
      <p:pic>
        <p:nvPicPr>
          <p:cNvPr id="45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d75cbc909f4b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39978" y="1922899"/>
            <a:ext cx="1332359" cy="1332359"/>
          </a:xfrm>
          <a:prstGeom xmlns:a="http://schemas.openxmlformats.org/drawingml/2006/main" prst="rect">
            <a:avLst/>
          </a:prstGeom>
          <a:effectLst xmlns:a="http://schemas.openxmlformats.org/drawingml/2006/main">
            <a:reflection blurRad="6350" stA="52000" endA="300" endPos="3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57511169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2026-07-19T12:19:18.8300000Z</dcterms:created>
  <dcterms:modified xsi:type="dcterms:W3CDTF">2026-07-19T12:19:18.8300000Z</dcterms:modified>
</coreProperties>
</file>