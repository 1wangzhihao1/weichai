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deb2105f664b02" /><Relationship Type="http://schemas.openxmlformats.org/officeDocument/2006/relationships/extended-properties" Target="/docProps/app.xml" Id="Ra1f75d5022f04fda" /><Relationship Type="http://schemas.openxmlformats.org/officeDocument/2006/relationships/officeDocument" Target="/ppt/presentation.xml" Id="R5f5d2c8a7f1d4b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d5de3f888449b4"/>
  </p:sldMasterIdLst>
  <p:notesMasterIdLst>
    <p:notesMasterId xmlns:r="http://schemas.openxmlformats.org/officeDocument/2006/relationships" r:id="R7f232989f5a64c42"/>
  </p:notesMasterIdLst>
  <p:sldIdLst>
    <p:sldId xmlns:r="http://schemas.openxmlformats.org/officeDocument/2006/relationships" id="256" r:id="R909087fdef8a47ff"/>
    <p:sldId xmlns:r="http://schemas.openxmlformats.org/officeDocument/2006/relationships" id="257" r:id="Rba53d9e1df7b4e69"/>
    <p:sldId xmlns:r="http://schemas.openxmlformats.org/officeDocument/2006/relationships" id="258" r:id="R0000fe07a50f4e2a"/>
    <p:sldId xmlns:r="http://schemas.openxmlformats.org/officeDocument/2006/relationships" id="259" r:id="R43d142a69fbb4526"/>
    <p:sldId xmlns:r="http://schemas.openxmlformats.org/officeDocument/2006/relationships" id="260" r:id="R7c0994f8e32843f6"/>
    <p:sldId xmlns:r="http://schemas.openxmlformats.org/officeDocument/2006/relationships" id="261" r:id="R0e5f3710a45b4b76"/>
    <p:sldId xmlns:r="http://schemas.openxmlformats.org/officeDocument/2006/relationships" id="262" r:id="Re7be29478f85461a"/>
    <p:sldId xmlns:r="http://schemas.openxmlformats.org/officeDocument/2006/relationships" id="263" r:id="Re1ac298542264925"/>
    <p:sldId xmlns:r="http://schemas.openxmlformats.org/officeDocument/2006/relationships" id="264" r:id="R0d1541f8ee88431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f3b1da5a784584" /><Relationship Type="http://schemas.openxmlformats.org/officeDocument/2006/relationships/slideMaster" Target="/ppt/slideMasters/slideMaster1.xml" Id="R40d5de3f888449b4" /><Relationship Type="http://schemas.openxmlformats.org/officeDocument/2006/relationships/notesMaster" Target="/ppt/notesMasters/notesMaster1.xml" Id="R7f232989f5a64c42" /><Relationship Type="http://schemas.openxmlformats.org/officeDocument/2006/relationships/presProps" Target="/ppt/presProps.xml" Id="R6243c84e3b3549a6" /><Relationship Type="http://schemas.openxmlformats.org/officeDocument/2006/relationships/tableStyles" Target="/ppt/tableStyles.xml" Id="Rb004314a5d9e4204" /><Relationship Type="http://schemas.openxmlformats.org/officeDocument/2006/relationships/slide" Target="/ppt/slides/slide1.xml" Id="R909087fdef8a47ff" /><Relationship Type="http://schemas.openxmlformats.org/officeDocument/2006/relationships/slide" Target="/ppt/slides/slide2.xml" Id="Rba53d9e1df7b4e69" /><Relationship Type="http://schemas.openxmlformats.org/officeDocument/2006/relationships/slide" Target="/ppt/slides/slide3.xml" Id="R0000fe07a50f4e2a" /><Relationship Type="http://schemas.openxmlformats.org/officeDocument/2006/relationships/slide" Target="/ppt/slides/slide4.xml" Id="R43d142a69fbb4526" /><Relationship Type="http://schemas.openxmlformats.org/officeDocument/2006/relationships/slide" Target="/ppt/slides/slide5.xml" Id="R7c0994f8e32843f6" /><Relationship Type="http://schemas.openxmlformats.org/officeDocument/2006/relationships/slide" Target="/ppt/slides/slide6.xml" Id="R0e5f3710a45b4b76" /><Relationship Type="http://schemas.openxmlformats.org/officeDocument/2006/relationships/slide" Target="/ppt/slides/slide7.xml" Id="Re7be29478f85461a" /><Relationship Type="http://schemas.openxmlformats.org/officeDocument/2006/relationships/slide" Target="/ppt/slides/slide8.xml" Id="Re1ac298542264925" /><Relationship Type="http://schemas.openxmlformats.org/officeDocument/2006/relationships/slide" Target="/ppt/slides/slide9.xml" Id="R0d1541f8ee8843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697bd0211241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fbf0396e1a45b0" /><Relationship Type="http://schemas.openxmlformats.org/officeDocument/2006/relationships/notesMaster" Target="/ppt/notesMasters/notesMaster1.xml" Id="Rc317ff2a6d5341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5b3712fb354ab6" /><Relationship Type="http://schemas.openxmlformats.org/officeDocument/2006/relationships/notesMaster" Target="/ppt/notesMasters/notesMaster1.xml" Id="R1c7c237a94b34e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b3d2eacd684a6a" /><Relationship Type="http://schemas.openxmlformats.org/officeDocument/2006/relationships/notesMaster" Target="/ppt/notesMasters/notesMaster1.xml" Id="R0f97d3ca16a745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05c9cfd7e74bb9" /><Relationship Type="http://schemas.openxmlformats.org/officeDocument/2006/relationships/notesMaster" Target="/ppt/notesMasters/notesMaster1.xml" Id="Rb0579736b49b40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5056656ed64205" /><Relationship Type="http://schemas.openxmlformats.org/officeDocument/2006/relationships/notesMaster" Target="/ppt/notesMasters/notesMaster1.xml" Id="R578de7583d2a4c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10218d9bee43c1" /><Relationship Type="http://schemas.openxmlformats.org/officeDocument/2006/relationships/notesMaster" Target="/ppt/notesMasters/notesMaster1.xml" Id="Rd9cab9d634a542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e9b34655d64039" /><Relationship Type="http://schemas.openxmlformats.org/officeDocument/2006/relationships/notesMaster" Target="/ppt/notesMasters/notesMaster1.xml" Id="R262f052195064c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d9b28891bf4de0" /><Relationship Type="http://schemas.openxmlformats.org/officeDocument/2006/relationships/notesMaster" Target="/ppt/notesMasters/notesMaster1.xml" Id="R799eaaa1ffdf4d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378e57826f4476" /><Relationship Type="http://schemas.openxmlformats.org/officeDocument/2006/relationships/notesMaster" Target="/ppt/notesMasters/notesMaster1.xml" Id="R09979df8e8514a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29cd020ad248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2505ae2ea04139" /><Relationship Type="http://schemas.openxmlformats.org/officeDocument/2006/relationships/slideLayout" Target="/ppt/slideLayouts/slideLayout1.xml" Id="R45c0027e7dec40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c0027e7dec40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4eb02f3284228" /><Relationship Type="http://schemas.openxmlformats.org/officeDocument/2006/relationships/notesSlide" Target="/ppt/notesSlides/notesSlide1.xml" Id="Rd0fe4555ac5d41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9e89692a446ae" /><Relationship Type="http://schemas.openxmlformats.org/officeDocument/2006/relationships/notesSlide" Target="/ppt/notesSlides/notesSlide2.xml" Id="R375ee94e555e4e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dbc3f19784229" /><Relationship Type="http://schemas.openxmlformats.org/officeDocument/2006/relationships/notesSlide" Target="/ppt/notesSlides/notesSlide3.xml" Id="Rcb616961f1834c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152ddfe6a497f" /><Relationship Type="http://schemas.openxmlformats.org/officeDocument/2006/relationships/notesSlide" Target="/ppt/notesSlides/notesSlide4.xml" Id="Rab9cc63a36a744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f0721a6e94ff6" /><Relationship Type="http://schemas.openxmlformats.org/officeDocument/2006/relationships/notesSlide" Target="/ppt/notesSlides/notesSlide5.xml" Id="R368e15af7bb24d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473181d754c51" /><Relationship Type="http://schemas.openxmlformats.org/officeDocument/2006/relationships/notesSlide" Target="/ppt/notesSlides/notesSlide6.xml" Id="R00d990692fdf4c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23a428316407c" /><Relationship Type="http://schemas.openxmlformats.org/officeDocument/2006/relationships/notesSlide" Target="/ppt/notesSlides/notesSlide7.xml" Id="Rf2bfb80083014d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3cf2328d546ed" /><Relationship Type="http://schemas.openxmlformats.org/officeDocument/2006/relationships/notesSlide" Target="/ppt/notesSlides/notesSlide8.xml" Id="Ref9173b86a1a4a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abe0bed7442a8" /><Relationship Type="http://schemas.openxmlformats.org/officeDocument/2006/relationships/notesSlide" Target="/ppt/notesSlides/notesSlide9.xml" Id="R6bb11cfbad2344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B178A5-DFDA-4905-A3D4-AE7E08C0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1801E-62DF-482F-A037-78267834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5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2F55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86469-50F1-4521-A86B-649890A3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创新性和先进性说明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7A2CE-7AEB-4236-A6C6-DE770F12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09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PPO 调度策略补充版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3CFD9-FA0D-4877-826C-36152AC5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361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汇报人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所在部门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26.6.23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1C701-EE34-4C7B-86F6-8D1A6772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1505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45785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91B627-464B-4F20-B053-C1C22D40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结论先行：PPO 不是创新点，场景机制和闭环方法才是创新点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9C194-2325-4839-9DAB-1772CBDC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F4BD5-55AF-4316-8FE2-C9FD84A4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10363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5C1A1-C048-4C00-928A-A650B870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597"/>
                </a:solidFill>
              </a:defRPr>
            </a:pPr>
            <a:r>
              <a:rPr sz="1650" b="1">
                <a:solidFill>
                  <a:srgbClr val="2F5597"/>
                </a:solidFill>
              </a:rPr>
              <a:t>应用创新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BDFFA-3860-457C-8F04-79B8DE7B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05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面向具体现场，把 SKU 冲突、有限缓存、双订单并发和业务保序约束纳入调度流程。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30914-5D34-4BFE-ABCA-ED19E58D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0363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AF8EA-93A5-4834-AAB0-09DAC7B5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学术先进性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4F7E8-11F2-49B7-9CD4-691476A6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242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相较规则和普通 PPO，强调更强约束表达、更完整消融验证和动态决策鲁棒性。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05E2A-F763-4481-BE1E-E7D6CB9B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0363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67223-8FC3-4F53-96B6-E200CD83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表述边界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B6F6D-523B-457E-8CC3-3033D784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434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不声称 PPO 算法首创；强调预处理机制、状态建模和闭环验证在项目场景中的组合创新。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FF7A9-805B-43A8-9AC6-45001D36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184591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37394D-CB67-4CC6-8883-DB7115F0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项目痛点：传统规则难覆盖动态耦合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98088-1237-4CEE-9517-E4113E64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E55F8-A931-44CF-9050-BAF2C0C9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3143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005C4-120D-43C0-A3E7-44C5690D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43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状态变化快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8D294-B779-420E-84DE-1B163516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订单到达、SKU 需求、站台负载和缓存占用会持续变化。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270C5-0A9B-45F4-A434-116ED231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00450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结果：静态规则容易只解决当前订单，难兼顾后续衔接。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3DBE5-37AB-4233-9598-AD79D727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95450"/>
            <a:ext cx="3143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0E540-298D-4A01-A134-BE4C9677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43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输入不可执行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F089A-A5AB-4839-B496-E0BCEAAB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14600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相同 SKU 集中出现时，容易形成高冲突订单输入。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DD201-719C-40C2-9603-70759A07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00450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结果：PPO 需要同时处理排序冲突和调度动作，训练负担加重。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1B0DA-1156-470D-A969-A3CE7868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95450"/>
            <a:ext cx="3143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0CE38-B73E-4047-B20B-845F54D2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决策强耦合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D7FDE-DED0-4AD2-AB4C-278A36AA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14600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站台启用、订单分配、启动时机、缓存容量和等待时间相互影响。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5FEE8-BAE1-4F32-BA3C-293B090D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00450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结果：单步贪心策略难评估多订单衔接效果。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D8716-A5D2-40CC-8391-5BAA78EB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924885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818028-8879-46B3-A52B-714557D8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为什么选择 PPO：问题本质是动态调度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6A2F7-8676-475D-935A-FE72BF6E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PPO 的价值不是“算法新”，而是适合在连续变化的状态中学习长期调度策略。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1B0B2-CFCF-4B46-908C-3A870611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3F38D-8596-41BF-A54E-C6DCDC57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5597"/>
                </a:solidFill>
              </a:defRPr>
            </a:pPr>
            <a:r>
              <a:rPr sz="1725" b="1">
                <a:solidFill>
                  <a:srgbClr val="2F5597"/>
                </a:solidFill>
              </a:rPr>
              <a:t>固定规则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30A2E-C23E-4AD5-86C2-2BB995F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FIFO、LPT 等规则响应快，但主要基于当前局部状态，难评估当前动作对后续订单延迟和站台负载的影响。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0C6AC-C0D4-4EF1-AA1E-988E6E74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FC75F-F0D1-4B93-93FB-FE926E1E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5597"/>
                </a:solidFill>
              </a:defRPr>
            </a:pPr>
            <a:r>
              <a:rPr sz="1725" b="1">
                <a:solidFill>
                  <a:srgbClr val="2F5597"/>
                </a:solidFill>
              </a:rPr>
              <a:t>搜索求解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CA9DC-4480-48B1-85AF-1803F0EE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04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GA、PSO、MIP/Gurobi 可求高质量方案，但在组合规模变大、现场要求实时响应时，求解压力上升。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61ABC-B8C6-4D19-A2D9-4035452D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45543-B865-4EA5-9E73-2688647C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PPO 策略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8B60C-C7E2-44E9-982D-D4ECEF93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67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离线阶段通过仿真交互学习长期收益；在线阶段根据当前状态快速输出站台和订单动作。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9730A-F69C-4AA6-81D6-6D652E08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B7CB9-BBFE-431F-A7B9-86FB04C8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7811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3C1564-7B94-47AE-8A0E-BE3EC155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应用创新：库存约束下的 SKU 冲突预处理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6CE60-4FDE-4BA7-B653-3095ED9E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重点不是用了 PPO，而是在 PPO 调度前加入面向现场冲突的输入治理机制。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F57A0-012B-4BB5-9AB6-71B761E9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D8DEA-2F63-43B1-9EDF-8257269C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5597"/>
                </a:solidFill>
              </a:defRPr>
            </a:pPr>
            <a:r>
              <a:rPr sz="1725" b="1">
                <a:solidFill>
                  <a:srgbClr val="2F5597"/>
                </a:solidFill>
              </a:rPr>
              <a:t>应用创新的定义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643DC-22BE-49B5-BD78-C129BFB0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把库存供给、SKU 集中需求、业务保序约束前置到订单序列预处理环节。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2B0FF-F2D8-48DC-A1D5-05199C58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5597"/>
                </a:solidFill>
              </a:defRPr>
            </a:pPr>
            <a:r>
              <a:rPr sz="1725" b="1">
                <a:solidFill>
                  <a:srgbClr val="2F5597"/>
                </a:solidFill>
              </a:rPr>
              <a:t>解决的问题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5B673-E8F7-48AA-AE40-70C61024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70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原始订单序列可读，但不一定适合直接执行；预排序先降低高风险集中输入。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E2CC1-42B2-4014-BF24-32FCF159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5597"/>
                </a:solidFill>
              </a:defRPr>
            </a:pPr>
            <a:r>
              <a:rPr sz="1725" b="1">
                <a:solidFill>
                  <a:srgbClr val="2F5597"/>
                </a:solidFill>
              </a:rPr>
              <a:t>与 PPO 的关系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C8066-04FA-41C0-9D82-2914EACC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767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预处理降低输入冲突，PPO 负责多约束动态决策，两者共同形成闭环。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FD32E-49DA-41DA-9062-5BBEC2D7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303553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DFF254-D78C-4A22-9640-14F5AD17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PPO 的项目价值不止效率提升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3C4C6-7F28-434C-9DFD-6EB9DC86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这里强调训练环境已经覆盖的动态因素，不把库存波动作为 PPO 训练优势来讲。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66D17-5D0B-4D62-A8D8-46276419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91FA7-17D4-40FA-9D60-6792F3D1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4667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0082C-6A69-4E1B-B0C9-DD1BF291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28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多目标权衡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9873C-2C1E-4046-AD7E-DCFB2026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兼顾订单延迟、等待时间、站台利用率和负载均衡。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CB02-FB76-4CDF-9E04-B70AFDB1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4667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BA41C-F95E-4B1C-A5C3-C4C5AA27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5597"/>
                </a:solidFill>
              </a:defRPr>
            </a:pPr>
            <a:r>
              <a:rPr sz="1725" b="1">
                <a:solidFill>
                  <a:srgbClr val="2F5597"/>
                </a:solidFill>
              </a:rPr>
              <a:t>动态适应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0BB84-00C7-4D45-BA1D-DAA59D50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289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根据订单组合、站台状态、缓存占用和任务负载变化调整动作。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1D923-CBCA-4BB0-845D-589CF7D3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4667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5571D-66A4-4BE5-B44F-B5275D19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训练稳定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12AB7-7C2D-4B9E-9D17-3BD05BBC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通过剪切目标限制策略更新幅度，降低训练过程的大幅波动。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BC08B-CAD8-424D-871E-21C3E675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57600"/>
            <a:ext cx="4667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3EC76-EE63-4BC3-89A4-92E6E8ED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48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快速泛化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9FA2B-09E7-4FE9-8F5D-6B72F78E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面对新订单组合，可直接调用已训练策略输出调度动作。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C91FB-1983-43D9-B551-8FBF8A70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72112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D42B0D-B8EE-4294-BAF5-CBA4EE03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学术先进性：用对比实验证明机制有效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44AA2-5F42-47D6-A6E2-F549A1C5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913C4-7BF8-431B-B8E9-C652799B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904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这里比较的不是 PPO 新旧，而是“加入预排序机制后”相对未预处理策略是否带来可验证提升。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D9B3F-9EE7-45AA-BFDE-064231C4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E7E8B-C7FC-4ED6-95E8-A7A1A83A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24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B5563"/>
                </a:solidFill>
              </a:defRPr>
            </a:pPr>
            <a:r>
              <a:rPr sz="1650" b="1">
                <a:solidFill>
                  <a:srgbClr val="4B5563"/>
                </a:solidFill>
              </a:rPr>
              <a:t>规则策略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A3DFB-B87B-4887-B770-354D93E3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B06CF-2E49-4FEF-9987-CF9D7439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24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B5563"/>
                </a:solidFill>
              </a:defRPr>
            </a:pPr>
            <a:r>
              <a:rPr sz="1650" b="1">
                <a:solidFill>
                  <a:srgbClr val="4B5563"/>
                </a:solidFill>
              </a:rPr>
              <a:t>普通 PPO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09FE6-2AEC-4EDC-8D95-6403EF8B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33750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08DDB-5EB7-447C-A2B9-F4F35A25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24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预处理 + PPO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4942D-F7B2-4E7B-858C-208A1BE4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证明提升来自场景约束表达和动态决策闭环，而不是简单宣称算法先进。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192C7-0507-4DD5-8DC4-03F0CEFC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85907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FB2D18-84EB-4BED-9CBA-CC5FE267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效率和稳定性为什么能提升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A62C5-D907-4183-950F-3135E91F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963B6-3E34-4E12-97C8-D9110675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57400"/>
            <a:ext cx="2781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D7735-EF36-40AC-AE8D-1C2FC6B1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622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输入更可控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023A9-6D61-4647-980F-2819FA8E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0"/>
            <a:ext cx="220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预排序先降低高冲突订单集中输入，减少后续调度压力。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A865-78B6-42BA-87AB-A1465F62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57400"/>
            <a:ext cx="2781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3BE08-0DF8-488C-824D-77809620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决策更连贯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57B75-5F0C-4208-9C85-2F1AF067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48000"/>
            <a:ext cx="220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PPO 学习订单分配、站台启用和启动时机之间的联动关系。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AE34C-4776-4801-A557-257260E7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57400"/>
            <a:ext cx="2781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37E83-4858-4811-BC30-CA388638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响应更快速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A54DC-9110-4FA2-B739-C6CCD6F1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220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复杂搜索前置到离线训练，在线阶段快速输出调度动作。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BDDBF-115C-48E7-B3F5-A7E11235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863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结果：减少无效探索和等待，让策略更稳定地服务于现场实时调度。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D075C-94DA-4695-A7EB-841F2295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378848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BD9BD1-EA29-44B7-BB15-9F869140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最终表达：创新来自“机制 + 模型 + 验证”的组合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108D9-56E0-4EB5-A014-6BE9F0EB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1445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5D751-E175-4317-B948-0350B160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52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预处理机制：把高冲突订单输入先治理，降低不可执行风险。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8D209-DF39-4561-8E63-B9DB7830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• PPO 模型：在动态状态中学习长期调度策略，而不是只做局部排序。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FCEF7-B3CD-486B-94B0-7665349C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实验验证：通过规则、普通 PPO、预处理 + PPO 的对比证明机制有效。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C3016-0FD0-4950-8276-587C747B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958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因此，本项目的创新点不是“使用 PPO”，而是将 PPO 放入可执行输入治理和现场动态调度闭环中。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1E670-7CF0-4003-B325-AD123134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11513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2026-07-06T03:27:43.1760000Z</dcterms:created>
  <dcterms:modified xsi:type="dcterms:W3CDTF">2026-07-06T03:27:43.1760000Z</dcterms:modified>
</coreProperties>
</file>