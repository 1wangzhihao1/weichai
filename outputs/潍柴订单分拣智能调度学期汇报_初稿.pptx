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72" r:id="rId9"/>
    <p:sldId id="260" r:id="rId10"/>
    <p:sldId id="261" r:id="rId11"/>
    <p:sldId id="262" r:id="rId12"/>
    <p:sldId id="273" r:id="rId13"/>
    <p:sldId id="274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好，我汇报的题目是潍柴订单分拣智能调度项目学期汇报。这一学期对我来说不是只做一个算法实验，而是从几乎零基础开始，逐步把一个真实业务场景拆成数据、算法、仿真和系统落地几个部分。汇报会先讲业务背景，再讲我遇到的具体问题，然后说明系统和强化学习模型怎么做，最后用验证结果说明目前做到什么程度，以及后续还要补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整个汇报结构。第一部分讲为什么要做订单分拣智能调度；第二部分讲业务问题为什么复杂；第三部分讲我这一学期实际完成的内容；第四部分讲技术路线，尤其是强化学习和仿真的关系；第五部分讲验证结果；最后总结个人收获、项目进展和下一步计划。整体时间我会控制在二十五分钟以上，每部分都会尽量讲清楚自己从不懂到能落地的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先进入研究背景。潍柴这个场景的核心是订单分拣，订单不是简单的一行数据，它背后对应多个 SKU、数量、库存和站台资源。如果只靠人工经验分配，遇到订单波动、站台资源变化、库存不足时，很难稳定判断哪种分配方式最好。所以项目希望把分拣过程数字化，再用算法给出站台分配方案，并通过仿真验证是否真的提升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讲背景和意义。左边可以理解为业务现场：订单、SKU、库存、站台互相影响。右边是技术落地：我们不是单独训练模型，而是要把模型放进一个完整系统里。这个项目对我的意义也比较大，因为学期开始时我不懂强化学习，也不懂数据库表怎么设计、数据集怎么清洗、前后端怎么联调，更不知道算法落地要怎么验证。这个项目把这些知识点串起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讲背景和意义。左边可以理解为业务现场：订单、SKU、库存、站台互相影响。右边是技术落地：我们不是单独训练模型，而是要把模型放进一个完整系统里。这个项目对我的意义也比较大，因为学期开始时我不懂强化学习，也不懂数据库表怎么设计、数据集怎么清洗、前后端怎么联调，更不知道算法落地要怎么验证。这个项目把这些知识点串起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来是问题描述。这个项目表面上是在问一个订单应该分到哪个站台，但实际包含很多约束：每个订单处理时间不同，站台数量有限，站台上同时挂载的订单和箱体也有限，库存还会决定有些订单能不能做。也就是说，它不是一个静态排序问题，而是一个动态资源分配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我把问题总结成三句话。第一，输入是订单、SKU 工时、库存快照和站台约束。第二，决策是把订单分配到站台，并确定哪些订单因为缺料要进入异常队列。第三，输出要能被后端接口、仿真程序和前端播放共同使用。这样定义以后，算法目标就更清楚了：不是追求某一步看起来最优，而是让整批订单的完工时间、等待时间和站台负载更合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第三部分讲研究内容。这个项目对我来说分成三条线：数据侧、算法侧和系统侧。数据侧是把历史 Excel、每日拣选、库存快照、SKU 平均工时整理成可用数据；算法侧是用 Maskable PPO 做订单到站台的调度，并用 SimPy 进行离散事件仿真；系统侧则是 FastAPI 后端、MySQL 数据库和 Vue + Three.js 前端。三条线都跑通，才算接近落地。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这一页是本学期完成内容的概括。数据侧，我理解并整理了订单波次、SKU 工时、库存快照等数据；算法侧，训练了 PPO 模型，调整了学习率、采样步数、奖励函数，并加入整批订单 makespan 的评价；系统侧，完成了后端启动、订单导入、库存预处理、仿真状态查询和前端 3D 播放。这里我想强调，项目难点不只在模型，而在模型前后的工程环节。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这一页是本学期完成内容的概括。数据侧，我理解并整理了订单波次、SKU 工时、库存快照等数据；算法侧，训练了 PPO 模型，调整了学习率、采样步数、奖励函数，并加入整批订单 makespan 的评价；系统侧，完成了后端启动、订单导入、库存预处理、仿真状态查询和前端 3D 播放。这里我想强调，项目难点不只在模型，而在模型前后的工程环节。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下面进入方法求解。技术路线可以概括为订单导入、SKU 工时重建、库存预处理、AI 调度、SimPy 仿真、前端 3D 播放。PPO 模型负责学习订单应该分到哪个站台；SimPy 不负责学习，而是负责把调度结果还原成一个可解释的时间线。这样做的好处是，模型输出不是黑箱结果，后面可以看到每个订单、每个 SKU、每个站台的处理过程。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什么选择强化学习？因为这里的决策有延迟影响。一个订单现在分到某个站台，可能会影响后面订单的排队和最终整批订单的完工时间。单纯轮询或随机策略不能利用订单耗时差异，简单贪心也容易只看眼前。PPO 可以通过环境反馈学习长期收益。项目里还用了动作掩码，避免选择不合法动作；奖励函数保留局部拥堵惩罚，同时加入整批 makespan 奖励，让模型更关注最终效率。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进入实验分析。我的验证分三类。第一类是模型筛选，在固定 2000 单测试集上评估不同 checkpoint，最后选择 1,520,000 steps 的模型作为正式模型。第二类是历史 15 天回放，对比 AI、轮询、随机以及历史回放。第三类是库存预处理验证，检验缺料异常队列和订单重排是否减少库存等待。这样验证可以避免只看训练曲线，而是回到业务效果上。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这一页放了关键验证结果。15 天验证中，AI 相比随机策略平均 makespan 提升约 30.7%，相比实际净工作时间平均提升约 58.8%；从站台工时效率看，AI 相比轮询提升约 24.0%，相比随机提升约 61.9%。另外，7 月 1 日库存预处理实验中，库存等待时间从 1460.5 秒降到 298.2 秒，下降约 79.6%。这些数字说明算法和预处理确实在减少无效等待。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一部分是总结与展望。这里我想把项目成果和个人成长放在一起讲。项目成果上，我们已经有数据导入、数据库、调度接口、仿真回放、前端展示和验证报告。个人成长上，我从不懂强化学习、不懂数据库和前后端，到现在能说清楚每个模块为什么存在、怎么连接、怎么验证效果。这个过程对我后续做更复杂的智能制造项目很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来说，这学期完成的是一个从数据到系统的闭环。它不是单纯的模型训练，而是把真实业务数据变成可调度的订单，把调度结果变成可仿真的事件，再把仿真结果变成前端可展示、可验证的过程。目前不足也很明确：真实业务日还可以继续扩充，异常订单的解释还可以更细，模型选择和仿真报告生成也可以进一步自动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这页作为补充说明我的学习收获。强化学习方面，我理解了环境、动作、奖励、训练步数、checkpoint 筛选这些概念；数据方面，我学习了 Excel 数据清洗、库存快照、SKU 平均工时和 MySQL 表结构；工程方面，我接触了 FastAPI、接口文档、前端轮询、Three.js 动画和项目部署注意事项。后续我希望继续把这些能力做得更稳定、更可复用。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我的汇报到这里结束。感谢老师这一学期的指导，也感谢组里同学在数据、接口和验证过程中的帮助。后面如果老师有问题，我可以从算法训练、数据处理、系统接口或者验证指标几个角度展开说明。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B2626-F4DB-4606-8A68-734448568D4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2626-F4DB-4606-8A68-734448568D42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D7EA8-DD4D-4172-A473-632620B18726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2626-F4DB-4606-8A68-734448568D42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文本框 31"/>
          <p:cNvSpPr>
            <a:spLocks noGrp="1"/>
          </p:cNvSpPr>
          <p:nvPr/>
        </p:nvSpPr>
        <p:spPr>
          <a:xfrm>
            <a:off x="1131227" y="1652137"/>
            <a:ext cx="9929546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Semester Report</a:t>
            </a:r>
            <a:endParaRPr sz="3200"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25000"/>
              </a:lnSpc>
              <a:buNone/>
            </a:pPr>
            <a:r>
              <a: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潍柴订单分拣智能调度项目学期汇报</a:t>
            </a:r>
            <a:endParaRPr sz="3200"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6106635"/>
            <a:ext cx="12192000" cy="751365"/>
          </a:xfrm>
          <a:custGeom>
            <a:avLst/>
            <a:gdLst/>
            <a:ahLst/>
            <a:cxnLst/>
            <a:rect l="l" t="t" r="r" b="b"/>
            <a:pathLst>
              <a:path w="9144000" h="374633">
                <a:moveTo>
                  <a:pt x="0" y="158633"/>
                </a:moveTo>
                <a:cubicBezTo>
                  <a:pt x="4165456" y="-109488"/>
                  <a:pt x="5852160" y="12329"/>
                  <a:pt x="9144000" y="158633"/>
                </a:cubicBezTo>
                <a:lnTo>
                  <a:pt x="9144000" y="374633"/>
                </a:lnTo>
                <a:lnTo>
                  <a:pt x="0" y="374633"/>
                </a:lnTo>
                <a:lnTo>
                  <a:pt x="0" y="158633"/>
                </a:lnTo>
                <a:close/>
              </a:path>
            </a:pathLst>
          </a:custGeom>
          <a:solidFill>
            <a:srgbClr val="306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0" y="1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39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9929" y="226764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40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107" y="247544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41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52601" y="92822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6" name="直线连接符 5"/>
          <p:cNvSpPr>
            <a:spLocks noGrp="1"/>
          </p:cNvSpPr>
          <p:nvPr/>
        </p:nvSpPr>
        <p:spPr>
          <a:xfrm>
            <a:off x="1334557" y="3525011"/>
            <a:ext cx="95456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文本框 4"/>
          <p:cNvSpPr>
            <a:spLocks noGrp="1"/>
          </p:cNvSpPr>
          <p:nvPr/>
        </p:nvSpPr>
        <p:spPr>
          <a:xfrm>
            <a:off x="7824193" y="3826303"/>
            <a:ext cx="3290153" cy="107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35"/>
              <a:t>汇报人：</a:t>
            </a:r>
            <a:r>
              <a:rPr lang="zh-CN" sz="2135"/>
              <a:t>王志豪</a:t>
            </a:r>
            <a:endParaRPr sz="2135"/>
          </a:p>
          <a:p>
            <a:r>
              <a:rPr sz="2135"/>
              <a:t>指导老师：</a:t>
            </a:r>
            <a:r>
              <a:rPr lang="zh-CN" sz="2135"/>
              <a:t>张利国</a:t>
            </a:r>
            <a:endParaRPr sz="2135"/>
          </a:p>
          <a:p>
            <a:r>
              <a:rPr sz="2135"/>
              <a:t>日期：2026.07</a:t>
            </a:r>
            <a:endParaRPr sz="213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38"/>
          <p:cNvSpPr>
            <a:spLocks noGrp="1"/>
          </p:cNvSpPr>
          <p:nvPr/>
        </p:nvSpPr>
        <p:spPr>
          <a:xfrm>
            <a:off x="4695372" y="1664175"/>
            <a:ext cx="2852864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  <a:endParaRPr sz="3735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11"/>
          <p:cNvSpPr>
            <a:spLocks noGrp="1"/>
          </p:cNvSpPr>
          <p:nvPr/>
        </p:nvSpPr>
        <p:spPr>
          <a:xfrm>
            <a:off x="5418257" y="1016463"/>
            <a:ext cx="1422612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265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2168" y="-32397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8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097" y="194367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69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5275" y="215147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70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74769" y="60425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47" name="直线连接符 46"/>
          <p:cNvSpPr>
            <a:spLocks noGrp="1"/>
          </p:cNvSpPr>
          <p:nvPr/>
        </p:nvSpPr>
        <p:spPr>
          <a:xfrm>
            <a:off x="6129586" y="2417045"/>
            <a:ext cx="1" cy="39827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53" name="直线连接符 52"/>
          <p:cNvSpPr>
            <a:spLocks noGrp="1"/>
          </p:cNvSpPr>
          <p:nvPr/>
        </p:nvSpPr>
        <p:spPr>
          <a:xfrm flipH="1">
            <a:off x="5799337" y="30397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0" name="文本框 18"/>
          <p:cNvSpPr>
            <a:spLocks noGrp="1"/>
          </p:cNvSpPr>
          <p:nvPr/>
        </p:nvSpPr>
        <p:spPr>
          <a:xfrm>
            <a:off x="2750457" y="2770406"/>
            <a:ext cx="3078293" cy="47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Part1 研究背景</a:t>
            </a:r>
            <a:endParaRPr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直线连接符 55"/>
          <p:cNvSpPr>
            <a:spLocks noGrp="1"/>
          </p:cNvSpPr>
          <p:nvPr/>
        </p:nvSpPr>
        <p:spPr>
          <a:xfrm flipH="1">
            <a:off x="6121802" y="3567872"/>
            <a:ext cx="44588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61" name="文本框 18"/>
          <p:cNvSpPr>
            <a:spLocks noGrp="1"/>
          </p:cNvSpPr>
          <p:nvPr/>
        </p:nvSpPr>
        <p:spPr>
          <a:xfrm>
            <a:off x="6567681" y="3309170"/>
            <a:ext cx="2354042" cy="4750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问题描述 Part2</a:t>
            </a:r>
            <a:endParaRPr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线连接符 52"/>
          <p:cNvSpPr>
            <a:spLocks noGrp="1"/>
          </p:cNvSpPr>
          <p:nvPr/>
        </p:nvSpPr>
        <p:spPr>
          <a:xfrm flipH="1">
            <a:off x="5765775" y="41099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7" name="文本框 18"/>
          <p:cNvSpPr>
            <a:spLocks noGrp="1"/>
          </p:cNvSpPr>
          <p:nvPr/>
        </p:nvSpPr>
        <p:spPr>
          <a:xfrm>
            <a:off x="2716895" y="3840606"/>
            <a:ext cx="3078293" cy="4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Part3 研究</a:t>
            </a:r>
            <a:r>
              <a:rPr lang="zh-CN"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zh-CN"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线连接符 55"/>
          <p:cNvSpPr>
            <a:spLocks noGrp="1"/>
          </p:cNvSpPr>
          <p:nvPr/>
        </p:nvSpPr>
        <p:spPr>
          <a:xfrm flipH="1">
            <a:off x="6121802" y="4618408"/>
            <a:ext cx="44588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3" name="文本框 18"/>
          <p:cNvSpPr>
            <a:spLocks noGrp="1"/>
          </p:cNvSpPr>
          <p:nvPr/>
        </p:nvSpPr>
        <p:spPr>
          <a:xfrm>
            <a:off x="6567681" y="4359706"/>
            <a:ext cx="2354040" cy="4750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方法求解 Part4</a:t>
            </a:r>
            <a:endParaRPr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直线连接符 52"/>
          <p:cNvSpPr>
            <a:spLocks noGrp="1"/>
          </p:cNvSpPr>
          <p:nvPr/>
        </p:nvSpPr>
        <p:spPr>
          <a:xfrm flipH="1">
            <a:off x="5765775" y="5180162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4" name="文本框 18"/>
          <p:cNvSpPr>
            <a:spLocks noGrp="1"/>
          </p:cNvSpPr>
          <p:nvPr/>
        </p:nvSpPr>
        <p:spPr>
          <a:xfrm>
            <a:off x="2514608" y="4910803"/>
            <a:ext cx="3280580" cy="475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Part5 实验分析</a:t>
            </a:r>
            <a:endParaRPr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直线连接符 55"/>
          <p:cNvSpPr>
            <a:spLocks noGrp="1"/>
          </p:cNvSpPr>
          <p:nvPr/>
        </p:nvSpPr>
        <p:spPr>
          <a:xfrm flipH="1">
            <a:off x="6129565" y="5668943"/>
            <a:ext cx="44588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7" name="文本框 18"/>
          <p:cNvSpPr>
            <a:spLocks noGrp="1"/>
          </p:cNvSpPr>
          <p:nvPr/>
        </p:nvSpPr>
        <p:spPr>
          <a:xfrm>
            <a:off x="6575445" y="5410241"/>
            <a:ext cx="2320379" cy="4750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 Part6</a:t>
            </a:r>
            <a:endParaRPr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38"/>
          <p:cNvSpPr>
            <a:spLocks noGrp="1"/>
          </p:cNvSpPr>
          <p:nvPr/>
        </p:nvSpPr>
        <p:spPr>
          <a:xfrm>
            <a:off x="4695372" y="1664175"/>
            <a:ext cx="2852864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  <a:endParaRPr sz="3735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11"/>
          <p:cNvSpPr>
            <a:spLocks noGrp="1"/>
          </p:cNvSpPr>
          <p:nvPr/>
        </p:nvSpPr>
        <p:spPr>
          <a:xfrm>
            <a:off x="5418257" y="1016463"/>
            <a:ext cx="1422612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265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2168" y="-32397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0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097" y="194367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61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5275" y="215147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62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74769" y="60425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47" name="直线连接符 46"/>
          <p:cNvSpPr>
            <a:spLocks noGrp="1"/>
          </p:cNvSpPr>
          <p:nvPr/>
        </p:nvSpPr>
        <p:spPr>
          <a:xfrm>
            <a:off x="6129586" y="2417045"/>
            <a:ext cx="1" cy="39827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53" name="直线连接符 52"/>
          <p:cNvSpPr>
            <a:spLocks noGrp="1"/>
          </p:cNvSpPr>
          <p:nvPr/>
        </p:nvSpPr>
        <p:spPr>
          <a:xfrm flipH="1">
            <a:off x="5799337" y="30397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0" name="文本框 18"/>
          <p:cNvSpPr>
            <a:spLocks noGrp="1"/>
          </p:cNvSpPr>
          <p:nvPr/>
        </p:nvSpPr>
        <p:spPr>
          <a:xfrm>
            <a:off x="2750457" y="2770406"/>
            <a:ext cx="3078293" cy="47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Part1 研究背景</a:t>
            </a:r>
            <a:endParaRPr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矩形 40"/>
          <p:cNvSpPr>
            <a:spLocks noGrp="1"/>
          </p:cNvSpPr>
          <p:nvPr/>
        </p:nvSpPr>
        <p:spPr>
          <a:xfrm>
            <a:off x="-22789" y="-25744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8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097" y="194367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49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5275" y="215147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50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74769" y="60425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2" name="矩形: 圆角 1"/>
          <p:cNvSpPr>
            <a:spLocks noGrp="1"/>
          </p:cNvSpPr>
          <p:nvPr/>
        </p:nvSpPr>
        <p:spPr>
          <a:xfrm>
            <a:off x="94343" y="1043602"/>
            <a:ext cx="1890867" cy="3411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5810250"/>
            <a:ext cx="10572750" cy="50673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研究意义：将经验分配转化为可仿真、可验证、可接口化调用的调度能力，降低站台拥堵和库存等待。</a:t>
            </a:r>
            <a:endParaRPr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83945" y="1827530"/>
            <a:ext cx="9989820" cy="3861435"/>
          </a:xfrm>
          <a:prstGeom prst="rect">
            <a:avLst/>
          </a:prstGeom>
        </p:spPr>
        <p:txBody>
          <a:bodyPr wrap="square">
            <a:spAutoFit/>
          </a:bodyPr>
          <a:p>
            <a:pPr algn="l" eaLnBrk="1" fontAlgn="auto" latinLnBrk="0" hangingPunct="1">
              <a:lnSpc>
                <a:spcPct val="150000"/>
              </a:lnSpc>
              <a:spcAft>
                <a:spcPts val="600"/>
              </a:spcAft>
              <a:buClrTx/>
              <a:buSzTx/>
              <a:buFontTx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随着制造企业订单类型和生产节奏不断变化，仓储与分拣环节面临越来越明显的动态调度压力。以潍柴订单分拣场景为例，订单通常包含多个 SKU、不同数量和不同处理时间，分拣站台数量有限，且现场还受到库存状态、站台负载、排队等待、物料搬运距离等因素影响。传统依赖人工经验或固定规则的分配方式，在订单波动较大、物料结构复杂、资源状态实时变化的情况下，容易出现站台忙闲不均、局部拥堵、订单等待时间较长、整体完工效率不稳定等问题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eaLnBrk="1" fontAlgn="auto" latinLnBrk="0" hangingPunct="1">
              <a:lnSpc>
                <a:spcPct val="150000"/>
              </a:lnSpc>
              <a:spcAft>
                <a:spcPts val="600"/>
              </a:spcAft>
              <a:buClrTx/>
              <a:buSzTx/>
              <a:buFontTx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因此，如何将订单、SKU 工时、库存快照、站台资源等业务数据转化为可计算、可仿真、可验证的调度模型，成为提升分拣效率的重要问题。本项目围绕潍柴订单分拣业务，研究基于强化学习的智能调度方法，并结合离散事件仿真、数据库管理、后端服务和前端可视化，构建订单分拣智能调度与数字孪生仿真系统。项目旨在通过智能算法实现订单到站台的合理分配，减少站台拥堵和库存等待，提高订单分拣效率，并为实际业务场景中的调度优化和系统落地提供可验证的技术路径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矩形 40"/>
          <p:cNvSpPr>
            <a:spLocks noGrp="1"/>
          </p:cNvSpPr>
          <p:nvPr/>
        </p:nvSpPr>
        <p:spPr>
          <a:xfrm>
            <a:off x="-22789" y="-25744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8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097" y="194367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49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5275" y="215147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50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74769" y="60425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2" name="矩形: 圆角 1"/>
          <p:cNvSpPr>
            <a:spLocks noGrp="1"/>
          </p:cNvSpPr>
          <p:nvPr/>
        </p:nvSpPr>
        <p:spPr>
          <a:xfrm>
            <a:off x="94343" y="1043602"/>
            <a:ext cx="1890867" cy="3411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613535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2400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我本学期的学习任务本身就是项目落地的一部分</a:t>
            </a:r>
            <a:endParaRPr sz="2400" b="1">
              <a:solidFill>
                <a:srgbClr val="0E4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070735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0">
                <a:solidFill>
                  <a:srgbClr val="5B5B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5B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从基础概念补齐，到能解释每个模块为什么存在、怎样验证。</a:t>
            </a:r>
            <a:endParaRPr sz="1200" b="0">
              <a:solidFill>
                <a:srgbClr val="5B5B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543175"/>
            <a:ext cx="3095625" cy="1162050"/>
          </a:xfrm>
          <a:prstGeom prst="rect">
            <a:avLst/>
          </a:prstGeom>
          <a:solidFill>
            <a:srgbClr val="F3F7FA"/>
          </a:solidFill>
          <a:ln w="9525">
            <a:solidFill>
              <a:srgbClr val="D6E1E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2638425"/>
            <a:ext cx="2828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强化学习</a:t>
            </a:r>
            <a:endParaRPr sz="1600" b="1">
              <a:solidFill>
                <a:srgbClr val="0E4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2943225"/>
            <a:ext cx="28289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环境、动作、奖励、PPO、动作掩码、checkpoint 选择</a:t>
            </a:r>
            <a:endParaRPr sz="1600" b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67200" y="2543175"/>
            <a:ext cx="3095625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A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400550" y="2638425"/>
            <a:ext cx="2828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数据与数据库</a:t>
            </a:r>
            <a:endParaRPr sz="1600" b="1">
              <a:solidFill>
                <a:srgbClr val="0E4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943225"/>
            <a:ext cx="28289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 清洗、SKU 工时、库存快照、MySQL 表结构</a:t>
            </a:r>
            <a:endParaRPr sz="1600" b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791450" y="2543175"/>
            <a:ext cx="3095625" cy="1162050"/>
          </a:xfrm>
          <a:prstGeom prst="rect">
            <a:avLst/>
          </a:prstGeom>
          <a:solidFill>
            <a:srgbClr val="F3F7FA"/>
          </a:solidFill>
          <a:ln w="9525">
            <a:solidFill>
              <a:srgbClr val="D6E1E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24800" y="2638425"/>
            <a:ext cx="2828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后端服务</a:t>
            </a:r>
            <a:endParaRPr sz="1600" b="1">
              <a:solidFill>
                <a:srgbClr val="0E4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24800" y="2943225"/>
            <a:ext cx="28289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 接口、订单导入、仿真任务、状态轮询</a:t>
            </a:r>
            <a:endParaRPr sz="1600" b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2950" y="4114800"/>
            <a:ext cx="3095625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4210050"/>
            <a:ext cx="2828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前端展示</a:t>
            </a:r>
            <a:endParaRPr sz="1600" b="1">
              <a:solidFill>
                <a:srgbClr val="0E4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6300" y="4514850"/>
            <a:ext cx="28289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+ Three.js 的订单进度、站台状态和3D动画</a:t>
            </a:r>
            <a:endParaRPr sz="1600" b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267200" y="4114800"/>
            <a:ext cx="3095625" cy="1162050"/>
          </a:xfrm>
          <a:prstGeom prst="rect">
            <a:avLst/>
          </a:prstGeom>
          <a:solidFill>
            <a:srgbClr val="F3F7FA"/>
          </a:solidFill>
          <a:ln w="9525">
            <a:solidFill>
              <a:srgbClr val="D6E1E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400550" y="4210050"/>
            <a:ext cx="2828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E4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落地验证</a:t>
            </a:r>
            <a:endParaRPr sz="1600" b="1">
              <a:solidFill>
                <a:srgbClr val="0E4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514850"/>
            <a:ext cx="28289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历史回放、库存等待、站台工时效率等业务指标</a:t>
            </a:r>
            <a:endParaRPr sz="1600" b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791450" y="4095750"/>
            <a:ext cx="2952750" cy="1162050"/>
          </a:xfrm>
          <a:prstGeom prst="rect">
            <a:avLst/>
          </a:prstGeom>
          <a:solidFill>
            <a:srgbClr val="FFF1F1"/>
          </a:solidFill>
          <a:ln w="9525">
            <a:solidFill>
              <a:srgbClr val="D6E1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762240" y="4177665"/>
            <a:ext cx="2686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汇报重点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753350" y="4448175"/>
            <a:ext cx="2686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项目做了什么。</a:t>
            </a:r>
            <a:endParaRPr sz="1600" b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38"/>
          <p:cNvSpPr>
            <a:spLocks noGrp="1"/>
          </p:cNvSpPr>
          <p:nvPr/>
        </p:nvSpPr>
        <p:spPr>
          <a:xfrm>
            <a:off x="4695372" y="1664175"/>
            <a:ext cx="2852864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  <a:endParaRPr sz="3735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11"/>
          <p:cNvSpPr>
            <a:spLocks noGrp="1"/>
          </p:cNvSpPr>
          <p:nvPr/>
        </p:nvSpPr>
        <p:spPr>
          <a:xfrm>
            <a:off x="5418257" y="1016463"/>
            <a:ext cx="1422612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265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2168" y="-32397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0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097" y="194367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61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5275" y="215147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62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74769" y="60425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47" name="直线连接符 46"/>
          <p:cNvSpPr>
            <a:spLocks noGrp="1"/>
          </p:cNvSpPr>
          <p:nvPr/>
        </p:nvSpPr>
        <p:spPr>
          <a:xfrm>
            <a:off x="6129586" y="2417045"/>
            <a:ext cx="1" cy="39827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53" name="直线连接符 52"/>
          <p:cNvSpPr>
            <a:spLocks noGrp="1"/>
          </p:cNvSpPr>
          <p:nvPr/>
        </p:nvSpPr>
        <p:spPr>
          <a:xfrm flipH="1">
            <a:off x="5799337" y="30397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0" name="文本框 18"/>
          <p:cNvSpPr>
            <a:spLocks noGrp="1"/>
          </p:cNvSpPr>
          <p:nvPr/>
        </p:nvSpPr>
        <p:spPr>
          <a:xfrm>
            <a:off x="2750457" y="2770406"/>
            <a:ext cx="3078293" cy="47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Part1 研究背景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线连接符 55"/>
          <p:cNvSpPr>
            <a:spLocks noGrp="1"/>
          </p:cNvSpPr>
          <p:nvPr/>
        </p:nvSpPr>
        <p:spPr>
          <a:xfrm flipH="1">
            <a:off x="6121802" y="3567872"/>
            <a:ext cx="44588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5" name="文本框 18"/>
          <p:cNvSpPr>
            <a:spLocks noGrp="1"/>
          </p:cNvSpPr>
          <p:nvPr/>
        </p:nvSpPr>
        <p:spPr>
          <a:xfrm>
            <a:off x="6567681" y="3309170"/>
            <a:ext cx="2354042" cy="4750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问题描述 Part2</a:t>
            </a:r>
            <a:endParaRPr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矩形 40"/>
          <p:cNvSpPr>
            <a:spLocks noGrp="1"/>
          </p:cNvSpPr>
          <p:nvPr/>
        </p:nvSpPr>
        <p:spPr>
          <a:xfrm>
            <a:off x="-22789" y="-25744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6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097" y="194367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47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5275" y="215147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48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74769" y="60425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2" name="矩形: 圆角 1"/>
          <p:cNvSpPr>
            <a:spLocks noGrp="1"/>
          </p:cNvSpPr>
          <p:nvPr/>
        </p:nvSpPr>
        <p:spPr>
          <a:xfrm>
            <a:off x="324849" y="1089957"/>
            <a:ext cx="1299028" cy="32799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问题描述</a:t>
            </a:r>
            <a:endParaRPr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2110105" y="2468880"/>
            <a:ext cx="10470515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要解决的不是单一算法题，而是带约束的生产调度问题。</a:t>
            </a:r>
            <a:endParaRPr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订单包含 SKU、数量和处理时间；站台数量有限，存在排队与拥堵。</a:t>
            </a:r>
            <a:endParaRPr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库存快照决定订单是否可执行，缺料订单需要进入异常队列。</a:t>
            </a:r>
            <a:endParaRPr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目标是在业务约束下，让分配更均衡、完工时间更短、系统运行更稳定。</a:t>
            </a:r>
            <a:endParaRPr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7070" y="2710180"/>
            <a:ext cx="2595245" cy="41478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57475" y="2533650"/>
            <a:ext cx="8975090" cy="432371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687070" y="3871595"/>
            <a:ext cx="2097405" cy="2327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fontAlgn="auto">
              <a:lnSpc>
                <a:spcPct val="120000"/>
              </a:lnSpc>
              <a:buClr>
                <a:srgbClr val="1F497D"/>
              </a:buClr>
              <a:buFont typeface="Wingdings" panose="05000000000000000000" charset="0"/>
              <a:buChar char="n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在给定工作时长内如何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优化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需启用的最少站台？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fontAlgn="auto">
              <a:lnSpc>
                <a:spcPct val="120000"/>
              </a:lnSpc>
              <a:buClr>
                <a:srgbClr val="1F497D"/>
              </a:buClr>
              <a:buFont typeface="Wingdings" panose="05000000000000000000" charset="0"/>
              <a:buChar char="n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在给定站台情况下如何将订单分配到不同站台？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fontAlgn="auto">
              <a:lnSpc>
                <a:spcPct val="120000"/>
              </a:lnSpc>
              <a:buClr>
                <a:srgbClr val="1F497D"/>
              </a:buClr>
              <a:buFont typeface="Wingdings" panose="05000000000000000000" charset="0"/>
              <a:buChar char="n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在每个站台如何优化订单处理顺序？</a:t>
            </a:r>
            <a:endParaRPr lang="zh-CN" altLang="en-US" sz="1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6435" y="1535430"/>
            <a:ext cx="10945495" cy="13239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just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订单分拣调度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 hangingPunct="0">
              <a:lnSpc>
                <a:spcPct val="120000"/>
              </a:lnSpc>
              <a:buClr>
                <a:srgbClr val="1F497D"/>
              </a:buClr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生产系统下发一批需在当日完成的订单，每个订单包含多种零件拣选需求。仓库调度对应物料箱通过传送带送至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个站台之一，工人完成拣选后物料箱立即返回仓库。站台缓冲区最多可存放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个物料箱，且一次只能处理一个订单，物料箱到达节奏与站台订单分配将直接影响整体工作效率。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7070" y="2806065"/>
            <a:ext cx="2139315" cy="130937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285750" indent="-285750" algn="just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优化问题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在给定工作时长中，对订单分拣过程进行整体优化决策。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 descr="图示, 示意图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475" y="2710180"/>
            <a:ext cx="8800465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38"/>
          <p:cNvSpPr>
            <a:spLocks noGrp="1"/>
          </p:cNvSpPr>
          <p:nvPr/>
        </p:nvSpPr>
        <p:spPr>
          <a:xfrm>
            <a:off x="4695372" y="1664175"/>
            <a:ext cx="2852864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  <a:endParaRPr sz="3735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11"/>
          <p:cNvSpPr>
            <a:spLocks noGrp="1"/>
          </p:cNvSpPr>
          <p:nvPr/>
        </p:nvSpPr>
        <p:spPr>
          <a:xfrm>
            <a:off x="5418257" y="1016463"/>
            <a:ext cx="1422612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265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2168" y="-32397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8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097" y="194367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69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5275" y="215147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70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74769" y="60425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47" name="直线连接符 46"/>
          <p:cNvSpPr>
            <a:spLocks noGrp="1"/>
          </p:cNvSpPr>
          <p:nvPr/>
        </p:nvSpPr>
        <p:spPr>
          <a:xfrm>
            <a:off x="6129586" y="2417045"/>
            <a:ext cx="1" cy="39827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53" name="直线连接符 52"/>
          <p:cNvSpPr>
            <a:spLocks noGrp="1"/>
          </p:cNvSpPr>
          <p:nvPr/>
        </p:nvSpPr>
        <p:spPr>
          <a:xfrm flipH="1">
            <a:off x="5799337" y="30397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0" name="文本框 18"/>
          <p:cNvSpPr>
            <a:spLocks noGrp="1"/>
          </p:cNvSpPr>
          <p:nvPr/>
        </p:nvSpPr>
        <p:spPr>
          <a:xfrm>
            <a:off x="2750457" y="2770406"/>
            <a:ext cx="3078293" cy="47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Part1 研究背景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直线连接符 55"/>
          <p:cNvSpPr>
            <a:spLocks noGrp="1"/>
          </p:cNvSpPr>
          <p:nvPr/>
        </p:nvSpPr>
        <p:spPr>
          <a:xfrm flipH="1">
            <a:off x="6121804" y="3567870"/>
            <a:ext cx="44588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61" name="文本框 18"/>
          <p:cNvSpPr>
            <a:spLocks noGrp="1"/>
          </p:cNvSpPr>
          <p:nvPr/>
        </p:nvSpPr>
        <p:spPr>
          <a:xfrm>
            <a:off x="6567683" y="3309167"/>
            <a:ext cx="2354041" cy="475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问题描述 Part2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线连接符 52"/>
          <p:cNvSpPr>
            <a:spLocks noGrp="1"/>
          </p:cNvSpPr>
          <p:nvPr/>
        </p:nvSpPr>
        <p:spPr>
          <a:xfrm flipH="1">
            <a:off x="5765775" y="41099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7" name="文本框 18"/>
          <p:cNvSpPr>
            <a:spLocks noGrp="1"/>
          </p:cNvSpPr>
          <p:nvPr/>
        </p:nvSpPr>
        <p:spPr>
          <a:xfrm>
            <a:off x="2716895" y="3840606"/>
            <a:ext cx="3078293" cy="4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Part3 研究</a:t>
            </a:r>
            <a:r>
              <a:rPr lang="zh-CN"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zh-CN"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0" y="-7282"/>
            <a:ext cx="12214789" cy="998163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9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0432" y="219481"/>
            <a:ext cx="1876957" cy="599293"/>
          </a:xfrm>
          <a:prstGeom prst="rect">
            <a:avLst/>
          </a:prstGeom>
          <a:ln>
            <a:noFill/>
          </a:ln>
        </p:spPr>
      </p:pic>
      <p:pic>
        <p:nvPicPr>
          <p:cNvPr id="30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610" y="240261"/>
            <a:ext cx="758666" cy="599294"/>
          </a:xfrm>
          <a:prstGeom prst="rect">
            <a:avLst/>
          </a:prstGeom>
          <a:ln>
            <a:noFill/>
          </a:ln>
        </p:spPr>
      </p:pic>
      <p:pic>
        <p:nvPicPr>
          <p:cNvPr id="31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53103" y="85538"/>
            <a:ext cx="3350801" cy="922267"/>
          </a:xfrm>
          <a:prstGeom prst="rect">
            <a:avLst/>
          </a:prstGeom>
          <a:ln>
            <a:noFill/>
          </a:ln>
        </p:spPr>
      </p:pic>
      <p:sp>
        <p:nvSpPr>
          <p:cNvPr id="13" name="矩形: 圆角 12"/>
          <p:cNvSpPr>
            <a:spLocks noGrp="1"/>
          </p:cNvSpPr>
          <p:nvPr/>
        </p:nvSpPr>
        <p:spPr>
          <a:xfrm>
            <a:off x="94344" y="1072631"/>
            <a:ext cx="1502227" cy="33525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</a:t>
            </a:r>
            <a:r>
              <a:rPr 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055" y="1489710"/>
            <a:ext cx="9025255" cy="4918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0" y="-7282"/>
            <a:ext cx="12214789" cy="998163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9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0432" y="219481"/>
            <a:ext cx="1876957" cy="599293"/>
          </a:xfrm>
          <a:prstGeom prst="rect">
            <a:avLst/>
          </a:prstGeom>
          <a:ln>
            <a:noFill/>
          </a:ln>
        </p:spPr>
      </p:pic>
      <p:pic>
        <p:nvPicPr>
          <p:cNvPr id="30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610" y="240261"/>
            <a:ext cx="758666" cy="599294"/>
          </a:xfrm>
          <a:prstGeom prst="rect">
            <a:avLst/>
          </a:prstGeom>
          <a:ln>
            <a:noFill/>
          </a:ln>
        </p:spPr>
      </p:pic>
      <p:pic>
        <p:nvPicPr>
          <p:cNvPr id="31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53103" y="85538"/>
            <a:ext cx="3350801" cy="922267"/>
          </a:xfrm>
          <a:prstGeom prst="rect">
            <a:avLst/>
          </a:prstGeom>
          <a:ln>
            <a:noFill/>
          </a:ln>
        </p:spPr>
      </p:pic>
      <p:sp>
        <p:nvSpPr>
          <p:cNvPr id="6" name="文本框 5"/>
          <p:cNvSpPr>
            <a:spLocks noGrp="1"/>
          </p:cNvSpPr>
          <p:nvPr/>
        </p:nvSpPr>
        <p:spPr>
          <a:xfrm>
            <a:off x="94615" y="1661795"/>
            <a:ext cx="3690620" cy="3904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6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数据侧：Excel 拣选记录、SKU 标准工时、库存快照、订单波次入库</a:t>
            </a:r>
            <a:endParaRPr sz="16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Char char="•"/>
            </a:pPr>
            <a:endParaRPr sz="16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算法侧：Maskable PPO 强化学习调度，结合 SimPy 离散事件仿真</a:t>
            </a:r>
            <a:endParaRPr sz="16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Char char="•"/>
            </a:pPr>
            <a:endParaRPr sz="16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系统侧：FastAPI 后端、MySQL 数据库、Vue + Three.js 前端可视化</a:t>
            </a:r>
            <a:endParaRPr sz="16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94344" y="1072631"/>
            <a:ext cx="1502227" cy="33525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</a:t>
            </a:r>
            <a:r>
              <a:rPr 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986155" y="6096635"/>
            <a:ext cx="105797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重点不只是训练模型，而是把“模型能不能用”拆成数据准备、规则约束、接口联调和效率验证四个环节。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235" y="1070610"/>
            <a:ext cx="8100695" cy="49637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38"/>
          <p:cNvSpPr>
            <a:spLocks noGrp="1"/>
          </p:cNvSpPr>
          <p:nvPr/>
        </p:nvSpPr>
        <p:spPr>
          <a:xfrm>
            <a:off x="4695372" y="1664175"/>
            <a:ext cx="2852864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  <a:endParaRPr sz="3735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11"/>
          <p:cNvSpPr>
            <a:spLocks noGrp="1"/>
          </p:cNvSpPr>
          <p:nvPr/>
        </p:nvSpPr>
        <p:spPr>
          <a:xfrm>
            <a:off x="5418257" y="1016463"/>
            <a:ext cx="1422612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265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2168" y="-32397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8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097" y="194367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69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5275" y="215147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70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74769" y="60425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47" name="直线连接符 46"/>
          <p:cNvSpPr>
            <a:spLocks noGrp="1"/>
          </p:cNvSpPr>
          <p:nvPr/>
        </p:nvSpPr>
        <p:spPr>
          <a:xfrm>
            <a:off x="6129586" y="2417045"/>
            <a:ext cx="1" cy="39827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53" name="直线连接符 52"/>
          <p:cNvSpPr>
            <a:spLocks noGrp="1"/>
          </p:cNvSpPr>
          <p:nvPr/>
        </p:nvSpPr>
        <p:spPr>
          <a:xfrm flipH="1">
            <a:off x="5799337" y="30397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0" name="文本框 18"/>
          <p:cNvSpPr>
            <a:spLocks noGrp="1"/>
          </p:cNvSpPr>
          <p:nvPr/>
        </p:nvSpPr>
        <p:spPr>
          <a:xfrm>
            <a:off x="2750457" y="2770406"/>
            <a:ext cx="3078293" cy="47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Part1 研究背景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直线连接符 55"/>
          <p:cNvSpPr>
            <a:spLocks noGrp="1"/>
          </p:cNvSpPr>
          <p:nvPr/>
        </p:nvSpPr>
        <p:spPr>
          <a:xfrm flipH="1">
            <a:off x="6121804" y="3567870"/>
            <a:ext cx="44588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61" name="文本框 18"/>
          <p:cNvSpPr>
            <a:spLocks noGrp="1"/>
          </p:cNvSpPr>
          <p:nvPr/>
        </p:nvSpPr>
        <p:spPr>
          <a:xfrm>
            <a:off x="6567683" y="3309167"/>
            <a:ext cx="2354041" cy="475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问题描述 Part2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线连接符 52"/>
          <p:cNvSpPr>
            <a:spLocks noGrp="1"/>
          </p:cNvSpPr>
          <p:nvPr/>
        </p:nvSpPr>
        <p:spPr>
          <a:xfrm flipH="1">
            <a:off x="5765775" y="41099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7" name="文本框 18"/>
          <p:cNvSpPr>
            <a:spLocks noGrp="1"/>
          </p:cNvSpPr>
          <p:nvPr/>
        </p:nvSpPr>
        <p:spPr>
          <a:xfrm>
            <a:off x="2716895" y="3840606"/>
            <a:ext cx="3078293" cy="4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Part3 研究</a:t>
            </a:r>
            <a:r>
              <a:rPr lang="zh-CN"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zh-CN"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线连接符 55"/>
          <p:cNvSpPr>
            <a:spLocks noGrp="1"/>
          </p:cNvSpPr>
          <p:nvPr/>
        </p:nvSpPr>
        <p:spPr>
          <a:xfrm flipH="1">
            <a:off x="6121808" y="4618406"/>
            <a:ext cx="47477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3" name="文本框 18"/>
          <p:cNvSpPr>
            <a:spLocks noGrp="1"/>
          </p:cNvSpPr>
          <p:nvPr/>
        </p:nvSpPr>
        <p:spPr>
          <a:xfrm>
            <a:off x="6596586" y="4359703"/>
            <a:ext cx="2405900" cy="475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方法求解 Part4</a:t>
            </a:r>
            <a:endParaRPr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0" y="-7282"/>
            <a:ext cx="12214789" cy="998163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31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0432" y="219481"/>
            <a:ext cx="1876957" cy="599293"/>
          </a:xfrm>
          <a:prstGeom prst="rect">
            <a:avLst/>
          </a:prstGeom>
          <a:ln>
            <a:noFill/>
          </a:ln>
        </p:spPr>
      </p:pic>
      <p:pic>
        <p:nvPicPr>
          <p:cNvPr id="32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610" y="240261"/>
            <a:ext cx="758666" cy="599294"/>
          </a:xfrm>
          <a:prstGeom prst="rect">
            <a:avLst/>
          </a:prstGeom>
          <a:ln>
            <a:noFill/>
          </a:ln>
        </p:spPr>
      </p:pic>
      <p:pic>
        <p:nvPicPr>
          <p:cNvPr id="33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53103" y="85538"/>
            <a:ext cx="3350801" cy="922267"/>
          </a:xfrm>
          <a:prstGeom prst="rect">
            <a:avLst/>
          </a:prstGeom>
          <a:ln>
            <a:noFill/>
          </a:ln>
        </p:spPr>
      </p:pic>
      <p:sp>
        <p:nvSpPr>
          <p:cNvPr id="13" name="矩形: 圆角 12"/>
          <p:cNvSpPr>
            <a:spLocks noGrp="1"/>
          </p:cNvSpPr>
          <p:nvPr/>
        </p:nvSpPr>
        <p:spPr>
          <a:xfrm>
            <a:off x="94344" y="1072631"/>
            <a:ext cx="1502227" cy="33525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方法求解</a:t>
            </a:r>
            <a:endParaRPr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te-main-copy"/>
          <p:cNvSpPr>
            <a:spLocks noGrp="1"/>
          </p:cNvSpPr>
          <p:nvPr/>
        </p:nvSpPr>
        <p:spPr>
          <a:xfrm>
            <a:off x="952500" y="1695450"/>
            <a:ext cx="4953000" cy="24371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技术路线：</a:t>
            </a:r>
            <a:endParaRPr sz="1650" b="0">
              <a:solidFill>
                <a:srgbClr val="202020"/>
              </a:solidFill>
            </a:endParaRPr>
          </a:p>
          <a:p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订单导入 -&gt; SKU 工时重建 -&gt; 库存预处理</a:t>
            </a:r>
            <a:endParaRPr sz="1650" b="0">
              <a:solidFill>
                <a:srgbClr val="202020"/>
              </a:solidFill>
            </a:endParaRPr>
          </a:p>
          <a:p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AI 调度 -&gt; SimPy 仿真 -&gt; 前端 3D 播放</a:t>
            </a:r>
            <a:endParaRPr sz="1650" b="0">
              <a:solidFill>
                <a:srgbClr val="202020"/>
              </a:solidFill>
            </a:endParaRPr>
          </a:p>
          <a:p>
            <a:endParaRPr sz="1650"/>
          </a:p>
          <a:p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方法选择：</a:t>
            </a:r>
            <a:endParaRPr sz="1650" b="0">
              <a:solidFill>
                <a:srgbClr val="202020"/>
              </a:solidFill>
            </a:endParaRPr>
          </a:p>
          <a:p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PPO 学习订单到站台的长期收益；</a:t>
            </a:r>
            <a:endParaRPr sz="1650" b="0">
              <a:solidFill>
                <a:srgbClr val="202020"/>
              </a:solidFill>
            </a:endParaRPr>
          </a:p>
          <a:p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动作掩码避免非法分配；</a:t>
            </a:r>
            <a:endParaRPr sz="1650" b="0">
              <a:solidFill>
                <a:srgbClr val="202020"/>
              </a:solidFill>
            </a:endParaRPr>
          </a:p>
          <a:p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整批 makespan 奖励约束最终效率。</a:t>
            </a:r>
            <a:endParaRPr sz="165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38"/>
          <p:cNvSpPr>
            <a:spLocks noGrp="1"/>
          </p:cNvSpPr>
          <p:nvPr/>
        </p:nvSpPr>
        <p:spPr>
          <a:xfrm>
            <a:off x="4695372" y="1664175"/>
            <a:ext cx="2852864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  <a:endParaRPr sz="3735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11"/>
          <p:cNvSpPr>
            <a:spLocks noGrp="1"/>
          </p:cNvSpPr>
          <p:nvPr/>
        </p:nvSpPr>
        <p:spPr>
          <a:xfrm>
            <a:off x="5418257" y="1016463"/>
            <a:ext cx="1422612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265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2168" y="-32397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8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097" y="194367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69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5275" y="215147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70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74769" y="60425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47" name="直线连接符 46"/>
          <p:cNvSpPr>
            <a:spLocks noGrp="1"/>
          </p:cNvSpPr>
          <p:nvPr/>
        </p:nvSpPr>
        <p:spPr>
          <a:xfrm>
            <a:off x="6129586" y="2417045"/>
            <a:ext cx="1" cy="39827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53" name="直线连接符 52"/>
          <p:cNvSpPr>
            <a:spLocks noGrp="1"/>
          </p:cNvSpPr>
          <p:nvPr/>
        </p:nvSpPr>
        <p:spPr>
          <a:xfrm flipH="1">
            <a:off x="5799337" y="30397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0" name="文本框 18"/>
          <p:cNvSpPr>
            <a:spLocks noGrp="1"/>
          </p:cNvSpPr>
          <p:nvPr/>
        </p:nvSpPr>
        <p:spPr>
          <a:xfrm>
            <a:off x="2750457" y="2770406"/>
            <a:ext cx="3078293" cy="47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Part1 研究背景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直线连接符 55"/>
          <p:cNvSpPr>
            <a:spLocks noGrp="1"/>
          </p:cNvSpPr>
          <p:nvPr/>
        </p:nvSpPr>
        <p:spPr>
          <a:xfrm flipH="1">
            <a:off x="6121804" y="3567870"/>
            <a:ext cx="44588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61" name="文本框 18"/>
          <p:cNvSpPr>
            <a:spLocks noGrp="1"/>
          </p:cNvSpPr>
          <p:nvPr/>
        </p:nvSpPr>
        <p:spPr>
          <a:xfrm>
            <a:off x="6567683" y="3309167"/>
            <a:ext cx="2354041" cy="475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问题描述 Part2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线连接符 52"/>
          <p:cNvSpPr>
            <a:spLocks noGrp="1"/>
          </p:cNvSpPr>
          <p:nvPr/>
        </p:nvSpPr>
        <p:spPr>
          <a:xfrm flipH="1">
            <a:off x="5765775" y="41099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7" name="文本框 18"/>
          <p:cNvSpPr>
            <a:spLocks noGrp="1"/>
          </p:cNvSpPr>
          <p:nvPr/>
        </p:nvSpPr>
        <p:spPr>
          <a:xfrm>
            <a:off x="2716895" y="3840606"/>
            <a:ext cx="3078293" cy="4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Part3 研究</a:t>
            </a:r>
            <a:r>
              <a:rPr lang="zh-CN"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zh-CN"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线连接符 55"/>
          <p:cNvSpPr>
            <a:spLocks noGrp="1"/>
          </p:cNvSpPr>
          <p:nvPr/>
        </p:nvSpPr>
        <p:spPr>
          <a:xfrm flipH="1">
            <a:off x="6121804" y="4618406"/>
            <a:ext cx="44588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3" name="文本框 18"/>
          <p:cNvSpPr>
            <a:spLocks noGrp="1"/>
          </p:cNvSpPr>
          <p:nvPr/>
        </p:nvSpPr>
        <p:spPr>
          <a:xfrm>
            <a:off x="6567684" y="4359703"/>
            <a:ext cx="2259464" cy="475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 Part4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直线连接符 52"/>
          <p:cNvSpPr>
            <a:spLocks noGrp="1"/>
          </p:cNvSpPr>
          <p:nvPr/>
        </p:nvSpPr>
        <p:spPr>
          <a:xfrm flipH="1">
            <a:off x="5765775" y="5180162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4" name="文本框 18"/>
          <p:cNvSpPr>
            <a:spLocks noGrp="1"/>
          </p:cNvSpPr>
          <p:nvPr/>
        </p:nvSpPr>
        <p:spPr>
          <a:xfrm>
            <a:off x="2514608" y="4910803"/>
            <a:ext cx="3280580" cy="475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Part5 实验分析</a:t>
            </a:r>
            <a:endParaRPr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矩形 40"/>
          <p:cNvSpPr>
            <a:spLocks noGrp="1"/>
          </p:cNvSpPr>
          <p:nvPr/>
        </p:nvSpPr>
        <p:spPr>
          <a:xfrm>
            <a:off x="22168" y="-32397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9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097" y="194367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50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5275" y="215147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51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74769" y="60425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3" name="矩形: 圆角 2"/>
          <p:cNvSpPr>
            <a:spLocks noGrp="1"/>
          </p:cNvSpPr>
          <p:nvPr/>
        </p:nvSpPr>
        <p:spPr>
          <a:xfrm>
            <a:off x="94344" y="1029088"/>
            <a:ext cx="4188898" cy="36657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b="1"/>
              <a:t>实验验证与效率分析</a:t>
            </a:r>
            <a:endParaRPr b="1"/>
          </a:p>
        </p:txBody>
      </p:sp>
      <p:sp>
        <p:nvSpPr>
          <p:cNvPr id="45" name="validation-main-copy"/>
          <p:cNvSpPr>
            <a:spLocks noGrp="1"/>
          </p:cNvSpPr>
          <p:nvPr/>
        </p:nvSpPr>
        <p:spPr>
          <a:xfrm>
            <a:off x="838200" y="2095500"/>
            <a:ext cx="44291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验证设计：</a:t>
            </a:r>
            <a:endParaRPr sz="1575" b="0">
              <a:solidFill>
                <a:srgbClr val="202020"/>
              </a:solidFill>
            </a:endParaRPr>
          </a:p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15 天历史数据回放，比较 AI、轮询、随机和历史回放。</a:t>
            </a:r>
            <a:endParaRPr sz="1575" b="0">
              <a:solidFill>
                <a:srgbClr val="202020"/>
              </a:solidFill>
            </a:endParaRPr>
          </a:p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固定 2000 单测试集筛选最佳 checkpoint。</a:t>
            </a:r>
            <a:endParaRPr sz="1575" b="0">
              <a:solidFill>
                <a:srgbClr val="202020"/>
              </a:solidFill>
            </a:endParaRPr>
          </a:p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7 月 1 日库存预处理验证异常队列与等待时间。</a:t>
            </a:r>
            <a:endParaRPr sz="1575" b="0">
              <a:solidFill>
                <a:srgbClr val="202020"/>
              </a:solidFill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2366596"/>
            <a:ext cx="4762500" cy="2124808"/>
          </a:xfrm>
          <a:prstGeom prst="rect">
            <a:avLst/>
          </a:prstGeom>
        </p:spPr>
      </p:pic>
      <p:sp>
        <p:nvSpPr>
          <p:cNvPr id="47" name="validation-summary"/>
          <p:cNvSpPr>
            <a:spLocks noGrp="1"/>
          </p:cNvSpPr>
          <p:nvPr/>
        </p:nvSpPr>
        <p:spPr>
          <a:xfrm>
            <a:off x="838200" y="3638550"/>
            <a:ext cx="442912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15 天验证摘要</a:t>
            </a:r>
            <a:endParaRPr sz="1425" b="1">
              <a:solidFill>
                <a:srgbClr val="C00000"/>
              </a:solidFill>
            </a:endParaRPr>
          </a:p>
          <a:p>
            <a:pPr algn="l"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随机：平均 makespan 提升 30.7%</a:t>
            </a:r>
            <a:endParaRPr sz="1425" b="1">
              <a:solidFill>
                <a:srgbClr val="C00000"/>
              </a:solidFill>
            </a:endParaRPr>
          </a:p>
          <a:p>
            <a:pPr algn="l"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实际净工时：平均提升 58.8%</a:t>
            </a:r>
            <a:endParaRPr sz="1425" b="1">
              <a:solidFill>
                <a:srgbClr val="C00000"/>
              </a:solidFill>
            </a:endParaRPr>
          </a:p>
          <a:p>
            <a:pPr algn="l"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库存预处理：等待时间下降 79.6%</a:t>
            </a:r>
            <a:endParaRPr sz="1425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38"/>
          <p:cNvSpPr>
            <a:spLocks noGrp="1"/>
          </p:cNvSpPr>
          <p:nvPr/>
        </p:nvSpPr>
        <p:spPr>
          <a:xfrm>
            <a:off x="4695372" y="1664175"/>
            <a:ext cx="2852864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  <a:endParaRPr sz="3735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11"/>
          <p:cNvSpPr>
            <a:spLocks noGrp="1"/>
          </p:cNvSpPr>
          <p:nvPr/>
        </p:nvSpPr>
        <p:spPr>
          <a:xfrm>
            <a:off x="5418257" y="1016463"/>
            <a:ext cx="1422612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265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2168" y="-32397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8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097" y="194367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69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5275" y="215147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70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74769" y="60425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47" name="直线连接符 46"/>
          <p:cNvSpPr>
            <a:spLocks noGrp="1"/>
          </p:cNvSpPr>
          <p:nvPr/>
        </p:nvSpPr>
        <p:spPr>
          <a:xfrm>
            <a:off x="6129586" y="2417045"/>
            <a:ext cx="1" cy="39827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53" name="直线连接符 52"/>
          <p:cNvSpPr>
            <a:spLocks noGrp="1"/>
          </p:cNvSpPr>
          <p:nvPr/>
        </p:nvSpPr>
        <p:spPr>
          <a:xfrm flipH="1">
            <a:off x="5799337" y="30397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0" name="文本框 18"/>
          <p:cNvSpPr>
            <a:spLocks noGrp="1"/>
          </p:cNvSpPr>
          <p:nvPr/>
        </p:nvSpPr>
        <p:spPr>
          <a:xfrm>
            <a:off x="2750457" y="2770406"/>
            <a:ext cx="3078293" cy="47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Part1 研究背景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直线连接符 55"/>
          <p:cNvSpPr>
            <a:spLocks noGrp="1"/>
          </p:cNvSpPr>
          <p:nvPr/>
        </p:nvSpPr>
        <p:spPr>
          <a:xfrm flipH="1">
            <a:off x="6121804" y="3567870"/>
            <a:ext cx="44588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61" name="文本框 18"/>
          <p:cNvSpPr>
            <a:spLocks noGrp="1"/>
          </p:cNvSpPr>
          <p:nvPr/>
        </p:nvSpPr>
        <p:spPr>
          <a:xfrm>
            <a:off x="6567683" y="3309167"/>
            <a:ext cx="2354041" cy="475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问题描述 Part2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线连接符 52"/>
          <p:cNvSpPr>
            <a:spLocks noGrp="1"/>
          </p:cNvSpPr>
          <p:nvPr/>
        </p:nvSpPr>
        <p:spPr>
          <a:xfrm flipH="1">
            <a:off x="5765775" y="4109965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7" name="文本框 18"/>
          <p:cNvSpPr>
            <a:spLocks noGrp="1"/>
          </p:cNvSpPr>
          <p:nvPr/>
        </p:nvSpPr>
        <p:spPr>
          <a:xfrm>
            <a:off x="2716895" y="3840606"/>
            <a:ext cx="3078293" cy="4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Part3 研究</a:t>
            </a:r>
            <a:r>
              <a:rPr lang="zh-CN"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zh-CN"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线连接符 55"/>
          <p:cNvSpPr>
            <a:spLocks noGrp="1"/>
          </p:cNvSpPr>
          <p:nvPr/>
        </p:nvSpPr>
        <p:spPr>
          <a:xfrm flipH="1">
            <a:off x="6121804" y="4618406"/>
            <a:ext cx="44588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13" name="文本框 18"/>
          <p:cNvSpPr>
            <a:spLocks noGrp="1"/>
          </p:cNvSpPr>
          <p:nvPr/>
        </p:nvSpPr>
        <p:spPr>
          <a:xfrm>
            <a:off x="6567684" y="4359703"/>
            <a:ext cx="2259464" cy="475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 Part4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直线连接符 52"/>
          <p:cNvSpPr>
            <a:spLocks noGrp="1"/>
          </p:cNvSpPr>
          <p:nvPr/>
        </p:nvSpPr>
        <p:spPr>
          <a:xfrm flipH="1">
            <a:off x="5765775" y="5180162"/>
            <a:ext cx="3302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4" name="文本框 18"/>
          <p:cNvSpPr>
            <a:spLocks noGrp="1"/>
          </p:cNvSpPr>
          <p:nvPr/>
        </p:nvSpPr>
        <p:spPr>
          <a:xfrm>
            <a:off x="2514608" y="4910803"/>
            <a:ext cx="3280580" cy="475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Part5 实验结果</a:t>
            </a:r>
            <a:endParaRPr sz="2485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直线连接符 55"/>
          <p:cNvSpPr>
            <a:spLocks noGrp="1"/>
          </p:cNvSpPr>
          <p:nvPr/>
        </p:nvSpPr>
        <p:spPr>
          <a:xfrm flipH="1">
            <a:off x="6129563" y="5668943"/>
            <a:ext cx="44588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7" name="文本框 18"/>
          <p:cNvSpPr>
            <a:spLocks noGrp="1"/>
          </p:cNvSpPr>
          <p:nvPr/>
        </p:nvSpPr>
        <p:spPr>
          <a:xfrm>
            <a:off x="6575442" y="5410241"/>
            <a:ext cx="1940467" cy="4750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 Part6</a:t>
            </a:r>
            <a:endParaRPr sz="2485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0" y="-7282"/>
            <a:ext cx="12214789" cy="998163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36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0432" y="219481"/>
            <a:ext cx="1876957" cy="599293"/>
          </a:xfrm>
          <a:prstGeom prst="rect">
            <a:avLst/>
          </a:prstGeom>
          <a:ln>
            <a:noFill/>
          </a:ln>
        </p:spPr>
      </p:pic>
      <p:pic>
        <p:nvPicPr>
          <p:cNvPr id="37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610" y="240261"/>
            <a:ext cx="758666" cy="599294"/>
          </a:xfrm>
          <a:prstGeom prst="rect">
            <a:avLst/>
          </a:prstGeom>
          <a:ln>
            <a:noFill/>
          </a:ln>
        </p:spPr>
      </p:pic>
      <p:pic>
        <p:nvPicPr>
          <p:cNvPr id="38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53103" y="85538"/>
            <a:ext cx="3350801" cy="922267"/>
          </a:xfrm>
          <a:prstGeom prst="rect">
            <a:avLst/>
          </a:prstGeom>
          <a:ln>
            <a:noFill/>
          </a:ln>
        </p:spPr>
      </p:pic>
      <p:sp>
        <p:nvSpPr>
          <p:cNvPr id="2" name="Rectangle 2"/>
          <p:cNvSpPr>
            <a:spLocks noGrp="1"/>
          </p:cNvSpPr>
          <p:nvPr/>
        </p:nvSpPr>
        <p:spPr>
          <a:xfrm>
            <a:off x="303611" y="131354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sp>
        <p:nvSpPr>
          <p:cNvPr id="29" name="矩形: 圆角 28"/>
          <p:cNvSpPr>
            <a:spLocks noGrp="1"/>
          </p:cNvSpPr>
          <p:nvPr/>
        </p:nvSpPr>
        <p:spPr>
          <a:xfrm>
            <a:off x="94343" y="1043602"/>
            <a:ext cx="1814709" cy="3401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conclusion-clean-copy"/>
          <p:cNvSpPr>
            <a:spLocks noGrp="1"/>
          </p:cNvSpPr>
          <p:nvPr/>
        </p:nvSpPr>
        <p:spPr>
          <a:xfrm>
            <a:off x="723900" y="2000250"/>
            <a:ext cx="9620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1. 本学期完成了从零基础到项目闭环的搭建：理解强化学习，整理数据库与数据集，完成后端服务、前端展示和效率验证。</a:t>
            </a:r>
            <a:endParaRPr sz="1800" b="0">
              <a:solidFill>
                <a:srgbClr val="202020"/>
              </a:solidFill>
            </a:endParaRPr>
          </a:p>
          <a:p>
            <a:endParaRPr sz="1800"/>
          </a:p>
          <a:p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2. 项目成果不是一个孤立模型，而是一套订单导入、调度、仿真、回放、评估的工作流。</a:t>
            </a:r>
            <a:endParaRPr sz="1800" b="0">
              <a:solidFill>
                <a:srgbClr val="202020"/>
              </a:solidFill>
            </a:endParaRPr>
          </a:p>
        </p:txBody>
      </p:sp>
      <p:sp>
        <p:nvSpPr>
          <p:cNvPr id="34" name="conclusion-callout"/>
          <p:cNvSpPr>
            <a:spLocks noGrp="1"/>
          </p:cNvSpPr>
          <p:nvPr/>
        </p:nvSpPr>
        <p:spPr>
          <a:xfrm>
            <a:off x="781050" y="4095750"/>
            <a:ext cx="942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306A99"/>
                </a:solidFill>
              </a:defRPr>
            </a:pPr>
            <a:r>
              <a:rPr sz="1800" b="1">
                <a:solidFill>
                  <a:srgbClr val="306A99"/>
                </a:solidFill>
              </a:rPr>
              <a:t>当前状态：已形成可演示、可接口调用、可按历史数据验证的订单分拣智能调度原型。</a:t>
            </a:r>
            <a:endParaRPr sz="1800" b="1">
              <a:solidFill>
                <a:srgbClr val="306A9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0" y="-7282"/>
            <a:ext cx="12214789" cy="998163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35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0432" y="219481"/>
            <a:ext cx="1876957" cy="599293"/>
          </a:xfrm>
          <a:prstGeom prst="rect">
            <a:avLst/>
          </a:prstGeom>
          <a:ln>
            <a:noFill/>
          </a:ln>
        </p:spPr>
      </p:pic>
      <p:pic>
        <p:nvPicPr>
          <p:cNvPr id="36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610" y="240261"/>
            <a:ext cx="758666" cy="599294"/>
          </a:xfrm>
          <a:prstGeom prst="rect">
            <a:avLst/>
          </a:prstGeom>
          <a:ln>
            <a:noFill/>
          </a:ln>
        </p:spPr>
      </p:pic>
      <p:pic>
        <p:nvPicPr>
          <p:cNvPr id="37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53103" y="85538"/>
            <a:ext cx="3350801" cy="922267"/>
          </a:xfrm>
          <a:prstGeom prst="rect">
            <a:avLst/>
          </a:prstGeom>
          <a:ln>
            <a:noFill/>
          </a:ln>
        </p:spPr>
      </p:pic>
      <p:sp>
        <p:nvSpPr>
          <p:cNvPr id="2" name="Rectangle 2"/>
          <p:cNvSpPr>
            <a:spLocks noGrp="1"/>
          </p:cNvSpPr>
          <p:nvPr/>
        </p:nvSpPr>
        <p:spPr>
          <a:xfrm>
            <a:off x="303611" y="131354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sp>
        <p:nvSpPr>
          <p:cNvPr id="29" name="矩形: 圆角 28"/>
          <p:cNvSpPr>
            <a:spLocks noGrp="1"/>
          </p:cNvSpPr>
          <p:nvPr/>
        </p:nvSpPr>
        <p:spPr>
          <a:xfrm>
            <a:off x="94343" y="1043602"/>
            <a:ext cx="1814709" cy="3401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学习收获与后续计划</a:t>
            </a:r>
            <a:endParaRPr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learning-clean-copy"/>
          <p:cNvSpPr>
            <a:spLocks noGrp="1"/>
          </p:cNvSpPr>
          <p:nvPr/>
        </p:nvSpPr>
        <p:spPr>
          <a:xfrm>
            <a:off x="1047750" y="2095500"/>
            <a:ext cx="93345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C00000"/>
                </a:solidFill>
              </a:defRPr>
            </a:pPr>
            <a:r>
              <a:rPr sz="1800" b="0">
                <a:solidFill>
                  <a:srgbClr val="C00000"/>
                </a:solidFill>
              </a:rPr>
              <a:t>已掌握：强化学习基本流程、PPO 训练与 checkpoint 评估、MySQL 表结构、FastAPI 接口、Vue/Three.js 前端展示。</a:t>
            </a:r>
            <a:endParaRPr sz="1800" b="0">
              <a:solidFill>
                <a:srgbClr val="C00000"/>
              </a:solidFill>
            </a:endParaRPr>
          </a:p>
          <a:p>
            <a:endParaRPr sz="1800"/>
          </a:p>
          <a:p>
            <a:pPr algn="l">
              <a:defRPr sz="1800" b="0">
                <a:solidFill>
                  <a:srgbClr val="C00000"/>
                </a:solidFill>
              </a:defRPr>
            </a:pPr>
            <a:r>
              <a:rPr sz="1800" b="0">
                <a:solidFill>
                  <a:srgbClr val="C00000"/>
                </a:solidFill>
              </a:rPr>
              <a:t>后续计划：补充更多真实业务日验证；增强异常订单解释；把模型选择、仿真报告和前端配置做得更自动化。</a:t>
            </a:r>
            <a:endParaRPr sz="1800" b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0" y="8357"/>
            <a:ext cx="12214789" cy="998164"/>
          </a:xfrm>
          <a:prstGeom prst="rect">
            <a:avLst/>
          </a:prstGeom>
          <a:solidFill>
            <a:srgbClr val="306A99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1" name="pasted-image.pdf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0433" y="235120"/>
            <a:ext cx="1876957" cy="599294"/>
          </a:xfrm>
          <a:prstGeom prst="rect">
            <a:avLst/>
          </a:prstGeom>
          <a:ln>
            <a:noFill/>
          </a:ln>
        </p:spPr>
      </p:pic>
      <p:pic>
        <p:nvPicPr>
          <p:cNvPr id="42" name="pasted-image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611" y="255900"/>
            <a:ext cx="758666" cy="599295"/>
          </a:xfrm>
          <a:prstGeom prst="rect">
            <a:avLst/>
          </a:prstGeom>
          <a:ln>
            <a:noFill/>
          </a:ln>
        </p:spPr>
      </p:pic>
      <p:pic>
        <p:nvPicPr>
          <p:cNvPr id="43" name="pasted-image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53105" y="101178"/>
            <a:ext cx="3350801" cy="922268"/>
          </a:xfrm>
          <a:prstGeom prst="rect">
            <a:avLst/>
          </a:prstGeom>
          <a:ln>
            <a:noFill/>
          </a:ln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1899981" y="3827105"/>
            <a:ext cx="8392041" cy="1077218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6400" b="1">
                <a:solidFill>
                  <a:srgbClr val="409E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衷心感谢老师的指导！</a:t>
            </a:r>
            <a:endParaRPr sz="6400" b="1">
              <a:solidFill>
                <a:srgbClr val="409E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978" y="1922899"/>
            <a:ext cx="1332359" cy="1332359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2213</Words>
  <Application>WPS 演示</Application>
  <PresentationFormat>Converted Presentation</PresentationFormat>
  <Paragraphs>194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Times New Roman</vt:lpstr>
      <vt:lpstr>微软雅黑</vt:lpstr>
      <vt:lpstr>等线</vt:lpstr>
      <vt:lpstr>Arial Unicode MS</vt:lpstr>
      <vt:lpstr>微软雅黑 Light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傻子</cp:lastModifiedBy>
  <cp:revision>5</cp:revision>
  <dcterms:created xsi:type="dcterms:W3CDTF">2026-07-17T07:58:15Z</dcterms:created>
  <dcterms:modified xsi:type="dcterms:W3CDTF">2026-07-19T11:03:34Z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DD3D3C0417E84CAB91BA4E2893E5AC4E_12</vt:lpwstr>
  </property>
  <property fmtid="{D5CDD505-2E9C-101B-9397-08002B2CF9AE}" pid="3" name="KSOProductBuildVer">
    <vt:lpwstr>2052-12.8.2.19823</vt:lpwstr>
  </property>
</Properties>
</file>