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9a077815b04495" /><Relationship Type="http://schemas.openxmlformats.org/officeDocument/2006/relationships/extended-properties" Target="/docProps/app.xml" Id="R0d542b032fb84594" /><Relationship Type="http://schemas.openxmlformats.org/officeDocument/2006/relationships/officeDocument" Target="/ppt/presentation.xml" Id="Rc6ebc783c5764c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a768716bc45f0"/>
    <p:sldMasterId xmlns:r="http://schemas.openxmlformats.org/officeDocument/2006/relationships" id="2147483661" r:id="R0d11889f1e28479a"/>
  </p:sldMasterIdLst>
  <p:notesMasterIdLst>
    <p:notesMasterId xmlns:r="http://schemas.openxmlformats.org/officeDocument/2006/relationships" r:id="R4bd283ae5c964d36"/>
  </p:notesMasterIdLst>
  <p:sldIdLst>
    <p:sldId xmlns:r="http://schemas.openxmlformats.org/officeDocument/2006/relationships" id="256" r:id="R1aa8b45a2a7248dd"/>
    <p:sldId xmlns:r="http://schemas.openxmlformats.org/officeDocument/2006/relationships" id="257" r:id="Rdfd6631578074591"/>
    <p:sldId xmlns:r="http://schemas.openxmlformats.org/officeDocument/2006/relationships" id="258" r:id="R8e3a71dd812f45ea"/>
    <p:sldId xmlns:r="http://schemas.openxmlformats.org/officeDocument/2006/relationships" id="259" r:id="Rf6af3503f98d4152"/>
    <p:sldId xmlns:r="http://schemas.openxmlformats.org/officeDocument/2006/relationships" id="260" r:id="R2cfee376c69d4362"/>
    <p:sldId xmlns:r="http://schemas.openxmlformats.org/officeDocument/2006/relationships" id="261" r:id="R0e8d77d795984934"/>
    <p:sldId xmlns:r="http://schemas.openxmlformats.org/officeDocument/2006/relationships" id="262" r:id="Re85e012c05e3417d"/>
    <p:sldId xmlns:r="http://schemas.openxmlformats.org/officeDocument/2006/relationships" id="263" r:id="R8254d1fbdd47468f"/>
    <p:sldId xmlns:r="http://schemas.openxmlformats.org/officeDocument/2006/relationships" id="264" r:id="R6449986bbfa34ed6"/>
    <p:sldId xmlns:r="http://schemas.openxmlformats.org/officeDocument/2006/relationships" id="265" r:id="R3162e67eacb545d1"/>
    <p:sldId xmlns:r="http://schemas.openxmlformats.org/officeDocument/2006/relationships" id="266" r:id="Refc0612833784e43"/>
    <p:sldId xmlns:r="http://schemas.openxmlformats.org/officeDocument/2006/relationships" id="267" r:id="Rcc4e656de0dc45bd"/>
    <p:sldId xmlns:r="http://schemas.openxmlformats.org/officeDocument/2006/relationships" id="268" r:id="Re01da31ed84d43f1"/>
    <p:sldId xmlns:r="http://schemas.openxmlformats.org/officeDocument/2006/relationships" id="269" r:id="R8fa6868af0814904"/>
    <p:sldId xmlns:r="http://schemas.openxmlformats.org/officeDocument/2006/relationships" id="270" r:id="Rd50838b92db448f9"/>
    <p:sldId xmlns:r="http://schemas.openxmlformats.org/officeDocument/2006/relationships" id="271" r:id="R15b23ae89b3f40fe"/>
    <p:sldId xmlns:r="http://schemas.openxmlformats.org/officeDocument/2006/relationships" id="272" r:id="R93ca06bdc5d34897"/>
    <p:sldId xmlns:r="http://schemas.openxmlformats.org/officeDocument/2006/relationships" id="273" r:id="R79e7417c6bd8464f"/>
    <p:sldId xmlns:r="http://schemas.openxmlformats.org/officeDocument/2006/relationships" id="274" r:id="R44ae013e95a14b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c9c955a9704ebe" /><Relationship Type="http://schemas.openxmlformats.org/officeDocument/2006/relationships/slideMaster" Target="/ppt/slideMasters/slideMaster1.xml" Id="R2aca768716bc45f0" /><Relationship Type="http://schemas.openxmlformats.org/officeDocument/2006/relationships/slideMaster" Target="/ppt/slideMasters/slideMaster2.xml" Id="R0d11889f1e28479a" /><Relationship Type="http://schemas.openxmlformats.org/officeDocument/2006/relationships/notesMaster" Target="/ppt/notesMasters/notesMaster1.xml" Id="R4bd283ae5c964d36" /><Relationship Type="http://schemas.openxmlformats.org/officeDocument/2006/relationships/presProps" Target="/ppt/presProps.xml" Id="Rc7613d80904442b1" /><Relationship Type="http://schemas.openxmlformats.org/officeDocument/2006/relationships/viewProps" Target="/ppt/viewProps.xml" Id="Rbb5ff4944ced4489" /><Relationship Type="http://schemas.openxmlformats.org/officeDocument/2006/relationships/tableStyles" Target="/ppt/tableStyles.xml" Id="Rc7780c2d60684776" /><Relationship Type="http://schemas.openxmlformats.org/officeDocument/2006/relationships/slide" Target="/ppt/slides/slide1.xml" Id="R1aa8b45a2a7248dd" /><Relationship Type="http://schemas.openxmlformats.org/officeDocument/2006/relationships/slide" Target="/ppt/slides/slide2.xml" Id="Rdfd6631578074591" /><Relationship Type="http://schemas.openxmlformats.org/officeDocument/2006/relationships/slide" Target="/ppt/slides/slide3.xml" Id="R8e3a71dd812f45ea" /><Relationship Type="http://schemas.openxmlformats.org/officeDocument/2006/relationships/slide" Target="/ppt/slides/slide4.xml" Id="Rf6af3503f98d4152" /><Relationship Type="http://schemas.openxmlformats.org/officeDocument/2006/relationships/slide" Target="/ppt/slides/slide5.xml" Id="R2cfee376c69d4362" /><Relationship Type="http://schemas.openxmlformats.org/officeDocument/2006/relationships/slide" Target="/ppt/slides/slide6.xml" Id="R0e8d77d795984934" /><Relationship Type="http://schemas.openxmlformats.org/officeDocument/2006/relationships/slide" Target="/ppt/slides/slide7.xml" Id="Re85e012c05e3417d" /><Relationship Type="http://schemas.openxmlformats.org/officeDocument/2006/relationships/slide" Target="/ppt/slides/slide8.xml" Id="R8254d1fbdd47468f" /><Relationship Type="http://schemas.openxmlformats.org/officeDocument/2006/relationships/slide" Target="/ppt/slides/slide9.xml" Id="R6449986bbfa34ed6" /><Relationship Type="http://schemas.openxmlformats.org/officeDocument/2006/relationships/slide" Target="/ppt/slides/slide10.xml" Id="R3162e67eacb545d1" /><Relationship Type="http://schemas.openxmlformats.org/officeDocument/2006/relationships/slide" Target="/ppt/slides/slide11.xml" Id="Refc0612833784e43" /><Relationship Type="http://schemas.openxmlformats.org/officeDocument/2006/relationships/slide" Target="/ppt/slides/slide12.xml" Id="Rcc4e656de0dc45bd" /><Relationship Type="http://schemas.openxmlformats.org/officeDocument/2006/relationships/slide" Target="/ppt/slides/slide13.xml" Id="Re01da31ed84d43f1" /><Relationship Type="http://schemas.openxmlformats.org/officeDocument/2006/relationships/slide" Target="/ppt/slides/slide14.xml" Id="R8fa6868af0814904" /><Relationship Type="http://schemas.openxmlformats.org/officeDocument/2006/relationships/slide" Target="/ppt/slides/slide15.xml" Id="Rd50838b92db448f9" /><Relationship Type="http://schemas.openxmlformats.org/officeDocument/2006/relationships/slide" Target="/ppt/slides/slide16.xml" Id="R15b23ae89b3f40fe" /><Relationship Type="http://schemas.openxmlformats.org/officeDocument/2006/relationships/slide" Target="/ppt/slides/slide17.xml" Id="R93ca06bdc5d34897" /><Relationship Type="http://schemas.openxmlformats.org/officeDocument/2006/relationships/slide" Target="/ppt/slides/slide18.xml" Id="R79e7417c6bd8464f" /><Relationship Type="http://schemas.openxmlformats.org/officeDocument/2006/relationships/slide" Target="/ppt/slides/slide19.xml" Id="R44ae013e95a14b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a04ab4d1cfb44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b61886d38243af" /><Relationship Type="http://schemas.openxmlformats.org/officeDocument/2006/relationships/notesMaster" Target="/ppt/notesMasters/notesMaster1.xml" Id="Rd765a9e263d94b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6949aaa2c44016" /><Relationship Type="http://schemas.openxmlformats.org/officeDocument/2006/relationships/notesMaster" Target="/ppt/notesMasters/notesMaster1.xml" Id="Rb0bd12bfcab443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f6b3b537d94f76" /><Relationship Type="http://schemas.openxmlformats.org/officeDocument/2006/relationships/notesMaster" Target="/ppt/notesMasters/notesMaster1.xml" Id="Rb75d95e60c8d44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ced6a63a134faf" /><Relationship Type="http://schemas.openxmlformats.org/officeDocument/2006/relationships/notesMaster" Target="/ppt/notesMasters/notesMaster1.xml" Id="R155e6122500748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4b074daace49ce" /><Relationship Type="http://schemas.openxmlformats.org/officeDocument/2006/relationships/notesMaster" Target="/ppt/notesMasters/notesMaster1.xml" Id="Rd8c8ce6f0ad941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09958892654013" /><Relationship Type="http://schemas.openxmlformats.org/officeDocument/2006/relationships/notesMaster" Target="/ppt/notesMasters/notesMaster1.xml" Id="Raa29a27534dc40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e785dfa02e4ba0" /><Relationship Type="http://schemas.openxmlformats.org/officeDocument/2006/relationships/notesMaster" Target="/ppt/notesMasters/notesMaster1.xml" Id="R9d86248a9ae847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cb611ed30d440d" /><Relationship Type="http://schemas.openxmlformats.org/officeDocument/2006/relationships/notesMaster" Target="/ppt/notesMasters/notesMaster1.xml" Id="Rf87f77a8e43845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64291fcb2f44e1" /><Relationship Type="http://schemas.openxmlformats.org/officeDocument/2006/relationships/notesMaster" Target="/ppt/notesMasters/notesMaster1.xml" Id="R219e89e2e5f244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b2854cc62043b8" /><Relationship Type="http://schemas.openxmlformats.org/officeDocument/2006/relationships/notesMaster" Target="/ppt/notesMasters/notesMaster1.xml" Id="R44532c0e59d440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4f44c69e064fee" /><Relationship Type="http://schemas.openxmlformats.org/officeDocument/2006/relationships/notesMaster" Target="/ppt/notesMasters/notesMaster1.xml" Id="R45df63086e5646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5da21b0b784060" /><Relationship Type="http://schemas.openxmlformats.org/officeDocument/2006/relationships/notesMaster" Target="/ppt/notesMasters/notesMaster1.xml" Id="R3a6dedddfed948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6483f92c5f4352" /><Relationship Type="http://schemas.openxmlformats.org/officeDocument/2006/relationships/notesMaster" Target="/ppt/notesMasters/notesMaster1.xml" Id="R324af766821244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e7bf47853e4c8c" /><Relationship Type="http://schemas.openxmlformats.org/officeDocument/2006/relationships/notesMaster" Target="/ppt/notesMasters/notesMaster1.xml" Id="R31295bbf2caf40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c8190ae0814b43" /><Relationship Type="http://schemas.openxmlformats.org/officeDocument/2006/relationships/notesMaster" Target="/ppt/notesMasters/notesMaster1.xml" Id="Raf1106ba8c7b45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ca9617552846b3" /><Relationship Type="http://schemas.openxmlformats.org/officeDocument/2006/relationships/notesMaster" Target="/ppt/notesMasters/notesMaster1.xml" Id="R678fd6a9118949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e70acf74c14f47" /><Relationship Type="http://schemas.openxmlformats.org/officeDocument/2006/relationships/notesMaster" Target="/ppt/notesMasters/notesMaster1.xml" Id="R83d4a1aa58394d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c3a726b70a4d8c" /><Relationship Type="http://schemas.openxmlformats.org/officeDocument/2006/relationships/notesMaster" Target="/ppt/notesMasters/notesMaster1.xml" Id="Re27e6e52a75e424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db3862a21ab4e4e" /><Relationship Type="http://schemas.openxmlformats.org/officeDocument/2006/relationships/notesMaster" Target="/ppt/notesMasters/notesMaster1.xml" Id="R08666f8993ed49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汇报的题目是潍柴订单分拣智能调度项目学期汇报。这一学期对我来说不是只做一个算法实验，而是从几乎零基础开始，逐步把一个真实业务场景拆成数据、算法、仿真和系统落地几个部分。汇报会先讲业务背景，再讲我遇到的具体问题，然后说明系统和强化学习模型怎么做，最后用验证结果说明目前做到什么程度，以及后续还要补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整个汇报结构。第一部分讲为什么要做订单分拣智能调度；第二部分讲业务问题为什么复杂；第三部分讲我这一学期实际完成的内容；第四部分讲技术路线，尤其是强化学习和仿真的关系；第五部分讲验证结果；最后总结个人收获、项目进展和下一步计划。整体时间我会控制在二十五分钟以上，每部分都会尽量讲清楚自己从不懂到能落地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先进入研究背景。潍柴这个场景的核心是订单分拣，订单不是简单的一行数据，它背后对应多个 SKU、数量、库存和站台资源。如果只靠人工经验分配，遇到订单波动、站台资源变化、库存不足时，很难稳定判断哪种分配方式最好。所以项目希望把分拣过程数字化，再用算法给出站台分配方案，并通过仿真验证是否真的提升效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背景和意义。左边可以理解为业务现场：订单、SKU、库存、站台互相影响。右边是技术落地：我们不是单独训练模型，而是要把模型放进一个完整系统里。这个项目对我的意义也比较大，因为学期开始时我不懂强化学习，也不懂数据库表怎么设计、数据集怎么清洗、前后端怎么联调，更不知道算法落地要怎么验证。这个项目把这些知识点串起来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背景和意义。左边可以理解为业务现场：订单、SKU、库存、站台互相影响。右边是技术落地：我们不是单独训练模型，而是要把模型放进一个完整系统里。这个项目对我的意义也比较大，因为学期开始时我不懂强化学习，也不懂数据库表怎么设计、数据集怎么清洗、前后端怎么联调，更不知道算法落地要怎么验证。这个项目把这些知识点串起来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是问题描述。这个项目表面上是在问一个订单应该分到哪个站台，但实际包含很多约束：每个订单处理时间不同，站台数量有限，站台上同时挂载的订单和箱体也有限，库存还会决定有些订单能不能做。也就是说，它不是一个静态排序问题，而是一个动态资源分配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我把问题总结成三句话。第一，输入是订单、SKU 工时、库存快照和站台约束。第二，决策是把订单分配到站台，并确定哪些订单因为缺料要进入异常队列。第三，输出要能被后端接口、仿真程序和前端播放共同使用。这样定义以后，算法目标就更清楚了：不是追求某一步看起来最优，而是让整批订单的完工时间、等待时间和站台负载更合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第三部分讲研究内容。这个项目对我来说分成三条线：数据侧、算法侧和系统侧。数据侧是把历史 Excel、每日拣选、库存快照、SKU 平均工时整理成可用数据；算法侧是用 Maskable PPO 做订单到站台的调度，并用 SimPy 进行离散事件仿真；系统侧则是 FastAPI 后端、MySQL 数据库和 Vue + Three.js 前端。三条线都跑通，才算接近落地。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这一页是本学期完成内容的概括。数据侧，我理解并整理了订单波次、SKU 工时、库存快照等数据；算法侧，训练了 PPO 模型，调整了学习率、采样步数、奖励函数，并加入整批订单 makespan 的评价；系统侧，完成了后端启动、订单导入、库存预处理、仿真状态查询和前端 3D 播放。这里我想强调，项目难点不只在模型，而在模型前后的工程环节。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这一页是本学期完成内容的概括。数据侧，我理解并整理了订单波次、SKU 工时、库存快照等数据；算法侧，训练了 PPO 模型，调整了学习率、采样步数、奖励函数，并加入整批订单 makespan 的评价；系统侧，完成了后端启动、订单导入、库存预处理、仿真状态查询和前端 3D 播放。这里我想强调，项目难点不只在模型，而在模型前后的工程环节。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下面进入方法求解。技术路线可以概括为订单导入、SKU 工时重建、库存预处理、AI 调度、SimPy 仿真、前端 3D 播放。PPO 模型负责学习订单应该分到哪个站台；SimPy 不负责学习，而是负责把调度结果还原成一个可解释的时间线。这样做的好处是，模型输出不是黑箱结果，后面可以看到每个订单、每个 SKU、每个站台的处理过程。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这一页专门讲强化学习和 PPO 的理论基础。首先把订单分拣调度建模为马尔可夫决策过程，MDP 由状态空间、动作空间、状态转移、奖励函数和折扣因子组成。状态可以包含订单队列、站台负载、缓冲区和库存；动作是给当前订单选择目标站台；环境转移由仿真推进得到；奖励则反映调度效率与约束满足情况。PPO 的核心是剪切代理目标函数。它先计算新旧策略概率比 ρ_t，再用 clip 限制 ρ_t 的变化范围，防止策略一步更新过大。优势函数 Â_t 用 GAE 估计，反映当前动作比基准价值好还是差。这样讲清楚后，后面再说明这些理论变量如何映射到潍柴订单分拣项目。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 PPO 如何落到潍柴订单分拣项目中。状态 s_t 不是抽象变量，而是由剩余订单、站台负载、缓冲区占用、库存可用性等业务数据组成。动作 a_t 是给当前订单选择站台，或者在缺料时进入异常队列。动作掩码非常关键：如果站台不可用、缓冲区已满、订单缺料或违反业务规则，就直接把该动作概率置零，避免模型学到非法分配。奖励函数分成即时奖励和终止奖励。即时惩罚包括排队等待 q_t、站台负载不均 b_t、缓冲区占用 u_t、缺料或不可执行 m_t；终止项则惩罚整批订单的完工时间 Cmax 和超过日内截止线 D 的部分。这样模型优化的不是单一最短时间，而是在业务约束下兼顾完工时间、站台均衡、等待时间和可执行性。最后用 SimPy 回放策略生成事件时间线，再用验证指标比较 AI、轮询、随机和历史回放。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进入实验分析。我的验证分三类。第一类是模型筛选，在固定 2000 单测试集上评估不同 checkpoint，最后选择 1,520,000 steps 的模型作为正式模型。第二类是历史 15 天回放，对比 AI、轮询、随机以及历史回放。第三类是库存预处理验证，检验缺料异常队列和订单重排是否减少库存等待。这样验证可以避免只看训练曲线，而是回到业务效果上。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这一页讲实验分析。验证报告采用 15 天历史回放，不只比较 AI、轮询和随机策略，也和历史真实净工时、历史站台回放做对照。左侧三个数字是站台工时口径：AI 相比轮询平均提升 24.01%，相比随机平均提升 61.93%，相比历史回放平均提升 25.29%。右侧图是不同最大站台数下的平均完工时间，红色 AI Agent 曲线整体低于轮询和随机，并且从 8 个站台左右开始低于 30600 秒参考线。这说明 AI 学到的不是机械轮换，而是在订单耗时、站台负载和后续排队之间做动态权衡。这里也要说明口径差异：按纯 makespan，AI 相比轮询平均提升约 3.02%，相比随机提升约 30.66%；按站台工时，则能体现减少站台资源占用带来的效率价值。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部分是总结与展望。这里我想把项目成果和个人成长放在一起讲。项目成果上，我们已经有数据导入、数据库、调度接口、仿真回放、前端展示和验证报告。个人成长上，我从不懂强化学习、不懂数据库和前后端，到现在能说清楚每个模块为什么存在、怎么连接、怎么验证效果。这个过程对我后续做更复杂的智能制造项目很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这一页总结本学期的主要成果。我把它分成四块：算法建模、数据与仿真、系统服务、效果验证。算法上，我从强化学习基础开始，理解了 MDP、PPO、动作掩码和 checkpoint 筛选；数据上，梳理了订单、SKU 标准工时、库存快照和异常队列；系统上，接触并完成了 FastAPI、MySQL、Vue 和 Three.js 的联调；验证上，用 15 天历史数据回放比较 AI、轮询、随机和历史方案。对我个人来说，最大的收获是把原来分散的知识点连成一个闭环：模型不是训练完就结束，而是要能被调用、能被仿真、能被展示，并且能用业务指标解释。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总结与展望中的不足和下一步。当前项目已经能演示和验证，但要真正贴近现场，还需要继续补四件事。第一是数据覆盖，不能只依赖某一段历史数据，需要跨月份、跨订单波次验证泛化能力。第二是约束细化，库存、订单优先级、搬运距离、人工节拍这些因素可以逐步进入状态和奖励函数。第三是解释性，要让调度结果不只是一个站台编号，而能说明为什么这个订单适合这个站台。第四是工程落地，包括接口稳定性、性能压测、监控告警、异常回滚和部署文档。后续目标可以概括为：算得出、讲得清、接得上、跑得稳、验得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我的汇报到这里结束。感谢老师这一学期的指导，也感谢组里同学在数据、接口和验证过程中的帮助。后面如果老师有问题，我可以从算法训练、数据处理、系统接口或者验证指标几个角度展开说明。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165e464be44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f178eac4c48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0513e81ea4a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291a6b3f04a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f94063c0a4d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e7fdd7bc1474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81edfa43b4d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aecc8f3c4497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0f5c9f4d045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eced66cab6452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ad83157384f0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8f172ccea448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3debaf9b9a4e8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3db44df23b4f9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e64665daf442a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30b7070bcb40e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05b149e8214a9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263c521ba0421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5d73c31998487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1cfae59a314aa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f8851e34d44e9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cbe90995994b8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3d7f4c8a484554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4338b147ce44dc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022945-4097-4831-A3BF-E575298A46F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EECB7CF-7906-472A-A11C-C25E6037A4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8EFF4E7-C73A-4138-8CBA-A2445875BB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994A44C-FDC8-41C3-BE88-9287947282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0BCFAE-9B5B-441B-841F-18BC2A1A8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6BB245-B1F4-49ED-AC4A-638704B4C6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7E2E0E3-60EF-4B31-9660-F7317EB39A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F69A8F4-AD56-450D-8462-1094F85C53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00A06AE-1F90-4176-9CAD-55385C6F68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6CF156B-E9BF-485E-811E-60D72A007B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FFD2549-330F-4AA8-A8BE-6EECE8C18A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E597549-C5E8-461C-B3A3-05C4D19DA0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DDF228B-A9D4-474F-9AC5-C4B46FF66F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6B9BD06-522B-4BB1-912F-FF592C5D72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55F4E28-F628-4C1E-8DA7-3FE28B4B9C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2D0BF-7ABB-4374-BB8B-69B323E311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E5C268C-6ADF-4133-A2AB-0F29BEFC9C0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DB54A71-2BB5-4E39-85D7-72DEB96082D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2B09A57-74C7-4B7F-844F-8F069CF021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172DE79-E4ED-47FF-8E73-B4AC2580E1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E9C1311-2C27-4FB9-A917-5A0A6E3704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CB54733-852B-4332-ABB0-066707A302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D1C4DE0-8A04-49D2-9A20-2F47617FBC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E109348-ACDC-4C03-BE46-37C7DA197F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195D9A3-0B05-424E-AD48-9C18062EAF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194AA1-1D42-4879-8471-5267244E9A7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EA142F3-A78B-4D4E-BB63-3D4E038F70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00EA0B5-A3C0-4E1D-BF48-D87EAF8267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7D33AC5-745E-448F-9ABA-A06F52ECE7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B0C6E6-C9B6-47FF-B2C3-9921115FFA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1025E6F-AE08-4E69-8910-C670CDA559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41C8467-19F7-48C3-BD3D-53C84EF357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D413527-F60F-4ACD-9267-44E7DE7231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A9D11C-6A4B-47AF-A495-5823D58084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1622896-07D1-431B-AF77-280CEE3676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962D5D9-CED2-4240-ACA4-62B3D59A2D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0BAC33-9237-40A6-9F78-C36108F83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033DA4D-FBB9-4541-B0C3-CD5C218A5F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198D8AB-C66B-40D8-9E8F-2550662DA2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6990747-F496-4F56-AB9E-C7CE567764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445D771-2577-4D06-9D8F-57277A5F42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4DA344E-BFC8-4C82-A63E-5090C7C4B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6812E8-D718-4363-9E90-DB7B2D472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6C16538-FD75-4AEC-A12D-A1A49FF46CB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0417511-79D8-49F0-9A8B-331286D906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5B235E3-3C7A-4447-BBDA-62384254FD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772B4E-DD1E-499D-8AEC-83A777B3F8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96C6D92-50FA-46F9-8988-AF90B2EB3A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F60781-E97C-4E76-B443-D83F7934DF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AAD8BCE-37F4-4A00-AE10-6CC40035F7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22431D3-D879-4D38-9B79-167FD1B901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5BF5675-8473-48DA-83B8-EC59DDE530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D8C0772-35D7-4E37-9BB3-661DD02EF6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94DBC2E-CC3A-4D2B-B460-1F4441887F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4FB087A-387A-4FE4-ACC6-1775963CF8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81F999-91F2-4A8A-9D07-6ED9CE080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37191DB-8B9F-4AC2-8A41-75856AA80F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C136FA-3B5F-46C4-835E-D1F35D1898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EE6F17-558F-4E7F-84BE-CAE0AB1676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FC88543-7230-438A-B758-CD03CC99F7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986193-CC4B-4701-9AAE-075B43E849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16FFE27-7362-4509-A47A-C1F20621DC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6770366-8BCD-4C51-AD7B-882DAD9F7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655981D-CE12-48CD-B2EE-251C446315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7D85580-9D9A-412E-8E22-AF2E7FF3EBC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E1A773E-A1DD-42F5-9414-183360115E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A38746-2002-4B70-B207-0915D72A5D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180661C-39E7-4236-8C6C-99FB6E7F3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C56F87-1892-498E-974A-5B01CB23E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6A37525-3E21-4A73-95B7-F87799282C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92277F-EFC1-48BF-B351-AF1F24C10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898249-8394-4E7A-A7D4-6C1D4BAE74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9FC1C12-0B1A-44C9-88D2-C210C47B70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0A4A1B-D55A-46A5-B6C0-3C35411076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C89648-14AE-4DF9-9FC5-597756961C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8EFF2B0-2368-459E-99F1-825A6E5F50C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65C3765-C1F5-4069-B1CD-51F572FD22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0C586D-3C95-463B-92BF-33EEEA7DE1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0037AED-3835-40AA-8D1A-0609D3BCA1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5648F8-E737-4A09-AC94-81C453210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E419DE-E3E5-4F63-94BF-6C2CF80BD2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9BF952A-A5DA-4AA9-88DF-23D22DDABA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3C765DD-36CE-48DF-ACC2-CCBF287688F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366574-A95E-409C-BA84-24A178A486E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3D8A9BC-9A16-4E5C-B20C-4B2E3EC72A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7145457-4CC4-4E13-B2A4-9BCC590D69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E793E28-F9A9-4F70-A0C4-3242CDA522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35E82C-181F-4B95-B546-B2C3EF12DD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95D8ADB-7136-49A9-AEFA-853D9F40B6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AE935D1-9090-4E0A-B075-24347E0C49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21FA27F-D7DE-42B7-986D-30EDADB7E5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59176A-F239-4827-A088-998B68B443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F2442DA-1EFC-4649-AFFA-68F100A3AC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E7B714C-8704-4ADF-A2DC-81996055FC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FA6456-8D0A-4938-B1A2-1898D6685C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AEE92E8-7B44-477F-973A-770F308DEC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6601672-898B-4454-9CDA-F6C4E32C5A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8C122A3-CF5F-48FF-89DD-76437A7DDA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20D86F0-FF80-4694-ADEA-D49227586D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8A08609-1958-4C42-BB7A-BD98842141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8BBA537-CC56-48BF-A994-2E5E5691A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AA72B4C8-8A48-4553-B151-220EA95412D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A240367-4929-45B7-A692-A526805C52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7525B72-6DCE-4D69-BCC1-746CF34C57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3B781A8-8AE9-4853-A499-EBC6E6968D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9D2492E-9007-4201-B905-19EA83ECF1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CBCCBC-F8E4-4487-A8A2-F18135AE0D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768A442-7A5F-4816-93E7-55568D07A2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388402-1017-4A0C-86D5-6E6576F237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90ADB02-BDC7-490C-B296-AEF1EFC156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0B6146F-8F0B-4E04-AFEF-97A27EB627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4C456F7-E566-4E40-AEFE-20968C18B4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73A6798D-1628-4283-BE82-3BBDF624A6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2EF4FD-37CC-4967-8D4E-3755CB7A5C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90F3DBF-36F3-4669-AEE7-DE26D48FBE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C810F58-B38B-4B24-BE18-AB606CB1A1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2b0b620c2d42a9" /><Relationship Type="http://schemas.openxmlformats.org/officeDocument/2006/relationships/slideLayout" Target="/ppt/slideLayouts/slideLayout1.xml" Id="R9b17a10b7c614d43" /><Relationship Type="http://schemas.openxmlformats.org/officeDocument/2006/relationships/slideLayout" Target="/ppt/slideLayouts/slideLayout2.xml" Id="R59746bc8e36d4532" /><Relationship Type="http://schemas.openxmlformats.org/officeDocument/2006/relationships/slideLayout" Target="/ppt/slideLayouts/slideLayout3.xml" Id="Rfe4d9f63ac154b67" /><Relationship Type="http://schemas.openxmlformats.org/officeDocument/2006/relationships/slideLayout" Target="/ppt/slideLayouts/slideLayout4.xml" Id="Rb8ced90fe4924d59" /><Relationship Type="http://schemas.openxmlformats.org/officeDocument/2006/relationships/slideLayout" Target="/ppt/slideLayouts/slideLayout5.xml" Id="R45821418d33d4de7" /><Relationship Type="http://schemas.openxmlformats.org/officeDocument/2006/relationships/slideLayout" Target="/ppt/slideLayouts/slideLayout6.xml" Id="R16ae8c189b92435c" /><Relationship Type="http://schemas.openxmlformats.org/officeDocument/2006/relationships/slideLayout" Target="/ppt/slideLayouts/slideLayout7.xml" Id="R2f51a62bf83b4073" /><Relationship Type="http://schemas.openxmlformats.org/officeDocument/2006/relationships/slideLayout" Target="/ppt/slideLayouts/slideLayout8.xml" Id="R2a255f9df30d43a3" /><Relationship Type="http://schemas.openxmlformats.org/officeDocument/2006/relationships/slideLayout" Target="/ppt/slideLayouts/slideLayout9.xml" Id="R4be5134098df44ce" /><Relationship Type="http://schemas.openxmlformats.org/officeDocument/2006/relationships/slideLayout" Target="/ppt/slideLayouts/slideLayout10.xml" Id="Rdb55789b2bf043cc" /><Relationship Type="http://schemas.openxmlformats.org/officeDocument/2006/relationships/slideLayout" Target="/ppt/slideLayouts/slideLayout11.xml" Id="Rd20cd695aa584d7e" /><Relationship Type="http://schemas.openxmlformats.org/officeDocument/2006/relationships/slideLayout" Target="/ppt/slideLayouts/slideLayout12.xml" Id="R310bf7909aa0429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bcb10ac80884d93" /><Relationship Type="http://schemas.openxmlformats.org/officeDocument/2006/relationships/slideLayout" Target="/ppt/slideLayouts/slideLayout13.xml" Id="Rc431147613904f35" /><Relationship Type="http://schemas.openxmlformats.org/officeDocument/2006/relationships/slideLayout" Target="/ppt/slideLayouts/slideLayout14.xml" Id="R29c366bdfc554b19" /><Relationship Type="http://schemas.openxmlformats.org/officeDocument/2006/relationships/slideLayout" Target="/ppt/slideLayouts/slideLayout15.xml" Id="R3f1457a6420d4d71" /><Relationship Type="http://schemas.openxmlformats.org/officeDocument/2006/relationships/slideLayout" Target="/ppt/slideLayouts/slideLayout16.xml" Id="R9f96d8eeee554c56" /><Relationship Type="http://schemas.openxmlformats.org/officeDocument/2006/relationships/slideLayout" Target="/ppt/slideLayouts/slideLayout17.xml" Id="R8f806fa624bc4221" /><Relationship Type="http://schemas.openxmlformats.org/officeDocument/2006/relationships/slideLayout" Target="/ppt/slideLayouts/slideLayout18.xml" Id="R4a7a93872897481f" /><Relationship Type="http://schemas.openxmlformats.org/officeDocument/2006/relationships/slideLayout" Target="/ppt/slideLayouts/slideLayout19.xml" Id="R4782202249fa43db" /><Relationship Type="http://schemas.openxmlformats.org/officeDocument/2006/relationships/slideLayout" Target="/ppt/slideLayouts/slideLayout20.xml" Id="Rcdad937737e94065" /><Relationship Type="http://schemas.openxmlformats.org/officeDocument/2006/relationships/slideLayout" Target="/ppt/slideLayouts/slideLayout21.xml" Id="Rbf31deea276a4d22" /><Relationship Type="http://schemas.openxmlformats.org/officeDocument/2006/relationships/slideLayout" Target="/ppt/slideLayouts/slideLayout22.xml" Id="R9321a132c8f340bf" /><Relationship Type="http://schemas.openxmlformats.org/officeDocument/2006/relationships/slideLayout" Target="/ppt/slideLayouts/slideLayout23.xml" Id="R09407354402b4106" /><Relationship Type="http://schemas.openxmlformats.org/officeDocument/2006/relationships/slideLayout" Target="/ppt/slideLayouts/slideLayout24.xml" Id="R919dc774cc95407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7B59E7C-1E77-41E5-AFCF-63DEA4FC0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41790C1-9535-4980-81DB-940CC2CA74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F23A2C2-DE6F-479F-BFC9-3693CDCE9D4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8964736-C1CC-4015-AA7F-E368A4A5425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B1ED3F0-91AF-40C0-98A0-0A80C337E0E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17a10b7c614d43"/>
    <p:sldLayoutId xmlns:r="http://schemas.openxmlformats.org/officeDocument/2006/relationships" id="2147483650" r:id="R59746bc8e36d4532"/>
    <p:sldLayoutId xmlns:r="http://schemas.openxmlformats.org/officeDocument/2006/relationships" id="2147483651" r:id="Rfe4d9f63ac154b67"/>
    <p:sldLayoutId xmlns:r="http://schemas.openxmlformats.org/officeDocument/2006/relationships" id="2147483652" r:id="Rb8ced90fe4924d59"/>
    <p:sldLayoutId xmlns:r="http://schemas.openxmlformats.org/officeDocument/2006/relationships" id="2147483653" r:id="R45821418d33d4de7"/>
    <p:sldLayoutId xmlns:r="http://schemas.openxmlformats.org/officeDocument/2006/relationships" id="2147483654" r:id="R16ae8c189b92435c"/>
    <p:sldLayoutId xmlns:r="http://schemas.openxmlformats.org/officeDocument/2006/relationships" id="2147483655" r:id="R2f51a62bf83b4073"/>
    <p:sldLayoutId xmlns:r="http://schemas.openxmlformats.org/officeDocument/2006/relationships" id="2147483656" r:id="R2a255f9df30d43a3"/>
    <p:sldLayoutId xmlns:r="http://schemas.openxmlformats.org/officeDocument/2006/relationships" id="2147483657" r:id="R4be5134098df44ce"/>
    <p:sldLayoutId xmlns:r="http://schemas.openxmlformats.org/officeDocument/2006/relationships" id="2147483658" r:id="Rdb55789b2bf043cc"/>
    <p:sldLayoutId xmlns:r="http://schemas.openxmlformats.org/officeDocument/2006/relationships" id="2147483659" r:id="Rd20cd695aa584d7e"/>
    <p:sldLayoutId xmlns:r="http://schemas.openxmlformats.org/officeDocument/2006/relationships" id="2147483660" r:id="R310bf7909aa0429e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BF62EB3-EB2D-46A7-94A3-1ADD5DD02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5AE7B63-5C39-4BC0-AEFD-E12AD77A6E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D51FC66-AD2C-4B17-AD96-FD0168A2DFA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04CB9E-002E-421A-A0D4-C5AEF4A9522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960C7B2-4087-426C-B4F2-4115C998FE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c431147613904f35"/>
    <p:sldLayoutId xmlns:r="http://schemas.openxmlformats.org/officeDocument/2006/relationships" id="2147483663" r:id="R29c366bdfc554b19"/>
    <p:sldLayoutId xmlns:r="http://schemas.openxmlformats.org/officeDocument/2006/relationships" id="2147483664" r:id="R3f1457a6420d4d71"/>
    <p:sldLayoutId xmlns:r="http://schemas.openxmlformats.org/officeDocument/2006/relationships" id="2147483665" r:id="R9f96d8eeee554c56"/>
    <p:sldLayoutId xmlns:r="http://schemas.openxmlformats.org/officeDocument/2006/relationships" id="2147483666" r:id="R8f806fa624bc4221"/>
    <p:sldLayoutId xmlns:r="http://schemas.openxmlformats.org/officeDocument/2006/relationships" id="2147483667" r:id="R4a7a93872897481f"/>
    <p:sldLayoutId xmlns:r="http://schemas.openxmlformats.org/officeDocument/2006/relationships" id="2147483668" r:id="R4782202249fa43db"/>
    <p:sldLayoutId xmlns:r="http://schemas.openxmlformats.org/officeDocument/2006/relationships" id="2147483669" r:id="Rcdad937737e94065"/>
    <p:sldLayoutId xmlns:r="http://schemas.openxmlformats.org/officeDocument/2006/relationships" id="2147483670" r:id="Rbf31deea276a4d22"/>
    <p:sldLayoutId xmlns:r="http://schemas.openxmlformats.org/officeDocument/2006/relationships" id="2147483671" r:id="R9321a132c8f340bf"/>
    <p:sldLayoutId xmlns:r="http://schemas.openxmlformats.org/officeDocument/2006/relationships" id="2147483672" r:id="R09407354402b4106"/>
    <p:sldLayoutId xmlns:r="http://schemas.openxmlformats.org/officeDocument/2006/relationships" id="2147483673" r:id="R919dc774cc954076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24f585ce2cc4f82" /><Relationship Type="http://schemas.openxmlformats.org/officeDocument/2006/relationships/image" Target="/ppt/media/image.png" Id="R96d0f19b7592460e" /><Relationship Type="http://schemas.openxmlformats.org/officeDocument/2006/relationships/image" Target="/ppt/media/image2.png" Id="R7dd630dbb13d4e45" /><Relationship Type="http://schemas.openxmlformats.org/officeDocument/2006/relationships/image" Target="/ppt/media/image3.png" Id="Rb1ea912381f7496b" /><Relationship Type="http://schemas.openxmlformats.org/officeDocument/2006/relationships/notesSlide" Target="/ppt/notesSlides/notesSlide1.xml" Id="R8e6882d30ee749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bf560f4c094e59" /><Relationship Type="http://schemas.openxmlformats.org/officeDocument/2006/relationships/image" Target="/ppt/media/image.png" Id="Rbfa122def13f49d8" /><Relationship Type="http://schemas.openxmlformats.org/officeDocument/2006/relationships/image" Target="/ppt/media/image2.png" Id="R35a40c66f7f449ee" /><Relationship Type="http://schemas.openxmlformats.org/officeDocument/2006/relationships/image" Target="/ppt/media/image3.png" Id="Re0b376367c59458e" /><Relationship Type="http://schemas.openxmlformats.org/officeDocument/2006/relationships/notesSlide" Target="/ppt/notesSlides/notesSlide2.xml" Id="Re7f2d08cf48a4e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91c0d049c04583" /><Relationship Type="http://schemas.openxmlformats.org/officeDocument/2006/relationships/image" Target="/ppt/media/image.png" Id="Ra4f718fb37c84aa8" /><Relationship Type="http://schemas.openxmlformats.org/officeDocument/2006/relationships/image" Target="/ppt/media/image2.png" Id="R7be04545fb0847ac" /><Relationship Type="http://schemas.openxmlformats.org/officeDocument/2006/relationships/image" Target="/ppt/media/image3.png" Id="R601848ce7c7049ed" /><Relationship Type="http://schemas.openxmlformats.org/officeDocument/2006/relationships/notesSlide" Target="/ppt/notesSlides/notesSlide3.xml" Id="R3221de2b828a42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6a5d3a5a6514d13" /><Relationship Type="http://schemas.openxmlformats.org/officeDocument/2006/relationships/image" Target="/ppt/media/image.png" Id="Rd146391d153c4123" /><Relationship Type="http://schemas.openxmlformats.org/officeDocument/2006/relationships/image" Target="/ppt/media/image2.png" Id="R99a1413f791f4b3a" /><Relationship Type="http://schemas.openxmlformats.org/officeDocument/2006/relationships/image" Target="/ppt/media/image3.png" Id="Rdb440730b80f4ca7" /><Relationship Type="http://schemas.openxmlformats.org/officeDocument/2006/relationships/notesSlide" Target="/ppt/notesSlides/notesSlide4.xml" Id="Rc78b1c081b4543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164b2eaf28242a1" /><Relationship Type="http://schemas.openxmlformats.org/officeDocument/2006/relationships/image" Target="/ppt/media/image.png" Id="R8ec5303e9d0a457b" /><Relationship Type="http://schemas.openxmlformats.org/officeDocument/2006/relationships/image" Target="/ppt/media/image2.png" Id="R1db6c857790249ba" /><Relationship Type="http://schemas.openxmlformats.org/officeDocument/2006/relationships/image" Target="/ppt/media/image3.png" Id="R9e536a3f13e14379" /><Relationship Type="http://schemas.openxmlformats.org/officeDocument/2006/relationships/notesSlide" Target="/ppt/notesSlides/notesSlide5.xml" Id="R65dfaf3df42547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a10634a94cc4f4d" /><Relationship Type="http://schemas.openxmlformats.org/officeDocument/2006/relationships/image" Target="/ppt/media/image.png" Id="R256b9f6d3e724c15" /><Relationship Type="http://schemas.openxmlformats.org/officeDocument/2006/relationships/image" Target="/ppt/media/image2.png" Id="Rdeaa5c18dca24cce" /><Relationship Type="http://schemas.openxmlformats.org/officeDocument/2006/relationships/image" Target="/ppt/media/image3.png" Id="R0155c9afe7894ed0" /><Relationship Type="http://schemas.openxmlformats.org/officeDocument/2006/relationships/notesSlide" Target="/ppt/notesSlides/notesSlide6.xml" Id="R2d46896c151f42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5e81bb8f3d4cbf" /><Relationship Type="http://schemas.openxmlformats.org/officeDocument/2006/relationships/image" Target="/ppt/media/image.png" Id="Rd35b49494a6442f3" /><Relationship Type="http://schemas.openxmlformats.org/officeDocument/2006/relationships/image" Target="/ppt/media/image2.png" Id="R72c0d64c9f224097" /><Relationship Type="http://schemas.openxmlformats.org/officeDocument/2006/relationships/image" Target="/ppt/media/image3.png" Id="R807a3a874905481c" /><Relationship Type="http://schemas.openxmlformats.org/officeDocument/2006/relationships/image" Target="/ppt/media/image.jpeg" Id="R2349c703f03d4dbd" /><Relationship Type="http://schemas.openxmlformats.org/officeDocument/2006/relationships/notesSlide" Target="/ppt/notesSlides/notesSlide7.xml" Id="Ree03014cab0645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9ed1869383242b1" /><Relationship Type="http://schemas.openxmlformats.org/officeDocument/2006/relationships/image" Target="/ppt/media/image.png" Id="Rfc1d51201b8e42b8" /><Relationship Type="http://schemas.openxmlformats.org/officeDocument/2006/relationships/image" Target="/ppt/media/image2.png" Id="R3e729a79c7b1468b" /><Relationship Type="http://schemas.openxmlformats.org/officeDocument/2006/relationships/image" Target="/ppt/media/image3.png" Id="Rfd821ddb3fb84f66" /><Relationship Type="http://schemas.openxmlformats.org/officeDocument/2006/relationships/notesSlide" Target="/ppt/notesSlides/notesSlide8.xml" Id="R1fe411ea8d0e45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1cbe382345b44e27" /><Relationship Type="http://schemas.openxmlformats.org/officeDocument/2006/relationships/image" Target="/ppt/media/image.png" Id="Rcfd4ca491e094b2a" /><Relationship Type="http://schemas.openxmlformats.org/officeDocument/2006/relationships/image" Target="/ppt/media/image2.png" Id="Rfc9c8587322d4be5" /><Relationship Type="http://schemas.openxmlformats.org/officeDocument/2006/relationships/image" Target="/ppt/media/image3.png" Id="Re912cdb0f4b240db" /><Relationship Type="http://schemas.openxmlformats.org/officeDocument/2006/relationships/image" Target="/ppt/media/image4.png" Id="R1feb9f1e283d421a" /><Relationship Type="http://schemas.openxmlformats.org/officeDocument/2006/relationships/notesSlide" Target="/ppt/notesSlides/notesSlide9.xml" Id="R2d64435b70c643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fcae6b4e560c475b" /><Relationship Type="http://schemas.openxmlformats.org/officeDocument/2006/relationships/image" Target="/ppt/media/image.png" Id="Rf61695fbc307449a" /><Relationship Type="http://schemas.openxmlformats.org/officeDocument/2006/relationships/image" Target="/ppt/media/image2.png" Id="Rb0c0497e60d340e2" /><Relationship Type="http://schemas.openxmlformats.org/officeDocument/2006/relationships/image" Target="/ppt/media/image3.png" Id="R3b9c2f52c8e44d63" /><Relationship Type="http://schemas.openxmlformats.org/officeDocument/2006/relationships/image" Target="/ppt/media/image5.png" Id="R8050cde0f23941a6" /><Relationship Type="http://schemas.openxmlformats.org/officeDocument/2006/relationships/notesSlide" Target="/ppt/notesSlides/notesSlide10.xml" Id="Rdb4f69472a2146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fe395c513ab4e2f" /><Relationship Type="http://schemas.openxmlformats.org/officeDocument/2006/relationships/image" Target="/ppt/media/image.png" Id="Rdc54111cc38742c8" /><Relationship Type="http://schemas.openxmlformats.org/officeDocument/2006/relationships/image" Target="/ppt/media/image2.png" Id="Ra381095037484b8f" /><Relationship Type="http://schemas.openxmlformats.org/officeDocument/2006/relationships/image" Target="/ppt/media/image3.png" Id="R2aa026fb3bc44fa2" /><Relationship Type="http://schemas.openxmlformats.org/officeDocument/2006/relationships/notesSlide" Target="/ppt/notesSlides/notesSlide11.xml" Id="R9b83bee3d47d46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8f0aac694ef4c95" /><Relationship Type="http://schemas.openxmlformats.org/officeDocument/2006/relationships/image" Target="/ppt/media/image.png" Id="Rbd3a95aaa72a4847" /><Relationship Type="http://schemas.openxmlformats.org/officeDocument/2006/relationships/image" Target="/ppt/media/image2.png" Id="R9f811d78e2c1428b" /><Relationship Type="http://schemas.openxmlformats.org/officeDocument/2006/relationships/image" Target="/ppt/media/image3.png" Id="Rcfc711391fa7478c" /><Relationship Type="http://schemas.openxmlformats.org/officeDocument/2006/relationships/notesSlide" Target="/ppt/notesSlides/notesSlide12.xml" Id="R7ea8cfbccb4f4e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be5098f2e8d49c1" /><Relationship Type="http://schemas.openxmlformats.org/officeDocument/2006/relationships/image" Target="/ppt/media/image.png" Id="R065df0ca0e334c42" /><Relationship Type="http://schemas.openxmlformats.org/officeDocument/2006/relationships/image" Target="/ppt/media/image2.png" Id="Rbd557c03dd964e30" /><Relationship Type="http://schemas.openxmlformats.org/officeDocument/2006/relationships/image" Target="/ppt/media/image3.png" Id="R454574394c5b4e28" /><Relationship Type="http://schemas.openxmlformats.org/officeDocument/2006/relationships/notesSlide" Target="/ppt/notesSlides/notesSlide13.xml" Id="R5522d86298664d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110bd206354ec1" /><Relationship Type="http://schemas.openxmlformats.org/officeDocument/2006/relationships/image" Target="/ppt/media/image.png" Id="Re157ccf1930c4723" /><Relationship Type="http://schemas.openxmlformats.org/officeDocument/2006/relationships/image" Target="/ppt/media/image2.png" Id="R7dabb857df514eb0" /><Relationship Type="http://schemas.openxmlformats.org/officeDocument/2006/relationships/image" Target="/ppt/media/image3.png" Id="Rbb6c76c01ba14759" /><Relationship Type="http://schemas.openxmlformats.org/officeDocument/2006/relationships/notesSlide" Target="/ppt/notesSlides/notesSlide14.xml" Id="R38a600a4283d4b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b164ddbec934efa" /><Relationship Type="http://schemas.openxmlformats.org/officeDocument/2006/relationships/image" Target="/ppt/media/image.png" Id="R6df6eabfcd244485" /><Relationship Type="http://schemas.openxmlformats.org/officeDocument/2006/relationships/image" Target="/ppt/media/image2.png" Id="R6fdab0a899144d57" /><Relationship Type="http://schemas.openxmlformats.org/officeDocument/2006/relationships/image" Target="/ppt/media/image3.png" Id="R30e0c4f512744006" /><Relationship Type="http://schemas.openxmlformats.org/officeDocument/2006/relationships/image" Target="/ppt/media/image6.png" Id="Rfa9bf77c47f24978" /><Relationship Type="http://schemas.openxmlformats.org/officeDocument/2006/relationships/image" Target="/ppt/media/image7.png" Id="R2bb98044e14b4464" /><Relationship Type="http://schemas.openxmlformats.org/officeDocument/2006/relationships/notesSlide" Target="/ppt/notesSlides/notesSlide15.xml" Id="R8fe7f015f7524e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cb437aa2d844a51" /><Relationship Type="http://schemas.openxmlformats.org/officeDocument/2006/relationships/image" Target="/ppt/media/image.png" Id="R2b863f384ac04c03" /><Relationship Type="http://schemas.openxmlformats.org/officeDocument/2006/relationships/image" Target="/ppt/media/image2.png" Id="Rb0a741e2c7f44d88" /><Relationship Type="http://schemas.openxmlformats.org/officeDocument/2006/relationships/image" Target="/ppt/media/image3.png" Id="R64fe8ada7a3d4a6a" /><Relationship Type="http://schemas.openxmlformats.org/officeDocument/2006/relationships/notesSlide" Target="/ppt/notesSlides/notesSlide16.xml" Id="R4d4c716a4b864f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dc20f1d7bf545cd" /><Relationship Type="http://schemas.openxmlformats.org/officeDocument/2006/relationships/image" Target="/ppt/media/image.png" Id="R6088f92392c94dff" /><Relationship Type="http://schemas.openxmlformats.org/officeDocument/2006/relationships/image" Target="/ppt/media/image2.png" Id="Rdc10dc0fa066421d" /><Relationship Type="http://schemas.openxmlformats.org/officeDocument/2006/relationships/image" Target="/ppt/media/image3.png" Id="R23e28aef14f341b7" /><Relationship Type="http://schemas.openxmlformats.org/officeDocument/2006/relationships/notesSlide" Target="/ppt/notesSlides/notesSlide17.xml" Id="R4630485bc31448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7f44af64e2244e9" /><Relationship Type="http://schemas.openxmlformats.org/officeDocument/2006/relationships/image" Target="/ppt/media/image.png" Id="Rb62456b4294f4fd9" /><Relationship Type="http://schemas.openxmlformats.org/officeDocument/2006/relationships/image" Target="/ppt/media/image2.png" Id="R81400e9754d94277" /><Relationship Type="http://schemas.openxmlformats.org/officeDocument/2006/relationships/image" Target="/ppt/media/image3.png" Id="R5d41159713e14522" /><Relationship Type="http://schemas.openxmlformats.org/officeDocument/2006/relationships/notesSlide" Target="/ppt/notesSlides/notesSlide18.xml" Id="R78e12e80aa2349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86ae019aa74f6d" /><Relationship Type="http://schemas.openxmlformats.org/officeDocument/2006/relationships/image" Target="/ppt/media/image.png" Id="R3fcdfc409a384014" /><Relationship Type="http://schemas.openxmlformats.org/officeDocument/2006/relationships/image" Target="/ppt/media/image2.png" Id="Rf49c91239f534609" /><Relationship Type="http://schemas.openxmlformats.org/officeDocument/2006/relationships/image" Target="/ppt/media/image3.png" Id="Re7806ee35e384ae1" /><Relationship Type="http://schemas.openxmlformats.org/officeDocument/2006/relationships/image" Target="/ppt/media/image8.png" Id="R32bd0e3933ed41cc" /><Relationship Type="http://schemas.openxmlformats.org/officeDocument/2006/relationships/notesSlide" Target="/ppt/notesSlides/notesSlide19.xml" Id="R2d6de704af5646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AEAD441-3085-4D6C-92A9-48C5F976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7" y="1652137"/>
            <a:ext cx="9929546" cy="131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Semester Report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潍柴订单分拣智能调度项目学期汇报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D21B0E4-3981-4557-8595-D3FEACF8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06635"/>
            <a:ext cx="12192000" cy="751365"/>
          </a:xfrm>
          <a:custGeom xmlns:a="http://schemas.openxmlformats.org/drawingml/2006/main">
            <a:rect l="l" t="t" r="r" b="b"/>
            <a:pathLst>
              <a:path w="9144000" h="374633">
                <a:moveTo>
                  <a:pt x="0" y="158633"/>
                </a:moveTo>
                <a:cubicBezTo>
                  <a:pt x="4165456" y="-109488"/>
                  <a:pt x="5852160" y="12329"/>
                  <a:pt x="9144000" y="158633"/>
                </a:cubicBezTo>
                <a:lnTo>
                  <a:pt x="9144000" y="374633"/>
                </a:lnTo>
                <a:lnTo>
                  <a:pt x="0" y="374633"/>
                </a:lnTo>
                <a:lnTo>
                  <a:pt x="0" y="158633"/>
                </a:lnTo>
                <a:close/>
              </a:path>
            </a:pathLst>
          </a:custGeom>
          <a:solidFill xmlns:a="http://schemas.openxmlformats.org/drawingml/2006/main">
            <a:srgbClr val="306A9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BCE3FB9-FD5B-4F3C-8AC1-4C18E0A0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0f19b759246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9929" y="226764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630dbb13d4e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107" y="247544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a912381f749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2601" y="92822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AC8711CA-C3E7-490A-A0D7-90C37602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557" y="3525011"/>
            <a:ext cx="954567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2DB31FA-1F6A-498F-A49B-B1BFA788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93" y="3826303"/>
            <a:ext cx="3290153" cy="1078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135"/>
              <a:t>汇报人：</a:t>
            </a:r>
            <a:r>
              <a:rPr sz="2135"/>
              <a:t>王志豪</a:t>
            </a:r>
          </a:p>
          <a:p xmlns:a="http://schemas.openxmlformats.org/drawingml/2006/main">
            <a:r>
              <a:rPr sz="2135"/>
              <a:t>指导老师：</a:t>
            </a:r>
            <a:r>
              <a:rPr sz="2135"/>
              <a:t>张利国</a:t>
            </a:r>
          </a:p>
          <a:p xmlns:a="http://schemas.openxmlformats.org/drawingml/2006/main">
            <a:r>
              <a:rPr sz="2135"/>
              <a:t>日期：2026.07</a:t>
            </a:r>
          </a:p>
        </p:txBody>
      </p:sp>
    </p:spTree>
    <p:extLst>
      <p:ext uri="{BB962C8B-B14F-4D97-AF65-F5344CB8AC3E}">
        <p14:creationId xmlns:p14="http://schemas.microsoft.com/office/powerpoint/2010/main" val="20995181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C860ADC2-C372-4EFC-8F8A-478ED72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2BC266C-685D-441A-9FFE-1F16A7A3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43AE507-CBA6-4DDA-A2A5-26F31A83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122def13f49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40c66f7f449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376367c5945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09A772B2-06D2-44A0-BAC2-6F376D61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308AC19D-A29F-40B4-A728-04A34417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2B154B9-C694-4FC8-B4F3-7D6AB52D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C8523461-F946-41FE-A440-1D2EC27A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3567872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55824DD-9629-4520-95A2-1FB50C6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3309170"/>
            <a:ext cx="2354042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C71DA805-17FB-4DE1-8C8D-F1075235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1A0D5E2-4E22-4796-B545-82ED3D67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75629976-24C6-4B74-9692-EC12B816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4618408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7D07AC3-E56A-4212-B2CC-236BB66D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4359706"/>
            <a:ext cx="2354040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方法求解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8AFF0E22-FD6D-4C4F-83C1-1A3CE81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D52696C-E32D-42AD-BF4D-8B9339F0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Part5 实验分析</a:t>
            </a:r>
          </a:p>
        </p:txBody>
      </p:sp>
      <p:sp>
        <p:nvSpPr>
          <p:cNvPr id="2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5291AF1A-ED22-418E-A811-B1B8156C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9565" y="5668943"/>
            <a:ext cx="445881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CA17B30-3E42-4BEA-8001-FACAC038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45" y="5410241"/>
            <a:ext cx="2320379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总结与展望 Part6</a:t>
            </a:r>
          </a:p>
        </p:txBody>
      </p:sp>
    </p:spTree>
    <p:extLst>
      <p:ext uri="{BB962C8B-B14F-4D97-AF65-F5344CB8AC3E}">
        <p14:creationId xmlns:p14="http://schemas.microsoft.com/office/powerpoint/2010/main" val="13797107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EA9192D-A815-4E88-920F-C4A9F05C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C9957CE-7818-476B-AF54-83DFED24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76AB9322-B7D7-442B-BBE8-3B12B358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718fb37c84a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04545fb0847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848ce7c7049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FEA59713-110A-4287-B143-1603444C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C1719B64-F30E-4BD4-8B15-C5A7A403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6F6570A-B3C4-4467-859E-DC8BA5E3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</p:spTree>
    <p:extLst>
      <p:ext uri="{BB962C8B-B14F-4D97-AF65-F5344CB8AC3E}">
        <p14:creationId xmlns:p14="http://schemas.microsoft.com/office/powerpoint/2010/main" val="7678768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D057CDC-BF3A-4DF6-B75B-B59EB0B0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6391d153c41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1413f791f4b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40730b80f4c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CEF1B080-D483-4818-B66B-90E4C298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90867" cy="341104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3A2E965-88AC-4B50-8E71-4A7F4AC4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572750" cy="50673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研究意义：将经验分配转化为可仿真、可验证、可接口化调用的调度能力，降低站台拥堵和库存等待。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3198423-37E2-41A5-935F-626B6D1D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" y="1827530"/>
            <a:ext cx="9989820" cy="3861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spcAft>
                <a:spcPts val="600"/>
              </a:spcAft>
              <a:buClrTx/>
              <a:buSzTx/>
              <a:buFontTx/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       </a:t>
            </a:r>
            <a:r>
              <a:rPr sz="1600">
                <a:latin typeface="微软雅黑"/>
                <a:ea typeface="微软雅黑"/>
                <a:cs typeface="微软雅黑"/>
              </a:rPr>
              <a:t>随着制造企业订单类型和生产节奏不断变化，仓储与分拣环节面临越来越明显的动态调度压力。以潍柴订单分拣场景为例，订单通常包含多个 SKU、不同数量和不同处理时间，分拣站台数量有限，且现场还受到库存状态、站台负载、排队等待、物料搬运距离等因素影响。传统依赖人工经验或固定规则的分配方式，在订单波动较大、物料结构复杂、资源状态实时变化的情况下，容易出现站台忙闲不均、局部拥堵、订单等待时间较长、整体完工效率不稳定等问题。</a:t>
            </a:r>
          </a:p>
          <a:p xmlns:a="http://schemas.openxmlformats.org/drawingml/2006/main">
            <a:pPr algn="l">
              <a:lnSpc>
                <a:spcPct val="150000"/>
              </a:lnSpc>
              <a:spcAft>
                <a:spcPts val="600"/>
              </a:spcAft>
              <a:buClrTx/>
              <a:buSzTx/>
              <a:buFontTx/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       </a:t>
            </a:r>
            <a:r>
              <a:rPr sz="1600">
                <a:latin typeface="微软雅黑"/>
                <a:ea typeface="微软雅黑"/>
                <a:cs typeface="微软雅黑"/>
              </a:rPr>
              <a:t>因此，如何将订单、SKU 工时、库存快照、站台资源等业务数据转化为可计算、可仿真、可验证的调度模型，成为提升分拣效率的重要问题。本项目围绕潍柴订单分拣业务，研究基于强化学习的智能调度方法，并结合离散事件仿真、数据库管理、后端服务和前端可视化，构建订单分拣智能调度与数字孪生仿真系统。项目旨在通过智能算法实现订单到站台的合理分配，减少站台拥堵和库存等待，提高订单分拣效率，并为实际业务场景中的调度优化和系统落地提供可验证的技术路径。</a:t>
            </a:r>
          </a:p>
        </p:txBody>
      </p:sp>
    </p:spTree>
    <p:extLst>
      <p:ext uri="{BB962C8B-B14F-4D97-AF65-F5344CB8AC3E}">
        <p14:creationId xmlns:p14="http://schemas.microsoft.com/office/powerpoint/2010/main" val="7671937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8FD3A2F-6600-4817-AEB3-83680E4B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5303e9d0a45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6c857790249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36a3f13e143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22B23E6E-50F8-447F-B47D-9FBC72D6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90867" cy="341104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3E1860C-B685-427C-BB55-28DC5578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353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我本学期的学习任务本身就是项目落地的一部分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434D7F-42AF-4CDA-83F5-8A3B25FD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073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B5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5B5B"/>
                </a:solidFill>
                <a:latin typeface="微软雅黑"/>
                <a:ea typeface="微软雅黑"/>
                <a:cs typeface="微软雅黑"/>
              </a:rPr>
              <a:t>从基础概念补齐，到能解释每个模块为什么存在、怎样验证。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DCF979-9FF8-4F8D-BA41-97D0DB07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577B07B-BB9D-49E5-8C5E-995A1EA6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强化学习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6C77294-315E-4191-A46D-C3716359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环境、动作、奖励、PPO、动作掩码、checkpoint 选择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4B420EE-88C1-4182-899B-ABA7738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16E280E-65E7-46AF-AC56-242C2C8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数据与数据库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C19A9F6-1F93-441A-9FAD-F5F018F8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Excel 清洗、SKU 工时、库存快照、MySQL 表结构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5CB97FD-F909-4C24-9A0F-738BD65E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14EF095-C182-4EFB-94B9-21C9EE92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后端服务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B56864A-9702-432B-9ECD-63C18AD9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FastAPI 接口、订单导入、仿真任务、状态轮询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C789CCD-BDAE-4DC8-8B19-7AFE80F6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837578D-A7B1-4454-B329-36C83A8F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前端展示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40BB173-2AEF-4FA3-8991-EB3394F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Vue + Three.js 的订单进度、站台状态和3D动画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5F8C5A8-5E17-40B0-94A5-6F08A30E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BEC9EE2-C951-4976-BB99-4AEEF979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005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落地验证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1842CD5-8A22-4B3B-A534-6F6A2A95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历史回放、库存等待、站台工时效率等业务指标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4CB8713-4BB5-4670-B8BB-89433E8E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C7ABBFB-3B9C-45F8-A068-8127AB29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4177665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汇报重点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C82EAE8-62A9-4B26-9BC8-11FEE501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48175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项目做了什么。</a:t>
            </a:r>
          </a:p>
        </p:txBody>
      </p:sp>
    </p:spTree>
    <p:extLst>
      <p:ext uri="{BB962C8B-B14F-4D97-AF65-F5344CB8AC3E}">
        <p14:creationId xmlns:p14="http://schemas.microsoft.com/office/powerpoint/2010/main" val="11845730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A343D4F6-F6E5-4158-A163-95C24609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F95C194-920E-4AD3-AE97-532E1B4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A53F35E-42F4-4C0F-BCDD-35FF216A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b9f6d3e724c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a5c18dca24c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5c9afe7894e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66AFBA31-5E61-48AF-BC4E-6D429C28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CB34BE62-54C1-45DF-83F9-6B181BDE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0ECE183-F4D1-4EC0-AE56-907EC6EA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14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34E0FDD1-D789-4312-9194-8A60962F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3567872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04B57C1-5253-4AC5-BC32-9C6314E8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3309170"/>
            <a:ext cx="2354042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</p:spTree>
    <p:extLst>
      <p:ext uri="{BB962C8B-B14F-4D97-AF65-F5344CB8AC3E}">
        <p14:creationId xmlns:p14="http://schemas.microsoft.com/office/powerpoint/2010/main" val="2211186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7ED6A4-4233-4DB4-BE3B-0049A359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b49494a6442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0d64c9f2240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a3a87490548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9FB3DAF8-1872-432E-9E8D-7D835353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49" y="1089957"/>
            <a:ext cx="1299028" cy="327998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问题描述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85962F9-8FDF-47B9-A251-720D7B61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05" y="2468880"/>
            <a:ext cx="10470515" cy="1753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要解决的不是单一算法题，而是带约束的生产调度问题。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订单包含 SKU、数量和处理时间；站台数量有限，存在排队与拥堵。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库存快照决定订单是否可执行，缺料订单需要进入异常队列。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目标是在业务约束下，让分配更均衡、完工时间更短、系统运行更稳定。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EE26DF8-E3F3-4ADB-B146-4FFC0DB8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2710180"/>
            <a:ext cx="2595245" cy="4147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6274E89-0BF9-4290-B0A5-C3CAC64E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33650"/>
            <a:ext cx="8975090" cy="4323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AA16007-C226-4720-934A-FA00F5C1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3871595"/>
            <a:ext cx="2097405" cy="232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1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在给定工作时长内如何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优化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需启用的最少站台？</a:t>
            </a:r>
          </a:p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2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在给定站台情况下如何将订单分配到不同站台？</a:t>
            </a:r>
          </a:p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3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在每个站台如何优化订单处理顺序？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C5E3968-DE1B-40A6-9208-77BC619F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5" y="1535430"/>
            <a:ext cx="1094549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/>
              <a:buChar char="n"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订单分拣调度</a:t>
            </a:r>
          </a:p>
          <a:p xmlns:a="http://schemas.openxmlformats.org/drawingml/2006/main">
            <a:pPr>
              <a:lnSpc>
                <a:spcPct val="120000"/>
              </a:lnSpc>
              <a:buClr>
                <a:srgbClr val="1F497D"/>
              </a:buClr>
              <a:buNone/>
            </a:pPr>
            <a:r>
              <a:rPr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     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生产系统下发一批需在当日完成的订单，每个订单包含多种零件拣选需求。仓库调度对应物料箱通过传送带送至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16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个站台之一，工人完成拣选后物料箱立即返回仓库。站台缓冲区最多可存放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8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个物料箱，且一次只能处理一个订单，物料箱到达节奏与站台订单分配将直接影响整体工作效率。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3B2ECE9-F9F5-49D5-A888-CEE79DB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2806065"/>
            <a:ext cx="2139315" cy="13093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/>
              <a:buChar char="n"/>
            </a:pPr>
            <a:r>
              <a:rPr b="1">
                <a:latin typeface="微软雅黑"/>
                <a:ea typeface="微软雅黑"/>
                <a:cs typeface="微软雅黑"/>
              </a:rPr>
              <a:t>优化问题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None/>
            </a:pPr>
            <a:r>
              <a:rPr sz="1400">
                <a:latin typeface="微软雅黑"/>
                <a:ea typeface="微软雅黑"/>
                <a:cs typeface="微软雅黑"/>
              </a:rPr>
              <a:t>在给定工作时长中，对订单分拣过程进行整体优化决策。</a:t>
            </a:r>
          </a:p>
        </p:txBody>
      </p:sp>
      <p:pic>
        <p:nvPicPr>
          <p:cNvPr id="5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9c703f03d4d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4475" y="2710180"/>
            <a:ext cx="8800465" cy="3667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430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EF2AD1D2-31FB-4218-BEC0-36ADF14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7EFBE4D-B173-44A2-B945-63074139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FECF4CF-D2FC-40DD-B38D-01F1D6A6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d51201b8e42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29a79c7b146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21ddb3fb84f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F4A4DD0C-317A-4E35-AAB6-9F275859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1C60953E-F1A0-484A-B1BA-74DEFD89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CF951D7-954D-40E4-A091-3807062E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6333287-D6DF-42C6-B34A-8A852393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BE1FB79-2F87-4DAA-A2BD-D13364A9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2DC6E085-4779-4373-806E-9E9EA517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0DEB580-6307-4EFA-AB2E-0F1911EF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</p:spTree>
    <p:extLst>
      <p:ext uri="{BB962C8B-B14F-4D97-AF65-F5344CB8AC3E}">
        <p14:creationId xmlns:p14="http://schemas.microsoft.com/office/powerpoint/2010/main" val="17598332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BE75DB8-34E9-4717-B5F3-E5582F7B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4ca491e094b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c8587322d4b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2cdb0f4b240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4C96FDB1-164D-4828-98FD-421577B4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</a:t>
            </a: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pic>
        <p:nvPicPr>
          <p:cNvPr id="3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b9f1e283d42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3055" y="1489710"/>
            <a:ext cx="9025255" cy="4918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437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EF45439-CEBF-4B01-B451-FCA17DB7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695fbc30744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0497e60d340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c2f52c8e44d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A2F5570-3EBA-4BC4-9B0A-919B5F65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" y="1661795"/>
            <a:ext cx="3690620" cy="3904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/>
                <a:ea typeface="微软雅黑"/>
                <a:cs typeface="微软雅黑"/>
              </a:rPr>
              <a:t>1.</a:t>
            </a: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数据侧：Excel 拣选记录、SKU 标准工时、库存快照、订单波次入库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2. 算法侧：Maskable PPO 强化学习调度，结合 SimPy 离散事件仿真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3. 系统侧：FastAPI 后端、MySQL 数据库、Vue + Three.js 前端可视化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699F6BCF-6185-4E44-A747-573D4A0B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</a:t>
            </a: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921B4D36-A875-4231-B5B3-B21E7042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55" y="6096635"/>
            <a:ext cx="1057973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重点不只是训练模型，而是把“模型能不能用”拆成数据准备、规则约束、接口联调和效率验证四个环节。</a:t>
            </a:r>
          </a:p>
        </p:txBody>
      </p:sp>
      <p:pic>
        <p:nvPicPr>
          <p:cNvPr id="35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0cde0f239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5235" y="1070610"/>
            <a:ext cx="8100695" cy="49637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010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74EEC53-973D-4B5C-A6B5-21460A7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D2A073A-3185-457B-A36E-9F457B70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24A83A5-D67B-4525-975B-D9D97650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4111cc38742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1095037484b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026fb3bc44f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03DB3BF9-C9E3-46A3-A953-12CA11A7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2519A00F-AC7B-4531-9958-5DF8D18C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B0BF878F-59C2-4B18-BA37-3631B25B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14790C7F-3DA4-4AAF-882A-CFB1B29A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B26BBDA-3683-41F3-A1C8-58439BC9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4000A837-172E-4FC0-82D8-CE1A295B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3B35226-B7B2-4D8B-84B4-49E21AC0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CF01DF71-2867-45EF-B836-2CEC2372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8" y="4618406"/>
            <a:ext cx="474778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322F2A3-26E9-42BC-911E-55C8FD1F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86" y="4359703"/>
            <a:ext cx="240590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方法求解 Part4</a:t>
            </a:r>
          </a:p>
        </p:txBody>
      </p:sp>
    </p:spTree>
    <p:extLst>
      <p:ext uri="{BB962C8B-B14F-4D97-AF65-F5344CB8AC3E}">
        <p14:creationId xmlns:p14="http://schemas.microsoft.com/office/powerpoint/2010/main" val="14155005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82647EB-5228-430B-82F7-C04759E3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a95aaa72a48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11d78e2c142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711391fa747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2BAA3845-A7E4-468E-9643-D26C5C3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27" name="route-main-copy">
            <a:extLst xmlns:a="http://schemas.openxmlformats.org/drawingml/2006/main">
              <a:ext uri="{FF2B5EF4-FFF2-40B4-BE49-F238E27FC236}">
                <a16:creationId xmlns:a16="http://schemas.microsoft.com/office/drawing/2014/main" id="{D21C794F-092D-4F95-AE76-80B836F4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953000" cy="2437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技术路线：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订单导入 -&gt; SKU 工时重建 -&gt; 库存预处理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AI 调度 -&gt; SimPy 仿真 -&gt; 前端 3D 播放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方法选择：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PPO 学习订单到站台的长期收益；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动作掩码避免非法分配；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整批 makespan 奖励约束最终效率。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497C7E-E029-4D17-9A9A-7D4BE1C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FD66B-5366-4585-923B-4A60BFC2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强化学习把调度问题表述为“状态-动作-反馈”的序贯决策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3C979-50CE-4E1A-8D1B-647E1CF1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理论基础：MDP、PPO 与优势函数估计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17B51-B8A3-436E-9213-04A2309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C0BC1-20EF-4E7A-BFF1-E1AF565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马尔可夫决策过程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82CD9A-838B-41E8-8A02-379FC82C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1F1F"/>
                </a:solidFill>
              </a:defRPr>
            </a:pPr>
            <a:r>
              <a:rPr sz="1875" b="1">
                <a:solidFill>
                  <a:srgbClr val="1F1F1F"/>
                </a:solidFill>
              </a:rPr>
              <a:t>𝓜 = ⟨ 𝓢, 𝓐, 𝓟, 𝓡, γ 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EAE4EF-62B6-4C8F-9ECE-FB926BC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423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4A4A4A"/>
                </a:solidFill>
              </a:defRPr>
            </a:pPr>
            <a:r>
              <a:rPr sz="1163">
                <a:solidFill>
                  <a:srgbClr val="4A4A4A"/>
                </a:solidFill>
              </a:rPr>
              <a:t>目标：学习策略 πθ(a|s)，最大化累计折扣回报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DF3686-1C75-460C-B58C-07554035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71920"/>
                </a:solidFill>
              </a:defRPr>
            </a:pPr>
            <a:r>
              <a:rPr sz="1575" b="1">
                <a:solidFill>
                  <a:srgbClr val="D71920"/>
                </a:solidFill>
              </a:rPr>
              <a:t>J(θ) = E [ Σₜ γᵗ rₜ 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FADF5-CFEE-4F46-BBE6-CEB91D70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状态 S：订单队列、站台负载、缓冲区、库存；动作 A：选择目标站台；转移 P：仿真推进后的队列变化；奖励 R：效率与约束反馈。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AB3AED-9587-4A7B-9842-0297DD75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这里的关键是：一次站台选择会影响后续排队和整批完工时间，所以目标不是局部最空，而是长期累计回报。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044E5F-951A-4D18-BFDF-58E22BD9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66950"/>
            <a:ext cx="5334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2AA527-77F2-44F8-BB8C-57F040A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PPO：剪切代理目标函数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2F0064-C408-4318-A521-CA0D7764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</a:defRPr>
            </a:pPr>
            <a:r>
              <a:rPr sz="1275" b="1">
                <a:solidFill>
                  <a:srgbClr val="1F1F1F"/>
                </a:solidFill>
              </a:rPr>
              <a:t>ρₜ(θ) = πθ(aₜ|sₜ) / πθold(aₜ|sₜ)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188256-C9D1-42AC-B27F-BB5ED54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Lclip(θ) = Eₜ [ min( ρₜ(θ) Âₜ, clip(ρₜ(θ), 1−ε, 1+ε) Âₜ ) 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DE1B09-BB7A-419C-9E19-54043FC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GAE 优势估计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253B1D-F7EE-4906-8C03-CB72B59B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Âₜ = δₜ + (γλ)δₜ₊₁ + (γλ)²δₜ₊₂ + ···</a:t>
            </a:r>
          </a:p>
          <a:p xmlns:a="http://schemas.openxmlformats.org/drawingml/2006/main">
            <a:pPr algn="ctr"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δₜ = rₜ + γV(sₜ₊₁) − V(sₜ)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7F0A33-D0EC-407C-B85F-18620918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含义：ρₜ控制新旧策略更新幅度，Âₜ衡量当前动作相对基准策略的优劣，避免训练过程大幅震荡。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6F443B-4D9D-44AE-9A58-9BD1A74F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4F73"/>
                </a:solidFill>
              </a:defRPr>
            </a:pPr>
            <a:r>
              <a:rPr sz="1500" b="1">
                <a:solidFill>
                  <a:srgbClr val="1F4F73"/>
                </a:solidFill>
              </a:rPr>
              <a:t>算法逻辑：采样轨迹 -&gt; 估计优势 -&gt; 剪切更新 -&gt; 重新仿真评估</a:t>
            </a:r>
          </a:p>
        </p:txBody>
      </p:sp>
    </p:spTree>
    <p:extLst>
      <p:ext uri="{BB962C8B-B14F-4D97-AF65-F5344CB8AC3E}">
        <p14:creationId xmlns:p14="http://schemas.microsoft.com/office/powerpoint/2010/main" val="30067246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82647EB-5228-430B-82F7-C04759E3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df0ca0e334c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57c03dd964e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574394c5b4e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2BAA3845-A7E4-468E-9643-D26C5C3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27" name="route-main-copy">
            <a:extLst xmlns:a="http://schemas.openxmlformats.org/drawingml/2006/main">
              <a:ext uri="{FF2B5EF4-FFF2-40B4-BE49-F238E27FC236}">
                <a16:creationId xmlns:a16="http://schemas.microsoft.com/office/drawing/2014/main" id="{D21C794F-092D-4F95-AE76-80B836F4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953000" cy="2437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技术路线：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订单导入 -&gt; SKU 工时重建 -&gt; 库存预处理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AI 调度 -&gt; SimPy 仿真 -&gt; 前端 3D 播放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方法选择：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PPO 学习订单到站台的长期收益；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动作掩码避免非法分配；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整批 makespan 奖励约束最终效率。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497C7E-E029-4D17-9A9A-7D4BE1C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FD66B-5366-4585-923B-4A60BFC2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强化学习把调度问题表述为“状态-动作-反馈”的序贯决策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A3C979-50CE-4E1A-8D1B-647E1CF1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理论基础：MDP、PPO 与优势函数估计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17B51-B8A3-436E-9213-04A2309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C0BC1-20EF-4E7A-BFF1-E1AF565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马尔可夫决策过程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82CD9A-838B-41E8-8A02-379FC82C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1F1F"/>
                </a:solidFill>
              </a:defRPr>
            </a:pPr>
            <a:r>
              <a:rPr sz="1875" b="1">
                <a:solidFill>
                  <a:srgbClr val="1F1F1F"/>
                </a:solidFill>
              </a:rPr>
              <a:t>𝓜 = ⟨ 𝓢, 𝓐, 𝓟, 𝓡, γ 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EAE4EF-62B6-4C8F-9ECE-FB926BCB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423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4A4A4A"/>
                </a:solidFill>
              </a:defRPr>
            </a:pPr>
            <a:r>
              <a:rPr sz="1163">
                <a:solidFill>
                  <a:srgbClr val="4A4A4A"/>
                </a:solidFill>
              </a:rPr>
              <a:t>目标：学习策略 πθ(a|s)，最大化累计折扣回报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DF3686-1C75-460C-B58C-07554035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71920"/>
                </a:solidFill>
              </a:defRPr>
            </a:pPr>
            <a:r>
              <a:rPr sz="1575" b="1">
                <a:solidFill>
                  <a:srgbClr val="D71920"/>
                </a:solidFill>
              </a:rPr>
              <a:t>J(θ) = E [ Σₜ γᵗ rₜ 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FADF5-CFEE-4F46-BBE6-CEB91D70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">
                <a:solidFill>
                  <a:srgbClr val="1F1F1F"/>
                </a:solidFill>
              </a:defRPr>
            </a:pPr>
            <a:r>
              <a:rPr sz="1065">
                <a:solidFill>
                  <a:srgbClr val="1F1F1F"/>
                </a:solidFill>
              </a:rPr>
              <a:t>状态 S：订单队列、站台负载、缓冲区、库存；动作 A：选择目标站台；转移 P：仿真推进后的队列变化；奖励 R：效率与约束反馈。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AB3AED-9587-4A7B-9842-0297DD75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这里的关键是：一次站台选择会影响后续排队和整批完工时间，所以目标不是局部最空，而是长期累计回报。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044E5F-951A-4D18-BFDF-58E22BD9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66950"/>
            <a:ext cx="53340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2AA527-77F2-44F8-BB8C-57F040A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PPO：剪切代理目标函数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2F0064-C408-4318-A521-CA0D7764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1F1F"/>
                </a:solidFill>
              </a:defRPr>
            </a:pPr>
            <a:r>
              <a:rPr sz="1275" b="1">
                <a:solidFill>
                  <a:srgbClr val="1F1F1F"/>
                </a:solidFill>
              </a:rPr>
              <a:t>ρₜ(θ) = πθ(aₜ|sₜ) / πθold(aₜ|sₜ)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188256-C9D1-42AC-B27F-BB5ED54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Lclip(θ) = Eₜ [ min( ρₜ(θ) Âₜ, clip(ρₜ(θ), 1−ε, 1+ε) Âₜ ) 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DE1B09-BB7A-419C-9E19-54043FC2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GAE 优势估计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253B1D-F7EE-4906-8C03-CB72B59B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Âₜ = δₜ + (γλ)δₜ₊₁ + (γλ)²δₜ₊₂ + ···</a:t>
            </a:r>
          </a:p>
          <a:p xmlns:a="http://schemas.openxmlformats.org/drawingml/2006/main">
            <a:pPr algn="ctr">
              <a:defRPr sz="1200" b="1">
                <a:solidFill>
                  <a:srgbClr val="1F1F1F"/>
                </a:solidFill>
              </a:defRPr>
            </a:pPr>
            <a:r>
              <a:rPr sz="1200" b="1">
                <a:solidFill>
                  <a:srgbClr val="1F1F1F"/>
                </a:solidFill>
              </a:rPr>
              <a:t>δₜ = rₜ + γV(sₜ₊₁) − V(sₜ)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7F0A33-D0EC-407C-B85F-18620918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含义：ρₜ控制新旧策略更新幅度，Âₜ衡量当前动作相对基准策略的优劣，避免训练过程大幅震荡。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6F443B-4D9D-44AE-9A58-9BD1A74F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4F73"/>
                </a:solidFill>
              </a:defRPr>
            </a:pPr>
            <a:r>
              <a:rPr sz="1500" b="1">
                <a:solidFill>
                  <a:srgbClr val="1F4F73"/>
                </a:solidFill>
              </a:rPr>
              <a:t>算法逻辑：采样轨迹 -&gt; 估计优势 -&gt; 剪切更新 -&gt; 重新仿真评估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4EFE1B-BA88-4224-9766-DBA8E3FD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B8BBB6-06FB-4CA5-A400-9AF86E9D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将强化学习映射到潍柴订单分拣：状态、动作、约束和奖励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D456EC-7147-45F8-90DD-CE08690F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项目映射：从订单数据到可验证调度结果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99871A-7E62-45F0-8574-BBD5D25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3335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4867A4-D6A2-4F31-902A-4A3A730F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状态 sₜ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7B253A-29E6-4D4D-9A6D-D1F240AB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06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剩余订单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站台负载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缓冲区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库存可用性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40F907-498B-4AB7-A2B9-5BC3CBF7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7A7784-58CB-4668-8BE6-2BD56666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428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B4A8BE-4321-4C88-B97D-99F917FA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76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动作 aₜ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51AF97-49DA-4E4A-827E-8FEF70D5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81300"/>
            <a:ext cx="116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选择站台 k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或进入异常队列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5305FC-D776-43FC-A10F-8BB1D0C6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1F86DD-00B6-4C2B-B2B4-B9B4BD76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1428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94D3EE-98F6-4ED7-BB73-A4E6EB48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动作掩码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A02D26-EA76-4271-8C42-2E40DDFC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116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屏蔽非法站台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πθ(a|s)=0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991C8D-E9EC-402F-94F3-4BEB204C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31FB7C-F805-4D8F-936E-B513E6EA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14287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E2B6DE-AC5A-4BC6-AFB1-0A9DA61F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SimPy 环境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EBF2CE-86E0-4131-8CA4-3738ABEE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162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推进时间线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更新队列与工时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BCED6E7-2ACA-4BAF-B712-DA9A1716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34BCBC2-1A15-4C13-B88B-0A99858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15240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34BCF5-B32D-45A9-B4C0-A9438BC0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765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策略更新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61FA153-CEC0-4FB6-8A2B-B9836AB7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1257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计算回报与优势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更新 PPO 策略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FA0817-D899-4F8F-8BB0-F64DA81C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00" cy="139065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E9112ED-5958-478F-B4FF-3E0AB966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1920"/>
                </a:solidFill>
              </a:defRPr>
            </a:pPr>
            <a:r>
              <a:rPr sz="1350" b="1">
                <a:solidFill>
                  <a:srgbClr val="D71920"/>
                </a:solidFill>
              </a:rPr>
              <a:t>奖励/惩罚函数设计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5A9970-6A79-4964-891F-FC8AA2A2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1F1F"/>
                </a:solidFill>
              </a:defRPr>
            </a:pPr>
            <a:r>
              <a:rPr sz="1350" b="1">
                <a:solidFill>
                  <a:srgbClr val="1F1F1F"/>
                </a:solidFill>
              </a:rPr>
              <a:t>rₜ = −αqₜ − βbₜ − χuₜ − ηmₜ</a:t>
            </a:r>
          </a:p>
          <a:p xmlns:a="http://schemas.openxmlformats.org/drawingml/2006/main">
            <a:pPr algn="ctr">
              <a:defRPr sz="1350" b="1">
                <a:solidFill>
                  <a:srgbClr val="1F1F1F"/>
                </a:solidFill>
              </a:defRPr>
            </a:pPr>
            <a:r>
              <a:rPr sz="1350" b="1">
                <a:solidFill>
                  <a:srgbClr val="1F1F1F"/>
                </a:solidFill>
              </a:rPr>
              <a:t>Rᵀ = −κCmax − ξ[Cmax−D]₊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8023B34-02FC-4551-9744-26455E69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8">
                <a:solidFill>
                  <a:srgbClr val="4A4A4A"/>
                </a:solidFill>
              </a:defRPr>
            </a:pPr>
            <a:r>
              <a:rPr sz="998">
                <a:solidFill>
                  <a:srgbClr val="4A4A4A"/>
                </a:solidFill>
              </a:rPr>
              <a:t>qₜ：排队等待  bₜ：站台负载不均  uₜ：缓冲区占用  mₜ：缺料/不可执行</a:t>
            </a:r>
          </a:p>
          <a:p xmlns:a="http://schemas.openxmlformats.org/drawingml/2006/main">
            <a:pPr algn="ctr">
              <a:defRPr sz="998">
                <a:solidFill>
                  <a:srgbClr val="4A4A4A"/>
                </a:solidFill>
              </a:defRPr>
            </a:pPr>
            <a:r>
              <a:rPr sz="998">
                <a:solidFill>
                  <a:srgbClr val="4A4A4A"/>
                </a:solidFill>
              </a:rPr>
              <a:t>Cmax：整批订单完工时间  D：日内截止线  [·]₊：只惩罚超期部分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861B137-F2A9-484A-B685-0686DE7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4857750" cy="1390650"/>
          </a:xfrm>
          <a:prstGeom xmlns:a="http://schemas.openxmlformats.org/drawingml/2006/main" prst="roundRect">
            <a:avLst>
              <a:gd name="adj" fmla="val 1370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F4FAFC-DD1E-4B2D-A031-6B36302E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为什么适合本项目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08952F4-FF06-44DE-B366-A3F621C0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4362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订单分配有延迟影响：当前站台选择会改变后续排队和最终完工时间</a:t>
            </a:r>
          </a:p>
          <a:p xmlns:a="http://schemas.openxmlformats.org/drawingml/2006/main">
            <a:pPr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业务约束强：动作掩码可直接过滤满载、缺料、不可用站台等非法动作</a:t>
            </a:r>
          </a:p>
          <a:p xmlns:a="http://schemas.openxmlformats.org/drawingml/2006/main">
            <a:pPr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目标多元：奖励函数同时约束等待、负载均衡、资源占用和超期风险</a:t>
            </a:r>
          </a:p>
          <a:p xmlns:a="http://schemas.openxmlformats.org/drawingml/2006/main">
            <a:pPr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· 结果可验证：PPO 输出策略，SimPy 将策略还原成可解释的事件时间线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78CD66-0BCB-4DB6-A68A-81A81FEA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数据预处理 -&gt; MDP 建模 -&gt; Maskable PPO 训练 -&gt; checkpoint 选择 -&gt; SimPy 回放 -&gt; 指标验证</a:t>
            </a:r>
          </a:p>
        </p:txBody>
      </p:sp>
    </p:spTree>
    <p:extLst>
      <p:ext uri="{BB962C8B-B14F-4D97-AF65-F5344CB8AC3E}">
        <p14:creationId xmlns:p14="http://schemas.microsoft.com/office/powerpoint/2010/main" val="30067246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60EA7230-3203-464B-9E71-481015BC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344D60DA-2505-4016-8CED-F6B130C6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491C6717-0241-44C3-9C7F-EBD1795F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7ccf1930c47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bb857df514e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c76c01ba147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A3AA1A33-4A7F-4A89-92C9-01D75023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3577C3F8-0E9F-48D9-957F-84C54539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DDB18EB-2899-405A-A09F-BD42CEF5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5FA95BEF-904E-48B5-8F00-54AB15CF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A7D6E32-3E90-4F10-A8B0-097376B2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7A58B6DE-90F0-45B1-9161-4D7B8BC7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281E268-FC65-41CF-9F61-87820FA0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5EEAF389-684F-4E34-B980-F824982B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4618406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521306C-5526-4D74-A244-347C2EBF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4" y="4359703"/>
            <a:ext cx="2259464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技术路线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F8232276-B783-4605-975E-E78E3060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3148BB5-5A2E-43C7-A5FC-AFE4FF20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Part5 实验分析</a:t>
            </a:r>
          </a:p>
        </p:txBody>
      </p:sp>
    </p:spTree>
    <p:extLst>
      <p:ext uri="{BB962C8B-B14F-4D97-AF65-F5344CB8AC3E}">
        <p14:creationId xmlns:p14="http://schemas.microsoft.com/office/powerpoint/2010/main" val="166097287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21FB413-584D-4A0B-969B-FD21725D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4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6eabfcd2444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5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ab0a899144d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0c4f5127440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EA5C28B7-ED35-4E21-9AE5-C35A0063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29088"/>
            <a:ext cx="4188898" cy="36657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实验验证与效率分析</a:t>
            </a:r>
          </a:p>
        </p:txBody>
      </p:sp>
      <p:sp>
        <p:nvSpPr>
          <p:cNvPr id="45" name="validation-main-copy">
            <a:extLst xmlns:a="http://schemas.openxmlformats.org/drawingml/2006/main">
              <a:ext uri="{FF2B5EF4-FFF2-40B4-BE49-F238E27FC236}">
                <a16:creationId xmlns:a16="http://schemas.microsoft.com/office/drawing/2014/main" id="{62CBED10-062F-4EAA-A239-B1D94664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29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验证设计：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15 天历史数据回放，比较 AI、轮询、随机和历史回放。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固定 2000 单测试集筛选最佳 checkpoint。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7 月 1 日库存预处理验证异常队列与等待时间。</a:t>
            </a:r>
          </a:p>
        </p:txBody>
      </p:sp>
      <p:pic>
        <p:nvPicPr>
          <p:cNvPr id="79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bf77c47f24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366596"/>
            <a:ext cx="4762500" cy="2124808"/>
          </a:xfrm>
          <a:prstGeom xmlns:a="http://schemas.openxmlformats.org/drawingml/2006/main" prst="rect">
            <a:avLst/>
          </a:prstGeom>
        </p:spPr>
      </p:pic>
      <p:sp>
        <p:nvSpPr>
          <p:cNvPr id="47" name="validation-summary">
            <a:extLst xmlns:a="http://schemas.openxmlformats.org/drawingml/2006/main">
              <a:ext uri="{FF2B5EF4-FFF2-40B4-BE49-F238E27FC236}">
                <a16:creationId xmlns:a16="http://schemas.microsoft.com/office/drawing/2014/main" id="{804E1544-3507-4B06-9C1A-87C1401B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15 天验证摘要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随机：平均 makespan 提升 30.7%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实际净工时：平均提升 58.8%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库存预处理：等待时间下降 79.6%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0EB4A9-C185-44D4-8608-2CA7FA85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D9064D-1B53-49DB-AC69-4240C0C0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15 天历史回放验证：AI 调度在完工时间和站台工时上均优于基础策略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D0ED48-BD64-44A6-9C0C-900BE690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验证口径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C1721B-1CFB-4BFA-96E2-A400E6D7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5148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513231-A419-4FC7-B71C-0D059759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2">
                <a:solidFill>
                  <a:srgbClr val="1F1F1F"/>
                </a:solidFill>
              </a:defRPr>
            </a:pPr>
            <a:r>
              <a:rPr sz="1102">
                <a:solidFill>
                  <a:srgbClr val="1F1F1F"/>
                </a:solidFill>
              </a:rPr>
              <a:t>样本：2026-04 有效数据中选取 15 个业务日</a:t>
            </a:r>
          </a:p>
          <a:p xmlns:a="http://schemas.openxmlformats.org/drawingml/2006/main">
            <a:pPr>
              <a:defRPr sz="1102">
                <a:solidFill>
                  <a:srgbClr val="1F1F1F"/>
                </a:solidFill>
              </a:defRPr>
            </a:pPr>
            <a:r>
              <a:rPr sz="1102">
                <a:solidFill>
                  <a:srgbClr val="1F1F1F"/>
                </a:solidFill>
              </a:rPr>
              <a:t>对照：AI Agent、Round-robin、Random、历史真实净工时、历史站台回放</a:t>
            </a:r>
          </a:p>
          <a:p xmlns:a="http://schemas.openxmlformats.org/drawingml/2006/main">
            <a:pPr>
              <a:defRPr sz="1102">
                <a:solidFill>
                  <a:srgbClr val="1F1F1F"/>
                </a:solidFill>
              </a:defRPr>
            </a:pPr>
            <a:r>
              <a:rPr sz="1102">
                <a:solidFill>
                  <a:srgbClr val="1F1F1F"/>
                </a:solidFill>
              </a:rPr>
              <a:t>指标：平均 makespan + 站台工时效率</a:t>
            </a:r>
          </a:p>
          <a:p xmlns:a="http://schemas.openxmlformats.org/drawingml/2006/main">
            <a:pPr>
              <a:defRPr sz="1102">
                <a:solidFill>
                  <a:srgbClr val="1F1F1F"/>
                </a:solidFill>
              </a:defRPr>
            </a:pPr>
            <a:r>
              <a:rPr sz="1102">
                <a:solidFill>
                  <a:srgbClr val="1F1F1F"/>
                </a:solidFill>
              </a:rPr>
              <a:t>业务线：30600 秒作为日内完工参考线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EA81F0-E2F7-4EFA-8418-CF8E26AF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5929C8-40DA-4BFA-87B0-A305849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24.01%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55E256-6A27-4A58-A759-A0EBF106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19227B-D537-465C-9D13-E02A4C0E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相比轮询平均提升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4BBCAA-0ACF-4AC8-9209-A153931C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1A37E5-EE5A-4AB0-AC17-358AED87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61.93%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4BDCD0-0602-4BA4-AC9A-9833C420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98F9728-E5D0-4EDA-9A25-DDFB14E0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相比随机平均提升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A7A128-BB04-4433-8999-36E75A7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B235C0-7708-48D4-AB34-BDF9A2EB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25.29%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55BBDBE-B777-4A0F-8BDF-F983F115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AE5123-37D3-4DF7-B5F7-7986BD47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相比历史回放提升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58936B-C15C-491C-9C55-E2362203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44577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53337C3-38C4-4C71-A5A7-82089649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1F1F1F"/>
                </a:solidFill>
              </a:defRPr>
            </a:pPr>
            <a:r>
              <a:rPr sz="1140">
                <a:solidFill>
                  <a:srgbClr val="1F1F1F"/>
                </a:solidFill>
              </a:rPr>
              <a:t>结果解读：AI 曲线在 8 个及以上站台时已低于 30600s 完工线。它相对轮询和随机更稳定，说明模型学到的是订单耗时差异与站台负载的动态平衡。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98044e14b4464"/>
          <a:stretch xmlns:a="http://schemas.openxmlformats.org/drawingml/2006/main"/>
        </p:blipFill>
        <p:spPr>
          <a:xfrm xmlns:a="http://schemas.openxmlformats.org/drawingml/2006/main">
            <a:off x="5620881" y="2057400"/>
            <a:ext cx="5779413" cy="3762375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AABA204-EDA0-4F85-B894-FA7F9B15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6740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A4A4A"/>
                </a:solidFill>
              </a:defRPr>
            </a:pPr>
            <a:r>
              <a:rPr sz="975">
                <a:solidFill>
                  <a:srgbClr val="4A4A4A"/>
                </a:solidFill>
              </a:rPr>
              <a:t>图：测试集 2026-04-02 至 2026-04-29 平均完工时间对比</a:t>
            </a:r>
          </a:p>
        </p:txBody>
      </p:sp>
    </p:spTree>
    <p:extLst>
      <p:ext uri="{BB962C8B-B14F-4D97-AF65-F5344CB8AC3E}">
        <p14:creationId xmlns:p14="http://schemas.microsoft.com/office/powerpoint/2010/main" val="16580823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DE61062-8B1C-479B-831B-D1F167BE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DCD4B0E-CC87-4A25-BE07-A78D172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5B1E65F-FB11-4DD4-90E0-9CE5A6E7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63f384ac04c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741e2c7f44d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8ada7a3d4a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FDF69C8D-3C13-4ED3-80F5-A9CC82A2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54661C04-6A76-4481-977B-410C88E5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1380F4D-F79C-4EFE-B703-1C68F314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485EC37C-001D-4807-8E22-D54F99EB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5EAA81D-7DC2-41C2-AAEB-67A3C04B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19018EAD-8A38-4F5A-8BA7-F4E0081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B33631B-D9ED-4A9C-89E8-440ECCC6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38A2B32A-09DF-4D2A-9247-49B21ADE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4618406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E15BBBE-F20C-4E55-B94F-E482D471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4" y="4359703"/>
            <a:ext cx="2259464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技术路线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D2AE85E5-8DFC-4EEB-8A98-8F22BF9B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ABB52BE-57C9-4C25-873C-0A59A571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Part5 实验结果</a:t>
            </a:r>
          </a:p>
        </p:txBody>
      </p:sp>
      <p:sp>
        <p:nvSpPr>
          <p:cNvPr id="2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08E774EE-EECF-41C1-B4EC-4BDC6CB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9563" y="5668943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93DEAB0-AF63-4F46-BDC5-16609031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42" y="5410241"/>
            <a:ext cx="1940467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总结与展望 Part6</a:t>
            </a:r>
          </a:p>
        </p:txBody>
      </p:sp>
    </p:spTree>
    <p:extLst>
      <p:ext uri="{BB962C8B-B14F-4D97-AF65-F5344CB8AC3E}">
        <p14:creationId xmlns:p14="http://schemas.microsoft.com/office/powerpoint/2010/main" val="7161636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20FD653-C12F-4F46-874A-3F4F3A54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8f92392c94d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0dc0fa06642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28aef14f341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A569BFF-6BFC-4094-81EF-8103A122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11" y="1313543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E9B1E71F-057D-4740-9985-2080F881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14709" cy="340180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33" name="conclusion-clean-copy">
            <a:extLst xmlns:a="http://schemas.openxmlformats.org/drawingml/2006/main">
              <a:ext uri="{FF2B5EF4-FFF2-40B4-BE49-F238E27FC236}">
                <a16:creationId xmlns:a16="http://schemas.microsoft.com/office/drawing/2014/main" id="{78B09BC2-3A7F-415F-8861-20A7667D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1. 本学期完成了从零基础到项目闭环的搭建：理解强化学习，整理数据库与数据集，完成后端服务、前端展示和效率验证。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2. 项目成果不是一个孤立模型，而是一套订单导入、调度、仿真、回放、评估的工作流。</a:t>
            </a:r>
          </a:p>
        </p:txBody>
      </p:sp>
      <p:sp>
        <p:nvSpPr>
          <p:cNvPr id="34" name="conclusion-callout">
            <a:extLst xmlns:a="http://schemas.openxmlformats.org/drawingml/2006/main">
              <a:ext uri="{FF2B5EF4-FFF2-40B4-BE49-F238E27FC236}">
                <a16:creationId xmlns:a16="http://schemas.microsoft.com/office/drawing/2014/main" id="{058DAB2C-9269-4FDC-854E-0E645641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06A99"/>
                </a:solidFill>
              </a:defRPr>
            </a:pPr>
            <a:r>
              <a:rPr sz="1800" b="1">
                <a:solidFill>
                  <a:srgbClr val="306A99"/>
                </a:solidFill>
              </a:rPr>
              <a:t>当前状态：已形成可演示、可接口调用、可按历史数据验证的订单分拣智能调度原型。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29F5C7-6F0E-40BB-A977-6E6BE0E6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4FFB9A-B90C-4AE9-9FAF-6DB2CF26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阶段总结：本学期完成了从算法学习到系统闭环的工程化验证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A92918-FAEA-4999-8506-0E4541DA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算法建模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3C9849-5400-4237-9221-C00704F2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数据与仿真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CB6F78-DED5-4107-8F14-58C56D8A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系统服务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3F743F-EC4F-4F68-8910-7750FA55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效果验证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0CD74A-82A7-4FE9-BB6E-078AC6C5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CC2C6F-94C1-4F5F-9EBA-CBD3A66F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EB8746-6BB4-4FD2-A789-C74CA69E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1A3A76-2587-4FAD-AA67-9D61A48F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30C899-09B6-4C35-AE60-0FE873BF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理解 RL / MDP / PPO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构建状态、动作、奖励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动作掩码约束非法分配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checkpoint 筛选与评估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0AE11F-DF27-4C45-8496-6417688F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清洗订单与 SKU 工时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维护库存快照与异常队列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SimPy 还原仿真事件线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输出可追踪仿真结果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348D5F-4FAC-483A-A461-3A4EE4BE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FastAPI 调度接口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MySQL 表结构与数据流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Vue + Three.js 展示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任务状态轮询和回放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0E058E-E5A8-488F-8454-3AD6F754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15 天历史回放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AI/轮询/随机对比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历史真实净工时对照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站台工时效率评估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EB10E5-2301-4618-9E17-BF439A1B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191625" cy="9906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645659-DC9E-468B-A1D3-A602BF9A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85" b="1">
                <a:solidFill>
                  <a:srgbClr val="1F4F73"/>
                </a:solidFill>
              </a:defRPr>
            </a:pPr>
            <a:r>
              <a:rPr sz="1185" b="1">
                <a:solidFill>
                  <a:srgbClr val="1F4F73"/>
                </a:solidFill>
              </a:rPr>
              <a:t>当前状态：已形成“订单导入 -&gt; 智能调度 -&gt; 仿真回放 -&gt; 前端展示 -&gt; 效率报告”的原型闭环，具备可演示、可接口调用、可按历史数据验证的基础能力。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B79D66-9633-465D-8586-B739BC22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38800"/>
            <a:ext cx="862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85" b="0">
                <a:solidFill>
                  <a:srgbClr val="1F1F1F"/>
                </a:solidFill>
              </a:defRPr>
            </a:pPr>
            <a:r>
              <a:rPr sz="1185" b="0">
                <a:solidFill>
                  <a:srgbClr val="1F1F1F"/>
                </a:solidFill>
              </a:rPr>
              <a:t>个人收获：从不懂强化学习、数据库和前后端服务，到能够解释模型设计、数据流转和业务指标验证。</a:t>
            </a:r>
          </a:p>
        </p:txBody>
      </p:sp>
    </p:spTree>
    <p:extLst>
      <p:ext uri="{BB962C8B-B14F-4D97-AF65-F5344CB8AC3E}">
        <p14:creationId xmlns:p14="http://schemas.microsoft.com/office/powerpoint/2010/main" val="163607872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3B89D2B-0549-47A5-982E-21F93EB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456b4294f4f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00e9754d942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1159713e145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A1191F-BAFE-4279-839F-76BC9716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11" y="1313543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589FA65F-5A56-4165-8FD3-EBA53895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14709" cy="340180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33" name="learning-clean-copy">
            <a:extLst xmlns:a="http://schemas.openxmlformats.org/drawingml/2006/main">
              <a:ext uri="{FF2B5EF4-FFF2-40B4-BE49-F238E27FC236}">
                <a16:creationId xmlns:a16="http://schemas.microsoft.com/office/drawing/2014/main" id="{C6F41AEF-E91E-4A10-AEA3-4B0A6C7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933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已掌握：强化学习基本流程、PPO 训练与 checkpoint 评估、MySQL 表结构、FastAPI 接口、Vue/Three.js 前端展示。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后续计划：补充更多真实业务日验证；增强异常订单解释；把模型选择、仿真报告和前端配置做得更自动化。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D98C98-D16B-43FF-8135-4E651436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1A0371-0CED-439C-86EB-95183957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展望：从离线验证走向更稳定的现场可用调度能力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B37387-69F2-46F9-9DCE-28088D0B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当前不足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E027C7-957F-4803-B8D5-53FB8B90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6482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9B6D7B-0918-496B-937E-0BF937BA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076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（1）数据覆盖仍以离线历史样本为主，跨月份、跨波次泛化能力还需继续验证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（2）奖励函数能反映 makespan 和负载，但缺料、搬运距离、人工节拍等约束仍可细化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（3）模型解释性还不足，需要把每个站台分配决策转化为更清楚的业务原因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（4）系统落地还要补充监控、异常回滚、参数配置、接口稳定性和性能压测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B5195C-A7B5-44F0-AECA-B4A925BD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F99"/>
                </a:solidFill>
              </a:defRPr>
            </a:pPr>
            <a:r>
              <a:rPr sz="1425" b="1">
                <a:solidFill>
                  <a:srgbClr val="2F6F99"/>
                </a:solidFill>
              </a:rPr>
              <a:t>下一步计划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7BA4D2-B9A9-4C78-B928-4CD7240B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14600"/>
            <a:ext cx="46482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185CF6-66C3-45FF-91CC-A703D705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4076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（1）引入库存状态和订单优先级，形成更贴近现场约束的多目标奖励函数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（2）扩展历史业务日和不同站台配置，建立自动化模型选择与回归验证流程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（3）将调度从单批离线决策推进到滚动优化，支持订单变化和站台状态变化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（4）完善前端对比视图、仿真报告自动生成和部署文档，提升项目可复用性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971743-2CC0-491D-B380-EF930CE1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71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F73"/>
                </a:solidFill>
              </a:defRPr>
            </a:pPr>
            <a:r>
              <a:rPr sz="1650" b="1">
                <a:solidFill>
                  <a:srgbClr val="1F4F73"/>
                </a:solidFill>
              </a:rPr>
              <a:t>后续目标：让算法输出不仅“算得出”，还要“讲得清、接得上、跑得稳、验得过”。</a:t>
            </a:r>
          </a:p>
        </p:txBody>
      </p:sp>
    </p:spTree>
    <p:extLst>
      <p:ext uri="{BB962C8B-B14F-4D97-AF65-F5344CB8AC3E}">
        <p14:creationId xmlns:p14="http://schemas.microsoft.com/office/powerpoint/2010/main" val="75349792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4F09469-E367-4039-A25D-99520594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5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dfc409a3840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3" y="235120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c91239f5346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1" y="255900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06ee35e384a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5" y="101178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D95FEA5-0861-42AB-8E6E-C7B275B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981" y="3827105"/>
            <a:ext cx="8392041" cy="10772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400" b="1">
                <a:solidFill>
                  <a:srgbClr val="409EC4"/>
                </a:solidFill>
                <a:latin typeface="微软雅黑"/>
                <a:ea typeface="微软雅黑"/>
                <a:cs typeface="微软雅黑"/>
              </a:rPr>
              <a:t>衷心感谢老师的指导！</a:t>
            </a:r>
          </a:p>
        </p:txBody>
      </p:sp>
      <p:pic>
        <p:nvPicPr>
          <p:cNvPr id="45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d0e3933ed41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39978" y="1922899"/>
            <a:ext cx="1332359" cy="1332359"/>
          </a:xfrm>
          <a:prstGeom xmlns:a="http://schemas.openxmlformats.org/drawingml/2006/main" prst="rect">
            <a:avLst/>
          </a:prstGeom>
          <a:effectLst xmlns:a="http://schemas.openxmlformats.org/drawingml/2006/main"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9092003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2026-07-19T14:33:06.2420000Z</dcterms:created>
  <dcterms:modified xsi:type="dcterms:W3CDTF">2026-07-19T14:33:06.2420000Z</dcterms:modified>
</coreProperties>
</file>