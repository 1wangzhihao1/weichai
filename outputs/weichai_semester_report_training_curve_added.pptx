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1fa970c7e497b" /><Relationship Type="http://schemas.openxmlformats.org/officeDocument/2006/relationships/extended-properties" Target="/docProps/app.xml" Id="R19983727333b4bfe" /><Relationship Type="http://schemas.openxmlformats.org/officeDocument/2006/relationships/officeDocument" Target="/ppt/presentation.xml" Id="R8fd26735c70641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a073bddef947dd"/>
    <p:sldMasterId xmlns:r="http://schemas.openxmlformats.org/officeDocument/2006/relationships" id="2147483661" r:id="R9232d119a73b4afd"/>
  </p:sldMasterIdLst>
  <p:notesMasterIdLst>
    <p:notesMasterId xmlns:r="http://schemas.openxmlformats.org/officeDocument/2006/relationships" r:id="R3e54dfc5334d4813"/>
  </p:notesMasterIdLst>
  <p:sldIdLst>
    <p:sldId xmlns:r="http://schemas.openxmlformats.org/officeDocument/2006/relationships" id="256" r:id="R8ed9584ae4e54b66"/>
    <p:sldId xmlns:r="http://schemas.openxmlformats.org/officeDocument/2006/relationships" id="257" r:id="R70bf57b9299e45b9"/>
    <p:sldId xmlns:r="http://schemas.openxmlformats.org/officeDocument/2006/relationships" id="258" r:id="Ra6dc2ff0489e4d60"/>
    <p:sldId xmlns:r="http://schemas.openxmlformats.org/officeDocument/2006/relationships" id="259" r:id="R2e893cea97ea4eb8"/>
    <p:sldId xmlns:r="http://schemas.openxmlformats.org/officeDocument/2006/relationships" id="260" r:id="Rf301c20efa9a451a"/>
    <p:sldId xmlns:r="http://schemas.openxmlformats.org/officeDocument/2006/relationships" id="261" r:id="R17ed6d0168594c10"/>
    <p:sldId xmlns:r="http://schemas.openxmlformats.org/officeDocument/2006/relationships" id="262" r:id="R482f8cebc7ff4029"/>
    <p:sldId xmlns:r="http://schemas.openxmlformats.org/officeDocument/2006/relationships" id="263" r:id="R401eaf49d8da4dcc"/>
    <p:sldId xmlns:r="http://schemas.openxmlformats.org/officeDocument/2006/relationships" id="264" r:id="R565c5ace861b457e"/>
    <p:sldId xmlns:r="http://schemas.openxmlformats.org/officeDocument/2006/relationships" id="265" r:id="R8ce472bccf7b4d47"/>
    <p:sldId xmlns:r="http://schemas.openxmlformats.org/officeDocument/2006/relationships" id="266" r:id="R5454c0d9155c47a3"/>
    <p:sldId xmlns:r="http://schemas.openxmlformats.org/officeDocument/2006/relationships" id="267" r:id="Rebe263d9f3b34d9c"/>
    <p:sldId xmlns:r="http://schemas.openxmlformats.org/officeDocument/2006/relationships" id="268" r:id="Ra2d2e5f1623147b9"/>
    <p:sldId xmlns:r="http://schemas.openxmlformats.org/officeDocument/2006/relationships" id="269" r:id="R38949ae11e954248"/>
    <p:sldId xmlns:r="http://schemas.openxmlformats.org/officeDocument/2006/relationships" id="270" r:id="R129e50135b514fb0"/>
    <p:sldId xmlns:r="http://schemas.openxmlformats.org/officeDocument/2006/relationships" id="271" r:id="R8d5d97b2e5c4460e"/>
    <p:sldId xmlns:r="http://schemas.openxmlformats.org/officeDocument/2006/relationships" id="272" r:id="Rd0fdb45ece934e4b"/>
    <p:sldId xmlns:r="http://schemas.openxmlformats.org/officeDocument/2006/relationships" id="273" r:id="R0767130d7d7f4322"/>
    <p:sldId xmlns:r="http://schemas.openxmlformats.org/officeDocument/2006/relationships" id="274" r:id="Rabd8c261cf18425e"/>
    <p:sldId xmlns:r="http://schemas.openxmlformats.org/officeDocument/2006/relationships" id="275" r:id="Re7cf4241f63f4827"/>
    <p:sldId xmlns:r="http://schemas.openxmlformats.org/officeDocument/2006/relationships" id="276" r:id="Rc5672283d9bb41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9bbd39cb4f4f12" /><Relationship Type="http://schemas.openxmlformats.org/officeDocument/2006/relationships/slideMaster" Target="/ppt/slideMasters/slideMaster1.xml" Id="R34a073bddef947dd" /><Relationship Type="http://schemas.openxmlformats.org/officeDocument/2006/relationships/slideMaster" Target="/ppt/slideMasters/slideMaster2.xml" Id="R9232d119a73b4afd" /><Relationship Type="http://schemas.openxmlformats.org/officeDocument/2006/relationships/notesMaster" Target="/ppt/notesMasters/notesMaster1.xml" Id="R3e54dfc5334d4813" /><Relationship Type="http://schemas.openxmlformats.org/officeDocument/2006/relationships/presProps" Target="/ppt/presProps.xml" Id="R4e3aec6b63274d04" /><Relationship Type="http://schemas.openxmlformats.org/officeDocument/2006/relationships/viewProps" Target="/ppt/viewProps.xml" Id="R5c2f0942821e4bda" /><Relationship Type="http://schemas.openxmlformats.org/officeDocument/2006/relationships/tableStyles" Target="/ppt/tableStyles.xml" Id="R6f5c12027c344856" /><Relationship Type="http://schemas.openxmlformats.org/officeDocument/2006/relationships/slide" Target="/ppt/slides/slide1.xml" Id="R8ed9584ae4e54b66" /><Relationship Type="http://schemas.openxmlformats.org/officeDocument/2006/relationships/slide" Target="/ppt/slides/slide2.xml" Id="R70bf57b9299e45b9" /><Relationship Type="http://schemas.openxmlformats.org/officeDocument/2006/relationships/slide" Target="/ppt/slides/slide3.xml" Id="Ra6dc2ff0489e4d60" /><Relationship Type="http://schemas.openxmlformats.org/officeDocument/2006/relationships/slide" Target="/ppt/slides/slide4.xml" Id="R2e893cea97ea4eb8" /><Relationship Type="http://schemas.openxmlformats.org/officeDocument/2006/relationships/slide" Target="/ppt/slides/slide5.xml" Id="Rf301c20efa9a451a" /><Relationship Type="http://schemas.openxmlformats.org/officeDocument/2006/relationships/slide" Target="/ppt/slides/slide6.xml" Id="R17ed6d0168594c10" /><Relationship Type="http://schemas.openxmlformats.org/officeDocument/2006/relationships/slide" Target="/ppt/slides/slide7.xml" Id="R482f8cebc7ff4029" /><Relationship Type="http://schemas.openxmlformats.org/officeDocument/2006/relationships/slide" Target="/ppt/slides/slide8.xml" Id="R401eaf49d8da4dcc" /><Relationship Type="http://schemas.openxmlformats.org/officeDocument/2006/relationships/slide" Target="/ppt/slides/slide9.xml" Id="R565c5ace861b457e" /><Relationship Type="http://schemas.openxmlformats.org/officeDocument/2006/relationships/slide" Target="/ppt/slides/slide10.xml" Id="R8ce472bccf7b4d47" /><Relationship Type="http://schemas.openxmlformats.org/officeDocument/2006/relationships/slide" Target="/ppt/slides/slide11.xml" Id="R5454c0d9155c47a3" /><Relationship Type="http://schemas.openxmlformats.org/officeDocument/2006/relationships/slide" Target="/ppt/slides/slide12.xml" Id="Rebe263d9f3b34d9c" /><Relationship Type="http://schemas.openxmlformats.org/officeDocument/2006/relationships/slide" Target="/ppt/slides/slide13.xml" Id="Ra2d2e5f1623147b9" /><Relationship Type="http://schemas.openxmlformats.org/officeDocument/2006/relationships/slide" Target="/ppt/slides/slide14.xml" Id="R38949ae11e954248" /><Relationship Type="http://schemas.openxmlformats.org/officeDocument/2006/relationships/slide" Target="/ppt/slides/slide15.xml" Id="R129e50135b514fb0" /><Relationship Type="http://schemas.openxmlformats.org/officeDocument/2006/relationships/slide" Target="/ppt/slides/slide16.xml" Id="R8d5d97b2e5c4460e" /><Relationship Type="http://schemas.openxmlformats.org/officeDocument/2006/relationships/slide" Target="/ppt/slides/slide17.xml" Id="Rd0fdb45ece934e4b" /><Relationship Type="http://schemas.openxmlformats.org/officeDocument/2006/relationships/slide" Target="/ppt/slides/slide18.xml" Id="R0767130d7d7f4322" /><Relationship Type="http://schemas.openxmlformats.org/officeDocument/2006/relationships/slide" Target="/ppt/slides/slide19.xml" Id="Rabd8c261cf18425e" /><Relationship Type="http://schemas.openxmlformats.org/officeDocument/2006/relationships/slide" Target="/ppt/slides/slide20.xml" Id="Re7cf4241f63f4827" /><Relationship Type="http://schemas.openxmlformats.org/officeDocument/2006/relationships/slide" Target="/ppt/slides/slide21.xml" Id="Rc5672283d9bb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76eaf42ec9b45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4c309af9be4cd5" /><Relationship Type="http://schemas.openxmlformats.org/officeDocument/2006/relationships/notesMaster" Target="/ppt/notesMasters/notesMaster1.xml" Id="R51b4c44bdc8447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bdbe6a6a624018" /><Relationship Type="http://schemas.openxmlformats.org/officeDocument/2006/relationships/notesMaster" Target="/ppt/notesMasters/notesMaster1.xml" Id="R4624e0d3625147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4a504d249741e3" /><Relationship Type="http://schemas.openxmlformats.org/officeDocument/2006/relationships/notesMaster" Target="/ppt/notesMasters/notesMaster1.xml" Id="Rb677b9c9eb15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2b79c517f34b08" /><Relationship Type="http://schemas.openxmlformats.org/officeDocument/2006/relationships/notesMaster" Target="/ppt/notesMasters/notesMaster1.xml" Id="Rf70a9861ba0a4f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8789695584c67" /><Relationship Type="http://schemas.openxmlformats.org/officeDocument/2006/relationships/notesMaster" Target="/ppt/notesMasters/notesMaster1.xml" Id="Re486e1e8a2e2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f6a80bbc1a4d92" /><Relationship Type="http://schemas.openxmlformats.org/officeDocument/2006/relationships/notesMaster" Target="/ppt/notesMasters/notesMaster1.xml" Id="R14890d6cd3b14b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63f4cdaae4e82" /><Relationship Type="http://schemas.openxmlformats.org/officeDocument/2006/relationships/notesMaster" Target="/ppt/notesMasters/notesMaster1.xml" Id="R27235b14660d40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33f237f7104c6c" /><Relationship Type="http://schemas.openxmlformats.org/officeDocument/2006/relationships/notesMaster" Target="/ppt/notesMasters/notesMaster1.xml" Id="R8153d9d685d647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c8c3af3e2b4798" /><Relationship Type="http://schemas.openxmlformats.org/officeDocument/2006/relationships/notesMaster" Target="/ppt/notesMasters/notesMaster1.xml" Id="R5b22931338b348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8228cdc5f04518" /><Relationship Type="http://schemas.openxmlformats.org/officeDocument/2006/relationships/notesMaster" Target="/ppt/notesMasters/notesMaster1.xml" Id="Rd7c74305881a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a4dbd633f848cd" /><Relationship Type="http://schemas.openxmlformats.org/officeDocument/2006/relationships/notesMaster" Target="/ppt/notesMasters/notesMaster1.xml" Id="R721f75f5eeeb4a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f745890db349d3" /><Relationship Type="http://schemas.openxmlformats.org/officeDocument/2006/relationships/notesMaster" Target="/ppt/notesMasters/notesMaster1.xml" Id="R2184455d387143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c9d94ae41f4308" /><Relationship Type="http://schemas.openxmlformats.org/officeDocument/2006/relationships/notesMaster" Target="/ppt/notesMasters/notesMaster1.xml" Id="R13d21446d3064f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f70d4f04404cd4" /><Relationship Type="http://schemas.openxmlformats.org/officeDocument/2006/relationships/notesMaster" Target="/ppt/notesMasters/notesMaster1.xml" Id="Rbe0b360748f645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fc75ba59124664" /><Relationship Type="http://schemas.openxmlformats.org/officeDocument/2006/relationships/notesMaster" Target="/ppt/notesMasters/notesMaster1.xml" Id="Rdf9739a55b5c4a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21623bbbb84599" /><Relationship Type="http://schemas.openxmlformats.org/officeDocument/2006/relationships/notesMaster" Target="/ppt/notesMasters/notesMaster1.xml" Id="Rc11a919f288f41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fac2ff08074927" /><Relationship Type="http://schemas.openxmlformats.org/officeDocument/2006/relationships/notesMaster" Target="/ppt/notesMasters/notesMaster1.xml" Id="R426c3e05f47444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441abb072947b0" /><Relationship Type="http://schemas.openxmlformats.org/officeDocument/2006/relationships/notesMaster" Target="/ppt/notesMasters/notesMaster1.xml" Id="R4c809e096cf54a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a2aacd0d874471" /><Relationship Type="http://schemas.openxmlformats.org/officeDocument/2006/relationships/notesMaster" Target="/ppt/notesMasters/notesMaster1.xml" Id="R45e457bf49bb4a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7f1e0681934cf7" /><Relationship Type="http://schemas.openxmlformats.org/officeDocument/2006/relationships/notesMaster" Target="/ppt/notesMasters/notesMaster1.xml" Id="Ra98f4930219141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a2cb72010d4fd2" /><Relationship Type="http://schemas.openxmlformats.org/officeDocument/2006/relationships/notesMaster" Target="/ppt/notesMasters/notesMaster1.xml" Id="R29a40b9a5775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题目是“潍柴订单分拣智能调度项目学期汇报”。这学期我围绕潍柴订单分拣场景，从业务问题、数据处理、强化学习调度、仿真验证和前端展示几个方面开展工作。对我个人来说，这不是单独做一个算法实验，而是从不熟悉强化学习、数据库、前后端服务和落地验证开始，逐步把这些模块串成一个可以演示、可以调用、可以验证的项目闭环。后面我会按照研究背景、问题描述、研究方案、技术路线、实验分析和总结展望来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目录。第一部分讲研究背景，说明为什么订单分拣需要智能调度；第二部分讲问题描述，明确站台、订单、库存和缓冲区带来的约束；第三部分讲研究方案，说明本学期完成的数据、算法和系统工作；第四部分讲技术路线，重点解释强化学习和 PPO 如何用于该项目；第五部分讲实验分析，用历史数据回放和前端展示说明效果；最后总结阶段成果、个人收获和后续计划。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接下来进入第一部分研究背景。潍柴订单分拣场景的特点是订单量大、SKU 结构复杂、站台资源有限，而且现场还会受到库存可用性和人员处理节奏影响。传统人工经验或固定规则能解决一部分问题，但当订单波动、库存状态和站台负载同时变化时，很难稳定判断最优分配方案。因此，本项目希望通过数据建模、智能算法和仿真验证，把调度从经验判断转化为可计算、可复盘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这一页主要说明研究背景和意义。制造企业的订单分拣并不是简单地把订单平均分给站台，因为不同订单包含的 SKU 数量、处理时间和库存状态都不同。如果分配不合理，就会造成部分站台拥堵、部分站台空闲，最后表现为整批订单完工时间变长。项目的意义在于：把订单、SKU 工时、库存快照和站台资源转化成可计算的调度模型，再通过仿真和系统展示验证算法是否真正提升效率。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这一页说明我本学期的学习任务和项目落地任务是结合在一起的。强化学习方面，我需要理解状态、动作、奖励、PPO、动作掩码和 checkpoint 选择；数据方面，要接触 Excel 清洗、SKU 工时、库存快照和 MySQL 表结构；工程方面，要理解 FastAPI 后端、Vue 和 Three.js 前端；验证方面，要能用历史回放、站台工时效率和库存等待等指标证明方案有效。所以这页强调的是：项目不是只训练模型，而是把模型放进完整系统中验证。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进入第二部分问题描述。这个项目表面上是“订单分配到哪个站台”的问题，但实际是带约束的动态资源调度问题。每个订单处理时间不同，站台数量有限，站台缓冲区容量有限，库存还决定订单能不能执行。因此后面要先把业务约束讲清楚，再解释为什么强化学习适合处理这种序贯决策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问题拆成几个核心点。第一，在给定工作时长内，要判断最少需要启用多少站台；第二，在给定站台数量下，要把订单合理分配到不同站台；第三，还要考虑每个站台的处理顺序和缓冲限制。这里的优化目标不是某一个订单最快完成，而是让整批订单的完工时间更短、站台负载更均衡、异常订单更容易识别。这个定义也决定了后续算法必须考虑长期影响，而不能只采用简单轮询或随机分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接下来进入第三部分研究方案。我的方案可以理解为三条线并行推进：数据侧负责把历史订单、SKU 工时、库存快照整理成模型和仿真可用的数据；算法侧使用 Maskable PPO 学习订单到站台的调度策略，并结合 SimPy 做离散事件仿真；系统侧通过 FastAPI、MySQL、Vue 和 Three.js，把调度结果变成可调用、可展示、可复盘的系统流程。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的是复杂动态系统调度建模与寻优的整体路线。前面是场景分析和需求抽象，先识别业务对象、协同关系和优化目标；中间是调度建模和策略寻优，把状态变量、决策变量、资源约束和时序关系表达出来，再引入强化学习进行策略训练；后面是仿真验证和场景适配，通过仿真代码、指标评估和系统接口检查模型是否能落到实际业务流程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这一页把本学期完成内容落到具体项目模块。数据侧包括 Excel 拣选记录、SKU 标准工时、库存快照和订单波次入库；算法侧包括 Maskable PPO 调度和 SimPy 离散事件仿真；系统侧包括 FastAPI 后端、MySQL 数据库以及 Vue + Three.js 前端可视化。这里我想强调，重点不是单独训练出一个模型，而是把“模型能不能用”拆成数据准备、规则约束、接口联调和效率验证四个环节。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下面进入第四部分技术路线。前面已经说明了业务背景、问题约束和总体方案，接下来需要回答的是：强化学习到底如何表示这个调度问题，PPO 为什么能稳定训练，以及如何把状态、动作、动作掩码和奖励函数映射到潍柴订单分拣场景。后面两页会先讲 MDP 和 PPO 的理论，再讲项目中的状态、动作、约束和奖励设计。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这一页专门讲强化学习和 PPO 的理论基础。首先把订单分拣调度建模为马尔可夫决策过程，MDP 由状态空间、动作空间、状态转移、奖励函数和折扣因子组成。状态可以包含订单队列、站台负载、缓冲区和库存；动作是给当前订单选择目标站台；环境转移由仿真推进得到；奖励则反映调度效率与约束满足情况。PPO 的核心是剪切代理目标函数。它先计算新旧策略概率比 ρ_t，再用 clip 限制 ρ_t 的变化范围，防止策略一步更新过大。优势函数 Â_t 用 GAE 估计，反映当前动作比基准价值好还是差。这样讲清楚后，后面再说明这些理论变量如何映射到潍柴订单分拣项目。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PPO 如何落到潍柴订单分拣项目中。状态 s_t 不是抽象变量，而是由剩余订单、站台负载、缓冲区占用、库存可用性等业务数据组成。动作 a_t 是给当前订单选择站台，或者在缺料时进入异常队列。动作掩码非常关键：如果站台不可用、缓冲区已满、订单缺料或违反业务规则，就直接把该动作概率置零，避免模型学到非法分配。奖励函数分成即时奖励和终止奖励。即时惩罚包括排队等待 q_t、站台负载不均 b_t、缓冲区占用 u_t、缺料或不可执行 m_t；终止项则惩罚整批订单的完工时间 Cmax 和超过日内截止线 D 的部分。这样模型优化的不是单一最短时间，而是在业务约束下兼顾完工时间、站台均衡、等待时间和可执行性。最后用 SimPy 回放策略生成事件时间线，再用验证指标比较 AI、轮询、随机和历史回放。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进入实验分析。我的验证分三类。第一类是模型筛选，在固定 2000 单测试集上评估不同 checkpoint，最后选择 1,520,000 steps 的模型作为正式模型。第二类是历史 15 天回放，对比 AI、轮询、随机以及历史回放。第三类是库存预处理验证，检验缺料异常队列和订单重排是否减少库存等待。这样验证可以避免只看训练曲线，而是回到业务效果上。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这一页解释训练曲线和训练过程。左上角是训练过程中的 TensorBoard 曲线，横轴是训练步数，图中能看到曲线前期波动比较大，后期整体抬升并进入波动收敛。这里的原因是强化学习不是直接拟合一个标准答案，而是在不断尝试“当前订单分到哪个站台”之后，根据排队等待、输送时间和整批完工效果获得反馈。训练数据来自历史 DMS 拣选记录，先按订单号把同一订单下的 SKU 聚合成一个订单对象，再按时间顺序排序。为了避免训练和验证混在一起，前 67% 订单作为训练集，后 33% 作为测试集。每一集 episode 不是一天，而是从训练订单序列里随机抽取一段连续订单片段，默认 1000 单；这样既保留真实业务顺序，又能通过随机起点增加样本多样性。每一步 step 对应处理当前一个订单，智能体的动作是选择 16 个站台中的一个，环境根据站台负载、缓冲区容量、输送时间和 SKU 标准工时推进仿真。奖励函数包含局部等待惩罚、站台位置带来的输送代价，以及 episode 结束时的 makespan 终局奖惩。这样设置的目的，是让模型学到长期负载均衡，而不是只贪心选择当前看起来最空的站台。最后也要强调，训练曲线只说明模型在学习，最终是否好用还要通过固定 2000 单测试集和 2 到 16 个站台范围内的 makespan 评估来选择 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这一页讲实验分析。验证报告采用 15 天历史回放，不只比较 AI、轮询和随机策略，也和历史真实净工时、历史站台回放做对照。左侧三个数字是站台工时口径：AI 相比轮询平均提升 24.01%，相比随机平均提升 61.93%，相比历史回放平均提升 25.29%。右侧图是不同最大站台数下的平均完工时间，红色 AI Agent 曲线整体低于轮询和随机，并且从 8 个站台左右开始低于 30600 秒参考线。这说明 AI 学到的不是机械轮换，而是在订单耗时、站台负载和后续排队之间做动态权衡。这里也要说明口径差异：按纯 makespan，AI 相比轮询平均提升约 3.02%，相比随机提升约 30.66%；按站台工时，则能体现减少站台资源占用带来的效率价值。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这一页补充前端效果展示。前面实验分析主要说明算法在 15 天历史数据回放中的效率提升，这一页说明这些结果如何进入系统落地。左侧是 Vue + Three.js 前端大屏，顶部可以切换智能算法对比和 3D 数字孪生视图；左侧控制面板选择批次和库存快照并启动仿真；下方站台矩阵展示 16 个站台的状态、订单占用和等待情况；右侧 3D 场景用数字孪生方式播放站台、箱体和传送过程。它的作用是把算法输出从一份结果表，转化成老师和业务人员都能观看、复盘和检查的过程。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部分是总结与展望。这里我想把项目成果和个人成长放在一起讲。项目成果上，我们已经有数据导入、数据库、调度接口、仿真回放、前端展示和验证报告。个人成长上，我从不懂强化学习、不懂数据库和前后端，到现在能说清楚每个模块为什么存在、怎么连接、怎么验证效果。这个过程对我后续做更复杂的智能制造项目很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这一页总结本学期的主要成果。我把它分成四块：算法建模、数据与仿真、系统服务、效果验证。算法上，我从强化学习基础开始，理解了 MDP、PPO、动作掩码和 checkpoint 筛选；数据上，梳理了订单、SKU 标准工时、库存快照和异常队列；系统上，接触并完成了 FastAPI、MySQL、Vue 和 Three.js 的联调；验证上，用 15 天历史数据回放比较 AI、轮询、随机和历史方案。对我个人来说，最大的收获是把原来分散的知识点连成一个闭环：模型不是训练完就结束，而是要能被调用、能被仿真、能被展示，并且能用业务指标解释。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总结与展望中的不足和下一步。当前项目已经能演示和验证，但要真正贴近现场，还需要继续补四件事。第一是数据覆盖，不能只依赖某一段历史数据，需要跨月份、跨订单波次验证泛化能力。第二是约束细化，库存、订单优先级、搬运距离、人工节拍这些因素可以逐步进入状态和奖励函数。第三是解释性，要让调度结果不只是一个站台编号，而能说明为什么这个订单适合这个站台。第四是工程落地，包括接口稳定性、性能压测、监控告警、异常回滚和部署文档。后续目标可以概括为：算得出、讲得清、接得上、跑得稳、验得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我的汇报到这里结束。感谢老师这一学期的指导，也感谢组里同学在数据、接口和验证过程中的帮助。后面如果老师有问题，我可以从算法训练、数据处理、系统接口或者验证指标几个角度展开说明。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62dfdc9d242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319c29a9147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d130b223342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4a595b0a441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f5e7fa9bc44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6f72ef9044a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ad96e01eb45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960ae739d40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dbadbe8b1458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37c6751254c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9b55c292647b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5140efc74472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2467771a074a7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f1d5c6f34b4fe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1973d0be1744d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3c8c6cdaf24a8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e4350cd561402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7af1673b51446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2008161fb34a5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4af9e428c64e7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280f31bc1f432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3114f5921a4de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17d8a4041d4ea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b098cd04524f5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C0EA16-6423-48A4-B6E4-740CB9C62C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1AC54F3-1331-4BF9-8518-594DC61DC0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355F03-5C4E-469E-B0A3-436BF039EF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CFA720-28FA-47F9-8B47-6F29AC4716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621822-4661-4546-B75A-D97F134165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E89E31-FF9F-4A0F-906F-9A15C285E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229C3A5-8B85-4351-B6A8-851A730095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85479D9-496A-45BF-A895-9E7766845B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1ABEA22-F0B5-49C4-A699-8995B733E0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CBE63E-0B5B-4245-8814-515B657642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17F97D-B4C2-4302-8283-162DA41A4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CC7F94C-9C18-41F9-91C9-B4A3B8D623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39C923-1512-4691-8C46-34E393D35D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C4C1E7B-A3F7-43FF-879E-838131485E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6F635B-8443-4BAC-95F6-E4FBBFC13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28DE1A-B675-4E8E-9410-89C5B517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F47FEFA-15D7-4B4C-95F0-BAB5F177B5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A0DC5BA-9C65-45C0-9127-C8088AECF0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10328E9-4F3C-428F-AC10-059295B30A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6106C2-E364-4635-AB2F-09269E384C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CFC9E37-0C5D-4E63-93EC-02EB8247C3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0C046F-FEDC-42C0-875C-E17037AECF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D77CD6-3BE9-42D7-87D7-BD9938749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CA1295-D474-4698-A287-3B4A966BEE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B804774-E78B-40C8-94D2-67E9024442C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8729756-0795-4A88-95CC-674E8C7C42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5A2DE15-6605-4BF9-9579-E02B98F6A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10AFBCB-1E99-4267-BDA5-6A26EB5708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4CCA9C8-994C-4258-AE63-D7CA1E9E8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C8DA24-F21B-4B4A-BF7A-837F8EC98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0D929E8-BB64-4E29-BB91-53D466F03B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57A1F48-D8BE-43E1-99B2-746AB07CE4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4ABDF20-BCCA-45B1-B83B-B738E6832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34867C0-842B-441B-9D54-BB40CF9DE0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B5A86A4-352B-4802-833A-F92033DA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22229C-281F-44CB-A26A-AE94F790D4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E034F8F-90ED-432E-9A06-4839F1917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E5C2FB2-0394-4CD1-8456-7AA632DE68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81398B9-2408-456C-B2E5-006FC35A23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A0B919-FE49-4E21-9E85-67D61DD847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98405A2-2998-4ED9-ABC4-F8E43824C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BBE1EFD-B6A7-4248-A7B5-3097A53249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47EF5A3-7EA0-450F-A5BA-0A828EEE25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237B086-5557-4FC5-A0E2-967B694F3C3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8A3A325-08C2-40A5-8C20-BFA95FF86A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E5E79AC-0A38-44F0-8FED-0B33CF57E9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B5ED382-6728-447A-A83D-B32D4195C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161ACFB-B250-4CBC-8F33-085ED80DFF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C7B9769-9D2E-4DA1-9383-817AAEED0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B032B35-9174-4451-8130-691124BE5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FA6A8C-C57B-4BB0-9283-ECC915B179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A9011E2-C558-47B8-AA1F-C0EA74DE9E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939FCEA-080D-4D62-A2F3-4A80ADF3B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2AD286-43D1-4CBF-B1F0-C047647E4C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CD86AD3-BD8E-4988-84FC-B9B798A76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1A658EE-D118-4B8A-A5DC-5D7AE5ABBD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E94B1DA-04E5-4D30-B89C-BA84A53C08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1C4873A-A4DE-4175-B317-0EC0138475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8A629E-CE2D-4B38-A6AF-9BDE5D8215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248B263-5AF7-4CF7-AA4C-28D5561289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CE1244-0C00-4C31-92AD-2248EDFFD1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9E5B51-94B6-4A78-A414-6DAFD06ED9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D07CE4F-4EA3-48AD-BB66-1408C4C59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3F24BD-7CC6-481C-9D5B-927A2DE32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6234040-7BE6-49BF-992B-7F7A48AB32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7C5F5F-7FED-4B1F-B96F-58FAE8AEBD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C3F81C-93C1-409B-B873-0199E63BB3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D1206A3-55F4-43AB-BE8D-191243027B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8F2BF9-7940-48C5-8B14-DA446AEE9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5C7839F-A761-4EA1-8AC3-CEEFDAEA3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A4FBB8-3329-466E-8929-0EE61BAE80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E1FFC56-AA4F-47E0-BFA9-23EC440E7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44D926-9D67-41A1-8646-419E34DAA6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6361789-C785-4E1F-BE1D-E2516CFE9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606149-E04F-4888-941D-6525F01F0D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74752F8-CB88-4951-AE68-27AD7CB347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00B95A1-01B7-4211-AA3E-4E322F52FA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D7E4450-7081-4C22-B816-892D4D1B4C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5C425E-74CC-4918-8BD8-A213F41457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5DB5B1-D3EE-4613-BBC7-07D12268C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BEDB988-3E36-4B18-8CC5-4CDA51F5A5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46EA3BF-1F17-4A04-809F-F17B69D013D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EFEDB4F-264C-49F9-93DE-51D0D0E5924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F790B46-0C12-4993-B987-7FDD083C85D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13D6561-20A9-4385-A12B-7C429133B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57B33DB-B629-4629-854E-4877A94528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42C4A32-A786-4CA8-B2B2-5D3C8368D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46D7FE9-AE40-4AE8-B8D9-424688D7F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8251A8A-98DF-474A-AA61-77B578A4E1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C72F55A-773C-485D-8D2C-56BBD2655C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AD80E6E-E6D4-4AE2-B740-B8D91545AB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C2FBD03-F34F-49EC-BE06-E23644E69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41A1FF2-F867-422C-A612-2E369FB22A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BC2F85E-9DC1-4B75-AF5A-C4C2C3CF43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56E2E8-6C51-46B3-AE6A-AB0985F56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16AFAD7-9E7F-4541-A102-C920C4477B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D791C80-CBBD-424E-BA39-BB80086105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480883D-21B1-4576-806B-D532B08B1D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06FD9DF-9B37-4798-B642-BB85FD2795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A114109-23BA-425A-A75E-377A15658F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5F67F1-DA41-4B1A-BE27-FA2C0970B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4CFB18B-BB4B-4C43-BD88-26CEF72C53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54CC96A-2CDB-47EE-A65B-05240D4018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8BF772C-ED13-45BC-AB92-9E71A5D113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3D2CEBC-CBCF-4E82-805F-29B4067BFA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EB33273-2089-4A04-A79E-6FA0F0BB26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4446C7-8018-457B-93BB-4F94ECD3A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734E284-79F6-4F95-B63F-F2281F4FF0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A70744-DD14-4C36-994A-9FCC679707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BFF385-F502-479E-ACFF-FE6ADC2B21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3BED77-CE19-451F-85E2-A9B7A63AB2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AD4D2EB-756D-4270-A0E6-B6811190B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F21B779-5DD7-4F70-865B-EB36C33C05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86A349E-D86F-4D96-9908-83A0A5914A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B29452-B515-493F-9993-F5D8E4F2BA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5790367-2042-42AB-B655-478513A792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c8b65b5034c69" /><Relationship Type="http://schemas.openxmlformats.org/officeDocument/2006/relationships/slideLayout" Target="/ppt/slideLayouts/slideLayout1.xml" Id="Rfefc8d0b38ef439f" /><Relationship Type="http://schemas.openxmlformats.org/officeDocument/2006/relationships/slideLayout" Target="/ppt/slideLayouts/slideLayout2.xml" Id="Rf9301820948b41bd" /><Relationship Type="http://schemas.openxmlformats.org/officeDocument/2006/relationships/slideLayout" Target="/ppt/slideLayouts/slideLayout3.xml" Id="R3ffef5376ef44b16" /><Relationship Type="http://schemas.openxmlformats.org/officeDocument/2006/relationships/slideLayout" Target="/ppt/slideLayouts/slideLayout4.xml" Id="Rb23cb43501ef4b6a" /><Relationship Type="http://schemas.openxmlformats.org/officeDocument/2006/relationships/slideLayout" Target="/ppt/slideLayouts/slideLayout5.xml" Id="Rf09bcc7f3d524314" /><Relationship Type="http://schemas.openxmlformats.org/officeDocument/2006/relationships/slideLayout" Target="/ppt/slideLayouts/slideLayout6.xml" Id="R406d69bd1c2a4e9f" /><Relationship Type="http://schemas.openxmlformats.org/officeDocument/2006/relationships/slideLayout" Target="/ppt/slideLayouts/slideLayout7.xml" Id="R0f9442c29c244236" /><Relationship Type="http://schemas.openxmlformats.org/officeDocument/2006/relationships/slideLayout" Target="/ppt/slideLayouts/slideLayout8.xml" Id="Re2ea953daf704cd2" /><Relationship Type="http://schemas.openxmlformats.org/officeDocument/2006/relationships/slideLayout" Target="/ppt/slideLayouts/slideLayout9.xml" Id="Ra6d3846e8dc94e06" /><Relationship Type="http://schemas.openxmlformats.org/officeDocument/2006/relationships/slideLayout" Target="/ppt/slideLayouts/slideLayout10.xml" Id="Rb421e0b8fe1343a6" /><Relationship Type="http://schemas.openxmlformats.org/officeDocument/2006/relationships/slideLayout" Target="/ppt/slideLayouts/slideLayout11.xml" Id="R13c5361a68cd4586" /><Relationship Type="http://schemas.openxmlformats.org/officeDocument/2006/relationships/slideLayout" Target="/ppt/slideLayouts/slideLayout12.xml" Id="R60dd9b363ffd400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4f467a0860a4d47" /><Relationship Type="http://schemas.openxmlformats.org/officeDocument/2006/relationships/slideLayout" Target="/ppt/slideLayouts/slideLayout13.xml" Id="R3cd72c8da9744d44" /><Relationship Type="http://schemas.openxmlformats.org/officeDocument/2006/relationships/slideLayout" Target="/ppt/slideLayouts/slideLayout14.xml" Id="R3ec249c92fd84dc5" /><Relationship Type="http://schemas.openxmlformats.org/officeDocument/2006/relationships/slideLayout" Target="/ppt/slideLayouts/slideLayout15.xml" Id="Rd33df3f0a48247aa" /><Relationship Type="http://schemas.openxmlformats.org/officeDocument/2006/relationships/slideLayout" Target="/ppt/slideLayouts/slideLayout16.xml" Id="Rde766a3149a74484" /><Relationship Type="http://schemas.openxmlformats.org/officeDocument/2006/relationships/slideLayout" Target="/ppt/slideLayouts/slideLayout17.xml" Id="R4baf6203469f4faa" /><Relationship Type="http://schemas.openxmlformats.org/officeDocument/2006/relationships/slideLayout" Target="/ppt/slideLayouts/slideLayout18.xml" Id="R361db2f8b7664449" /><Relationship Type="http://schemas.openxmlformats.org/officeDocument/2006/relationships/slideLayout" Target="/ppt/slideLayouts/slideLayout19.xml" Id="R29021314b71d4f2e" /><Relationship Type="http://schemas.openxmlformats.org/officeDocument/2006/relationships/slideLayout" Target="/ppt/slideLayouts/slideLayout20.xml" Id="R4e3f043282f1419b" /><Relationship Type="http://schemas.openxmlformats.org/officeDocument/2006/relationships/slideLayout" Target="/ppt/slideLayouts/slideLayout21.xml" Id="R683b830823f44a45" /><Relationship Type="http://schemas.openxmlformats.org/officeDocument/2006/relationships/slideLayout" Target="/ppt/slideLayouts/slideLayout22.xml" Id="R67cda3aa59f94cdb" /><Relationship Type="http://schemas.openxmlformats.org/officeDocument/2006/relationships/slideLayout" Target="/ppt/slideLayouts/slideLayout23.xml" Id="R4c8ed2d5dbdb4b79" /><Relationship Type="http://schemas.openxmlformats.org/officeDocument/2006/relationships/slideLayout" Target="/ppt/slideLayouts/slideLayout24.xml" Id="R4bde53a0587c4f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BB9B013-A86F-4BA9-9761-FC03FF828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42B142-F5DA-4966-B00C-659CCAA76C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92B952-CF75-44AC-BF64-264D6957E9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9C4202-5983-46E7-B995-1A0CAFCBB3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0B3FDC-53AA-40AD-9F48-020A1C2EBE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fc8d0b38ef439f"/>
    <p:sldLayoutId xmlns:r="http://schemas.openxmlformats.org/officeDocument/2006/relationships" id="2147483650" r:id="Rf9301820948b41bd"/>
    <p:sldLayoutId xmlns:r="http://schemas.openxmlformats.org/officeDocument/2006/relationships" id="2147483651" r:id="R3ffef5376ef44b16"/>
    <p:sldLayoutId xmlns:r="http://schemas.openxmlformats.org/officeDocument/2006/relationships" id="2147483652" r:id="Rb23cb43501ef4b6a"/>
    <p:sldLayoutId xmlns:r="http://schemas.openxmlformats.org/officeDocument/2006/relationships" id="2147483653" r:id="Rf09bcc7f3d524314"/>
    <p:sldLayoutId xmlns:r="http://schemas.openxmlformats.org/officeDocument/2006/relationships" id="2147483654" r:id="R406d69bd1c2a4e9f"/>
    <p:sldLayoutId xmlns:r="http://schemas.openxmlformats.org/officeDocument/2006/relationships" id="2147483655" r:id="R0f9442c29c244236"/>
    <p:sldLayoutId xmlns:r="http://schemas.openxmlformats.org/officeDocument/2006/relationships" id="2147483656" r:id="Re2ea953daf704cd2"/>
    <p:sldLayoutId xmlns:r="http://schemas.openxmlformats.org/officeDocument/2006/relationships" id="2147483657" r:id="Ra6d3846e8dc94e06"/>
    <p:sldLayoutId xmlns:r="http://schemas.openxmlformats.org/officeDocument/2006/relationships" id="2147483658" r:id="Rb421e0b8fe1343a6"/>
    <p:sldLayoutId xmlns:r="http://schemas.openxmlformats.org/officeDocument/2006/relationships" id="2147483659" r:id="R13c5361a68cd4586"/>
    <p:sldLayoutId xmlns:r="http://schemas.openxmlformats.org/officeDocument/2006/relationships" id="2147483660" r:id="R60dd9b363ffd4003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D311938-5068-42E8-B024-82A3F9536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D3D05AD-DA52-4B7B-B91D-D059691C7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116FA6-DFCB-43FD-9E63-FC2DC17E2A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13AC84-0808-47CC-8431-D1F9E427D4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6F0A16-8D25-488B-8A46-2ED45861B6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3cd72c8da9744d44"/>
    <p:sldLayoutId xmlns:r="http://schemas.openxmlformats.org/officeDocument/2006/relationships" id="2147483663" r:id="R3ec249c92fd84dc5"/>
    <p:sldLayoutId xmlns:r="http://schemas.openxmlformats.org/officeDocument/2006/relationships" id="2147483664" r:id="Rd33df3f0a48247aa"/>
    <p:sldLayoutId xmlns:r="http://schemas.openxmlformats.org/officeDocument/2006/relationships" id="2147483665" r:id="Rde766a3149a74484"/>
    <p:sldLayoutId xmlns:r="http://schemas.openxmlformats.org/officeDocument/2006/relationships" id="2147483666" r:id="R4baf6203469f4faa"/>
    <p:sldLayoutId xmlns:r="http://schemas.openxmlformats.org/officeDocument/2006/relationships" id="2147483667" r:id="R361db2f8b7664449"/>
    <p:sldLayoutId xmlns:r="http://schemas.openxmlformats.org/officeDocument/2006/relationships" id="2147483668" r:id="R29021314b71d4f2e"/>
    <p:sldLayoutId xmlns:r="http://schemas.openxmlformats.org/officeDocument/2006/relationships" id="2147483669" r:id="R4e3f043282f1419b"/>
    <p:sldLayoutId xmlns:r="http://schemas.openxmlformats.org/officeDocument/2006/relationships" id="2147483670" r:id="R683b830823f44a45"/>
    <p:sldLayoutId xmlns:r="http://schemas.openxmlformats.org/officeDocument/2006/relationships" id="2147483671" r:id="R67cda3aa59f94cdb"/>
    <p:sldLayoutId xmlns:r="http://schemas.openxmlformats.org/officeDocument/2006/relationships" id="2147483672" r:id="R4c8ed2d5dbdb4b79"/>
    <p:sldLayoutId xmlns:r="http://schemas.openxmlformats.org/officeDocument/2006/relationships" id="2147483673" r:id="R4bde53a0587c4f0f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9811f5f06674958" /><Relationship Type="http://schemas.openxmlformats.org/officeDocument/2006/relationships/image" Target="/ppt/media/image.png" Id="Rff5ec63c7f3349d8" /><Relationship Type="http://schemas.openxmlformats.org/officeDocument/2006/relationships/image" Target="/ppt/media/image2.png" Id="R10393bf78b2d49a6" /><Relationship Type="http://schemas.openxmlformats.org/officeDocument/2006/relationships/image" Target="/ppt/media/image3.png" Id="Ra035731ac10b4907" /><Relationship Type="http://schemas.openxmlformats.org/officeDocument/2006/relationships/notesSlide" Target="/ppt/notesSlides/notesSlide1.xml" Id="R3b71f91dd764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057f13cdf3445b" /><Relationship Type="http://schemas.openxmlformats.org/officeDocument/2006/relationships/image" Target="/ppt/media/image.png" Id="R557f737c6a7140c8" /><Relationship Type="http://schemas.openxmlformats.org/officeDocument/2006/relationships/image" Target="/ppt/media/image2.png" Id="R307fe19e658449f1" /><Relationship Type="http://schemas.openxmlformats.org/officeDocument/2006/relationships/image" Target="/ppt/media/image3.png" Id="R7e7e835b38fc45c3" /><Relationship Type="http://schemas.openxmlformats.org/officeDocument/2006/relationships/notesSlide" Target="/ppt/notesSlides/notesSlide2.xml" Id="R14c17e39c53b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85c0e4c02f4e53" /><Relationship Type="http://schemas.openxmlformats.org/officeDocument/2006/relationships/image" Target="/ppt/media/image.png" Id="R6bdf0b2d35dd4631" /><Relationship Type="http://schemas.openxmlformats.org/officeDocument/2006/relationships/image" Target="/ppt/media/image2.png" Id="Rf195ce31cec645ad" /><Relationship Type="http://schemas.openxmlformats.org/officeDocument/2006/relationships/image" Target="/ppt/media/image3.png" Id="R6413e6260b31418a" /><Relationship Type="http://schemas.openxmlformats.org/officeDocument/2006/relationships/notesSlide" Target="/ppt/notesSlides/notesSlide3.xml" Id="Rdc46f7bed8fa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96abd186434990" /><Relationship Type="http://schemas.openxmlformats.org/officeDocument/2006/relationships/image" Target="/ppt/media/image.png" Id="R9070bdef830b4870" /><Relationship Type="http://schemas.openxmlformats.org/officeDocument/2006/relationships/image" Target="/ppt/media/image2.png" Id="R10b91a36e0d64304" /><Relationship Type="http://schemas.openxmlformats.org/officeDocument/2006/relationships/image" Target="/ppt/media/image3.png" Id="Rf7fd13767a414ffc" /><Relationship Type="http://schemas.openxmlformats.org/officeDocument/2006/relationships/notesSlide" Target="/ppt/notesSlides/notesSlide4.xml" Id="Rc59f44aa8336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6889e5eb5fe4049" /><Relationship Type="http://schemas.openxmlformats.org/officeDocument/2006/relationships/image" Target="/ppt/media/image.png" Id="Rce37ff65488f497c" /><Relationship Type="http://schemas.openxmlformats.org/officeDocument/2006/relationships/image" Target="/ppt/media/image2.png" Id="R2e88acc6cde54dfb" /><Relationship Type="http://schemas.openxmlformats.org/officeDocument/2006/relationships/image" Target="/ppt/media/image3.png" Id="R90d353f2c0f04547" /><Relationship Type="http://schemas.openxmlformats.org/officeDocument/2006/relationships/notesSlide" Target="/ppt/notesSlides/notesSlide5.xml" Id="Rfe3f2b5a63b548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713ded4a964c39" /><Relationship Type="http://schemas.openxmlformats.org/officeDocument/2006/relationships/image" Target="/ppt/media/image.png" Id="R890f0ebdd8a84d32" /><Relationship Type="http://schemas.openxmlformats.org/officeDocument/2006/relationships/image" Target="/ppt/media/image2.png" Id="R9555783c5842452e" /><Relationship Type="http://schemas.openxmlformats.org/officeDocument/2006/relationships/image" Target="/ppt/media/image3.png" Id="R439dad5e004e4a79" /><Relationship Type="http://schemas.openxmlformats.org/officeDocument/2006/relationships/notesSlide" Target="/ppt/notesSlides/notesSlide6.xml" Id="R8fe7fd372d67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f1a7f429a647e0" /><Relationship Type="http://schemas.openxmlformats.org/officeDocument/2006/relationships/image" Target="/ppt/media/image.png" Id="Ra57516b8c8354cf9" /><Relationship Type="http://schemas.openxmlformats.org/officeDocument/2006/relationships/image" Target="/ppt/media/image2.png" Id="Reeeec47e06594d7c" /><Relationship Type="http://schemas.openxmlformats.org/officeDocument/2006/relationships/image" Target="/ppt/media/image3.png" Id="R0663d17b3adb45ba" /><Relationship Type="http://schemas.openxmlformats.org/officeDocument/2006/relationships/image" Target="/ppt/media/image.jpeg" Id="Rdf38dcddbec74a4d" /><Relationship Type="http://schemas.openxmlformats.org/officeDocument/2006/relationships/notesSlide" Target="/ppt/notesSlides/notesSlide7.xml" Id="R84a92fdfbd7a42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5760dda9c24031" /><Relationship Type="http://schemas.openxmlformats.org/officeDocument/2006/relationships/image" Target="/ppt/media/image.png" Id="Rc4ff4ae23dca442c" /><Relationship Type="http://schemas.openxmlformats.org/officeDocument/2006/relationships/image" Target="/ppt/media/image2.png" Id="Rc446b14cee904479" /><Relationship Type="http://schemas.openxmlformats.org/officeDocument/2006/relationships/image" Target="/ppt/media/image3.png" Id="R32584866777f469b" /><Relationship Type="http://schemas.openxmlformats.org/officeDocument/2006/relationships/notesSlide" Target="/ppt/notesSlides/notesSlide8.xml" Id="Ree973b5b33be42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dec171616411455f" /><Relationship Type="http://schemas.openxmlformats.org/officeDocument/2006/relationships/image" Target="/ppt/media/image.png" Id="Rb435d2b5fa40495f" /><Relationship Type="http://schemas.openxmlformats.org/officeDocument/2006/relationships/image" Target="/ppt/media/image2.png" Id="R6d63f53496324306" /><Relationship Type="http://schemas.openxmlformats.org/officeDocument/2006/relationships/image" Target="/ppt/media/image3.png" Id="R1415030a0afe4c8f" /><Relationship Type="http://schemas.openxmlformats.org/officeDocument/2006/relationships/image" Target="/ppt/media/image4.png" Id="R5ad34ebaca8749ef" /><Relationship Type="http://schemas.openxmlformats.org/officeDocument/2006/relationships/notesSlide" Target="/ppt/notesSlides/notesSlide9.xml" Id="Rafde8f2d544841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e80cea6a80f84283" /><Relationship Type="http://schemas.openxmlformats.org/officeDocument/2006/relationships/image" Target="/ppt/media/image.png" Id="R96cedba18bfe446b" /><Relationship Type="http://schemas.openxmlformats.org/officeDocument/2006/relationships/image" Target="/ppt/media/image2.png" Id="R38e96484ce964613" /><Relationship Type="http://schemas.openxmlformats.org/officeDocument/2006/relationships/image" Target="/ppt/media/image3.png" Id="R40e1a4209ab9491e" /><Relationship Type="http://schemas.openxmlformats.org/officeDocument/2006/relationships/image" Target="/ppt/media/image5.png" Id="R5b16b4bc4d064380" /><Relationship Type="http://schemas.openxmlformats.org/officeDocument/2006/relationships/notesSlide" Target="/ppt/notesSlides/notesSlide10.xml" Id="R2fad4446859a4e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9b96de960d4757" /><Relationship Type="http://schemas.openxmlformats.org/officeDocument/2006/relationships/image" Target="/ppt/media/image.png" Id="R865c7d1703f34dac" /><Relationship Type="http://schemas.openxmlformats.org/officeDocument/2006/relationships/image" Target="/ppt/media/image2.png" Id="Rde8d6b7903c241bd" /><Relationship Type="http://schemas.openxmlformats.org/officeDocument/2006/relationships/image" Target="/ppt/media/image3.png" Id="R893639dac67246a8" /><Relationship Type="http://schemas.openxmlformats.org/officeDocument/2006/relationships/notesSlide" Target="/ppt/notesSlides/notesSlide11.xml" Id="Racffba3467ef40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e6a8da05d94ff0" /><Relationship Type="http://schemas.openxmlformats.org/officeDocument/2006/relationships/image" Target="/ppt/media/image.png" Id="R527746545fd54a65" /><Relationship Type="http://schemas.openxmlformats.org/officeDocument/2006/relationships/image" Target="/ppt/media/image2.png" Id="R94f6897eb0694a49" /><Relationship Type="http://schemas.openxmlformats.org/officeDocument/2006/relationships/image" Target="/ppt/media/image3.png" Id="R97668f32c08e471e" /><Relationship Type="http://schemas.openxmlformats.org/officeDocument/2006/relationships/notesSlide" Target="/ppt/notesSlides/notesSlide12.xml" Id="Rb5af765ae41743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52ee199e534ecb" /><Relationship Type="http://schemas.openxmlformats.org/officeDocument/2006/relationships/image" Target="/ppt/media/image.png" Id="R4234d55f311d4135" /><Relationship Type="http://schemas.openxmlformats.org/officeDocument/2006/relationships/image" Target="/ppt/media/image2.png" Id="R6dcd43cbceed41d2" /><Relationship Type="http://schemas.openxmlformats.org/officeDocument/2006/relationships/image" Target="/ppt/media/image3.png" Id="R827cda371c4d49f8" /><Relationship Type="http://schemas.openxmlformats.org/officeDocument/2006/relationships/notesSlide" Target="/ppt/notesSlides/notesSlide13.xml" Id="R58d75d05b8bb42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d2e573ae284d94" /><Relationship Type="http://schemas.openxmlformats.org/officeDocument/2006/relationships/image" Target="/ppt/media/image.png" Id="Rda6b699d29144514" /><Relationship Type="http://schemas.openxmlformats.org/officeDocument/2006/relationships/image" Target="/ppt/media/image2.png" Id="Re4dccc5945114ba1" /><Relationship Type="http://schemas.openxmlformats.org/officeDocument/2006/relationships/image" Target="/ppt/media/image3.png" Id="R11a000b467434f7c" /><Relationship Type="http://schemas.openxmlformats.org/officeDocument/2006/relationships/notesSlide" Target="/ppt/notesSlides/notesSlide14.xml" Id="R1bf7b22d9d3648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9dee18d3f644f4" /><Relationship Type="http://schemas.openxmlformats.org/officeDocument/2006/relationships/image" Target="/ppt/media/image.png" Id="Rc676938210194dfe" /><Relationship Type="http://schemas.openxmlformats.org/officeDocument/2006/relationships/image" Target="/ppt/media/image2.png" Id="Rb4dc6152ca364d3d" /><Relationship Type="http://schemas.openxmlformats.org/officeDocument/2006/relationships/image" Target="/ppt/media/image3.png" Id="Rebce1d896f6c4092" /><Relationship Type="http://schemas.openxmlformats.org/officeDocument/2006/relationships/image" Target="/ppt/media/image6.png" Id="R698b507163214f23" /><Relationship Type="http://schemas.openxmlformats.org/officeDocument/2006/relationships/image" Target="/ppt/media/image7.png" Id="R4d57af552fa24b10" /><Relationship Type="http://schemas.openxmlformats.org/officeDocument/2006/relationships/image" Target="/ppt/media/image8.png" Id="R8aebb0a186c649ce" /><Relationship Type="http://schemas.openxmlformats.org/officeDocument/2006/relationships/image" Target="/ppt/media/image9.png" Id="Rf3ac5f54b66448b9" /><Relationship Type="http://schemas.openxmlformats.org/officeDocument/2006/relationships/notesSlide" Target="/ppt/notesSlides/notesSlide15.xml" Id="R14ce2d3503a24c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33172118584e9e" /><Relationship Type="http://schemas.openxmlformats.org/officeDocument/2006/relationships/image" Target="/ppt/media/image.png" Id="Raf3a697ab4d74266" /><Relationship Type="http://schemas.openxmlformats.org/officeDocument/2006/relationships/image" Target="/ppt/media/image2.png" Id="Re647600bdb1e4a38" /><Relationship Type="http://schemas.openxmlformats.org/officeDocument/2006/relationships/image" Target="/ppt/media/image3.png" Id="Ra1d9b111b90a472c" /><Relationship Type="http://schemas.openxmlformats.org/officeDocument/2006/relationships/image" Target="/ppt/media/image6.png" Id="R3ff1c383d6ef4fd8" /><Relationship Type="http://schemas.openxmlformats.org/officeDocument/2006/relationships/image" Target="/ppt/media/image7.png" Id="Re7394c949f854553" /><Relationship Type="http://schemas.openxmlformats.org/officeDocument/2006/relationships/notesSlide" Target="/ppt/notesSlides/notesSlide16.xml" Id="Rff08357771fd41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73c44d4ed74115" /><Relationship Type="http://schemas.openxmlformats.org/officeDocument/2006/relationships/image" Target="/ppt/media/image.png" Id="R58fcd310129a4824" /><Relationship Type="http://schemas.openxmlformats.org/officeDocument/2006/relationships/image" Target="/ppt/media/image2.png" Id="Reba132ad44354f78" /><Relationship Type="http://schemas.openxmlformats.org/officeDocument/2006/relationships/image" Target="/ppt/media/image3.png" Id="Rcc06cab550354d44" /><Relationship Type="http://schemas.openxmlformats.org/officeDocument/2006/relationships/image" Target="/ppt/media/image6.png" Id="R65ce322d8cff45c3" /><Relationship Type="http://schemas.openxmlformats.org/officeDocument/2006/relationships/image" Target="/ppt/media/image7.png" Id="R38e21a4096564aca" /><Relationship Type="http://schemas.openxmlformats.org/officeDocument/2006/relationships/image" Target="/ppt/media/image10.png" Id="R288a6f5be44446f0" /><Relationship Type="http://schemas.openxmlformats.org/officeDocument/2006/relationships/notesSlide" Target="/ppt/notesSlides/notesSlide17.xml" Id="Rb326d4a75af348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10ff1f7386f42bc" /><Relationship Type="http://schemas.openxmlformats.org/officeDocument/2006/relationships/image" Target="/ppt/media/image.png" Id="R90b25347af434489" /><Relationship Type="http://schemas.openxmlformats.org/officeDocument/2006/relationships/image" Target="/ppt/media/image2.png" Id="Red59c74912934c9f" /><Relationship Type="http://schemas.openxmlformats.org/officeDocument/2006/relationships/image" Target="/ppt/media/image3.png" Id="R1465c17d6c664bc2" /><Relationship Type="http://schemas.openxmlformats.org/officeDocument/2006/relationships/notesSlide" Target="/ppt/notesSlides/notesSlide18.xml" Id="Recfd704cbdcc41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c93b21af914153" /><Relationship Type="http://schemas.openxmlformats.org/officeDocument/2006/relationships/image" Target="/ppt/media/image.png" Id="Rd9a79ff693184e38" /><Relationship Type="http://schemas.openxmlformats.org/officeDocument/2006/relationships/image" Target="/ppt/media/image2.png" Id="Rad4a40cd73b54412" /><Relationship Type="http://schemas.openxmlformats.org/officeDocument/2006/relationships/image" Target="/ppt/media/image3.png" Id="R1e6e2aeff0cb4b0e" /><Relationship Type="http://schemas.openxmlformats.org/officeDocument/2006/relationships/notesSlide" Target="/ppt/notesSlides/notesSlide19.xml" Id="Rcdac34e26cb44aa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a5ef39a5cb4430" /><Relationship Type="http://schemas.openxmlformats.org/officeDocument/2006/relationships/image" Target="/ppt/media/image.png" Id="Rc88485854e514d49" /><Relationship Type="http://schemas.openxmlformats.org/officeDocument/2006/relationships/image" Target="/ppt/media/image2.png" Id="R0859e15e5a814e96" /><Relationship Type="http://schemas.openxmlformats.org/officeDocument/2006/relationships/image" Target="/ppt/media/image3.png" Id="R7d5f42ead2e9497f" /><Relationship Type="http://schemas.openxmlformats.org/officeDocument/2006/relationships/notesSlide" Target="/ppt/notesSlides/notesSlide20.xml" Id="R72ccfc0cb4254f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704f842df34f98" /><Relationship Type="http://schemas.openxmlformats.org/officeDocument/2006/relationships/image" Target="/ppt/media/image.png" Id="R08bde452b9574d7a" /><Relationship Type="http://schemas.openxmlformats.org/officeDocument/2006/relationships/image" Target="/ppt/media/image2.png" Id="Rb7921afea071444e" /><Relationship Type="http://schemas.openxmlformats.org/officeDocument/2006/relationships/image" Target="/ppt/media/image3.png" Id="Re5b042632f954b85" /><Relationship Type="http://schemas.openxmlformats.org/officeDocument/2006/relationships/image" Target="/ppt/media/image11.png" Id="Rfc635fc04d004f0b" /><Relationship Type="http://schemas.openxmlformats.org/officeDocument/2006/relationships/notesSlide" Target="/ppt/notesSlides/notesSlide21.xml" Id="Rcbe2114cac0442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FF6CD1C-CB00-43C7-A5A7-3E1C620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7" y="1652137"/>
            <a:ext cx="9929546" cy="131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Semester Report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潍柴订单分拣智能调度项目学期汇报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6B9E84-F8FB-4F1F-8054-2F40B610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06635"/>
            <a:ext cx="12192000" cy="751365"/>
          </a:xfrm>
          <a:custGeom xmlns:a="http://schemas.openxmlformats.org/drawingml/2006/main"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 xmlns:a="http://schemas.openxmlformats.org/drawingml/2006/main">
            <a:srgbClr val="306A9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F9A0C67-6AD3-4B78-8897-3CA3D3D7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ec63c7f3349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9929" y="226764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93bf78b2d49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107" y="247544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5731ac10b49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2601" y="92822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76F98F80-F2DB-45F2-AA69-207B12C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557" y="3525011"/>
            <a:ext cx="954567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65A97F6-DCA7-49F1-8EE4-11D33DA1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3" y="3826303"/>
            <a:ext cx="3290153" cy="1078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135"/>
              <a:t>汇报人：</a:t>
            </a:r>
            <a:r>
              <a:rPr sz="2135"/>
              <a:t>王志豪</a:t>
            </a:r>
          </a:p>
          <a:p xmlns:a="http://schemas.openxmlformats.org/drawingml/2006/main">
            <a:r>
              <a:rPr sz="2135"/>
              <a:t>指导老师：</a:t>
            </a:r>
            <a:r>
              <a:rPr sz="2135"/>
              <a:t>张利国</a:t>
            </a:r>
          </a:p>
          <a:p xmlns:a="http://schemas.openxmlformats.org/drawingml/2006/main">
            <a:r>
              <a:rPr sz="2135"/>
              <a:t>日期：2026.07</a:t>
            </a:r>
          </a:p>
        </p:txBody>
      </p:sp>
    </p:spTree>
    <p:extLst>
      <p:ext uri="{BB962C8B-B14F-4D97-AF65-F5344CB8AC3E}">
        <p14:creationId xmlns:p14="http://schemas.microsoft.com/office/powerpoint/2010/main" val="1624989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6047A5A3-BAFA-4D2C-AC7E-08348EC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7DBAA13-909B-4AA3-8662-727D553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1B9835B-2BBE-41B5-A17B-D27F81CD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f737c6a7140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fe19e658449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e835b38fc45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12C15A61-29FD-4EBF-B846-47DBDDD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8AE85806-F6BC-44E5-A026-A07EC9D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62182E5-9042-486E-84A5-1FE61F97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E1C7FF50-35D0-4B3D-9417-9CA6F1F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A4D2D3C-2D41-478A-BB24-6D3A32F4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E8F7E5EA-709B-48CC-A5D8-6D0AF76C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10B10D3-3F73-41EE-A57C-2E1A8868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63A40A77-414A-472B-9BA6-7D8977CC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4618408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14D3C8D-5657-4B0A-97F1-1072B21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4359706"/>
            <a:ext cx="2354040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9A2C03B4-AAB4-4C2C-8361-C92DF54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FFE1B2D-8EEA-4B9C-9AE3-494A241E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99C9549-F57E-47D5-90BD-63CE753F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5" y="5668943"/>
            <a:ext cx="445881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26965A6-E848-47B9-8249-10659FB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5" y="5410241"/>
            <a:ext cx="2320379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15202465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C39AD823-AF37-41B9-987D-C038DD9A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2F9FE5C-A022-4356-AB32-A34B289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C76DBD0-338C-4B6A-8AFB-73C4EB6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f0b2d35dd46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5ce31cec645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3e6260b3141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2E449E9E-942F-4CAE-B05C-E6E0C4D0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000CD80C-75F4-4CCB-A00E-448E23DB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66F2D77-049F-4273-8D76-AA51710E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</p:spTree>
    <p:extLst>
      <p:ext uri="{BB962C8B-B14F-4D97-AF65-F5344CB8AC3E}">
        <p14:creationId xmlns:p14="http://schemas.microsoft.com/office/powerpoint/2010/main" val="7438577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4ABE6FA0-719D-407B-8331-3F91101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0bdef830b48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91a36e0d643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d13767a414f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5DC4042F-F691-422D-B638-6B7AFC1A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ACCC0C-5F99-4788-B86B-5676A94C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572750" cy="50673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研究意义：将经验分配转化为可仿真、可验证、可接口化调用的调度能力，降低站台拥堵和库存等待。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C1A5DF3-70A6-4163-B7B1-C5C08F05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" y="1827530"/>
            <a:ext cx="9989820" cy="3861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随着制造企业订单类型和生产节奏不断变化，仓储与分拣环节面临越来越明显的动态调度压力。以潍柴订单分拣场景为例，订单通常包含多个 SKU、不同数量和不同处理时间，分拣站台数量有限，且现场还受到库存状态、站台负载、排队等待、物料搬运距离等因素影响。传统依赖人工经验或固定规则的分配方式，在订单波动较大、物料结构复杂、资源状态实时变化的情况下，容易出现站台忙闲不均、局部拥堵、订单等待时间较长、整体完工效率不稳定等问题。</a:t>
            </a:r>
          </a:p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因此，如何将订单、SKU 工时、库存快照、站台资源等业务数据转化为可计算、可仿真、可验证的调度模型，成为提升分拣效率的重要问题。本项目围绕潍柴订单分拣业务，研究基于强化学习的智能调度方法，并结合离散事件仿真、数据库管理、后端服务和前端可视化，构建订单分拣智能调度与数字孪生仿真系统。项目旨在通过智能算法实现订单到站台的合理分配，减少站台拥堵和库存等待，提高订单分拣效率，并为实际业务场景中的调度优化和系统落地提供可验证的技术路径。</a:t>
            </a:r>
          </a:p>
        </p:txBody>
      </p:sp>
    </p:spTree>
    <p:extLst>
      <p:ext uri="{BB962C8B-B14F-4D97-AF65-F5344CB8AC3E}">
        <p14:creationId xmlns:p14="http://schemas.microsoft.com/office/powerpoint/2010/main" val="13768617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5CA6B2E-F67F-4728-AEEF-4EED3561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7ff65488f49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8acc6cde54d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53f2c0f045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3E1C5352-35CB-42F4-846A-81637053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9C74A01-DBE0-4B69-AEB0-CAD5E4E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353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我本学期的学习任务本身就是项目落地的一部分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C1EEB82-5D4F-41E2-A87B-A9E8B3DD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073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rPr>
              <a:t>从基础概念补齐，到能解释每个模块为什么存在、怎样验证。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A791CE0-D9FF-4664-BABF-7BAAE48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CC36660-7ED9-40F7-9991-AC8F8BA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强化学习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8719F27-CB70-463E-AF48-F22FB33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环境、动作、奖励、PPO、动作掩码、checkpoint 选择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5A9F14B-7DDB-4ECC-999E-CF79C155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571670-7F8B-4411-8D44-641A794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数据与数据库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E246F9F-DC7C-4B13-B2EA-DA1C90E8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Excel 清洗、SKU 工时、库存快照、MySQL 表结构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94DBB53-3167-4213-8843-5870EDD1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458BCC5-99F4-4959-97B9-32F8A9C9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后端服务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A69D6A-37EC-4671-B527-D00C195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FastAPI 接口、订单导入、仿真任务、状态轮询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5678DCB-C217-472F-AB2D-7C8418A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EAAF8D8-2B04-4E17-9427-83EF1468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前端展示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25FFB27-1E85-41B6-911F-BDE32EA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Vue + Three.js 的订单进度、站台状态和3D动画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F475218-E07E-419D-8F57-67D0882F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2664C46-65D1-413D-B046-D5543C7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落地验证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404F3C-8B8B-42CC-9F77-376057D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历史回放、库存等待、站台工时效率等业务指标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18CA1BD-4B86-4A42-AB6A-CBBB84F5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29CC5A2-64CE-4025-8621-1ABC0B4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17766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汇报重点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ED2E924-1D75-44FC-A4F4-E6187D9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48175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项目做了什么。</a:t>
            </a:r>
          </a:p>
        </p:txBody>
      </p:sp>
    </p:spTree>
    <p:extLst>
      <p:ext uri="{BB962C8B-B14F-4D97-AF65-F5344CB8AC3E}">
        <p14:creationId xmlns:p14="http://schemas.microsoft.com/office/powerpoint/2010/main" val="1840346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2AAF2D0-8649-4D9F-8A91-35B67F57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E099B59-87EC-4C5D-BD71-9AE1454C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339B97D-B8D2-437A-BB51-D0F5743C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f0ebdd8a84d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5783c584245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dad5e004e4a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B07ADCD6-898A-4EE2-9C3C-AB8D40BC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7569251A-B21E-4906-8E01-6D81C3D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6570CC6-6F62-4893-A68D-F94FC71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14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96819F12-3FD3-4812-8310-175B843A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C778CF8-C672-4F0C-8549-AF24BAFD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</p:spTree>
    <p:extLst>
      <p:ext uri="{BB962C8B-B14F-4D97-AF65-F5344CB8AC3E}">
        <p14:creationId xmlns:p14="http://schemas.microsoft.com/office/powerpoint/2010/main" val="778321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13A1318-FF27-40C5-B5D2-C3A31D34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516b8c8354c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ec47e06594d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3d17b3adb45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6EB2D4D7-9B86-4175-B71B-35DF50CF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49" y="1089957"/>
            <a:ext cx="1299028" cy="327998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问题描述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343B217-9328-4F81-8181-182DB8E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5" y="2468880"/>
            <a:ext cx="10470515" cy="1753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要解决的不是单一算法题，而是带约束的生产调度问题。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订单包含 SKU、数量和处理时间；站台数量有限，存在排队与拥堵。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库存快照决定订单是否可执行，缺料订单需要进入异常队列。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目标是在业务约束下，让分配更均衡、完工时间更短、系统运行更稳定。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CF4C141-C92B-4771-B919-D0673C5C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710180"/>
            <a:ext cx="2595245" cy="4147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5814A0A-9B22-4C8E-AAD8-2BD8ABD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33650"/>
            <a:ext cx="8975090" cy="4323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B3498F3-166E-4F08-8221-ACA5EF9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3871595"/>
            <a:ext cx="2097405" cy="232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1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在给定工作时长内如何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优化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需启用的最少站台？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2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在给定站台情况下如何将订单分配到不同站台？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3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在每个站台如何优化订单处理顺序？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0B51BED-C5A4-40A5-B08A-EA0E90B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5" y="1535430"/>
            <a:ext cx="1094549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订单分拣调度</a:t>
            </a:r>
          </a:p>
          <a:p xmlns:a="http://schemas.openxmlformats.org/drawingml/2006/main">
            <a:pPr>
              <a:lnSpc>
                <a:spcPct val="120000"/>
              </a:lnSpc>
              <a:buClr>
                <a:srgbClr val="1F497D"/>
              </a:buClr>
              <a:buNone/>
            </a:pPr>
            <a:r>
              <a:rPr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    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生产系统下发一批需在当日完成的订单，每个订单包含多种零件拣选需求。仓库调度对应物料箱通过传送带送至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16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个站台之一，工人完成拣选后物料箱立即返回仓库。站台缓冲区最多可存放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个物料箱，且一次只能处理一个订单，物料箱到达节奏与站台订单分配将直接影响整体工作效率。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FB814D8-1839-4CB7-A46D-54BCCCF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806065"/>
            <a:ext cx="2139315" cy="1309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latin typeface="微软雅黑"/>
                <a:ea typeface="微软雅黑"/>
                <a:cs typeface="微软雅黑"/>
              </a:rPr>
              <a:t>优化问题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None/>
            </a:pPr>
            <a:r>
              <a:rPr sz="1400">
                <a:latin typeface="微软雅黑"/>
                <a:ea typeface="微软雅黑"/>
                <a:cs typeface="微软雅黑"/>
              </a:rPr>
              <a:t>在给定工作时长中，对订单分拣过程进行整体优化决策。</a:t>
            </a:r>
          </a:p>
        </p:txBody>
      </p:sp>
      <p:pic>
        <p:nvPicPr>
          <p:cNvPr id="5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8dcddbec7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4475" y="2710180"/>
            <a:ext cx="8800465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839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081B0FD-1327-450C-A208-24DA76B3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C26D39E-D67A-495C-8EE3-2F2FE4C6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179405F-E475-4AD9-907B-82D84233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f4ae23dca44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6b14cee9044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84866777f46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64B45F4D-1BB2-4C5D-B7FD-69E205EC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0F1C49A7-6B6D-4903-ACC8-DD8B660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E984027-4C1E-4FB0-9B03-A6982504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72645603-ADC2-4CEF-B757-E1206353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E23D8D0-3EDA-4139-817F-BAD8F856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17226644-0168-438C-B9EF-478C4206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DBDC759-B145-4B81-ACDE-1574D12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</p:spTree>
    <p:extLst>
      <p:ext uri="{BB962C8B-B14F-4D97-AF65-F5344CB8AC3E}">
        <p14:creationId xmlns:p14="http://schemas.microsoft.com/office/powerpoint/2010/main" val="18148088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AF109A0-C203-459D-AA68-7BC17158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5d2b5fa4049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3f534963243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5030a0afe4c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4CFA566C-078F-4363-81FD-B6009E44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pic>
        <p:nvPicPr>
          <p:cNvPr id="3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34ebaca87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3055" y="1489710"/>
            <a:ext cx="9025255" cy="4918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213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551CBB4-E020-4508-9002-B01DB5A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edba18bfe44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96484ce9646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1a4209ab949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BF39341-C11F-459F-8824-8492E328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" y="1661795"/>
            <a:ext cx="3690620" cy="3904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/>
                <a:ea typeface="微软雅黑"/>
                <a:cs typeface="微软雅黑"/>
              </a:rPr>
              <a:t>1.</a:t>
            </a: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数据侧：Excel 拣选记录、SKU 标准工时、库存快照、订单波次入库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2. 算法侧：Maskable PPO 强化学习调度，结合 SimPy 离散事件仿真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3. 系统侧：FastAPI 后端、MySQL 数据库、Vue + Three.js 前端可视化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63CD5A16-ED70-409A-AEB3-48887A06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482F8A8-A9A6-4927-843D-F389EDA7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55" y="6096635"/>
            <a:ext cx="105797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重点不只是训练模型，而是把“模型能不能用”拆成数据准备、规则约束、接口联调和效率验证四个环节。</a:t>
            </a:r>
          </a:p>
        </p:txBody>
      </p:sp>
      <p:pic>
        <p:nvPicPr>
          <p:cNvPr id="35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6b4bc4d0643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5235" y="1070610"/>
            <a:ext cx="8100695" cy="49637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798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E22E4C0-B4B8-4A43-BEA7-D0A8C638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3B00287-028D-40D7-AA41-A7ECFFB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0BE3B48-C65B-4E04-BCA7-5CE2AE8A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c7d1703f34d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d6b7903c241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639dac67246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040FC8C6-41A6-47E7-89AF-BBC8E1D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803A8540-22EC-4FD8-A6C9-CEBA4AD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D0EFFD3-B4E0-4D10-A2C7-7225912D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FECD3BC0-FFA0-45BB-813A-9949E00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63B3039-F43D-4EE8-88BB-9E1793BC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D9913D3-59D8-41DC-BF36-B2BA17F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1735D11-7C81-4941-A8D6-116F8B63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2F1E237B-5E6F-4541-A2B0-6DD8DC7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8" y="4618406"/>
            <a:ext cx="474778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479BB37-4C92-46EF-A7F7-EED70B7A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86" y="4359703"/>
            <a:ext cx="240590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</p:spTree>
    <p:extLst>
      <p:ext uri="{BB962C8B-B14F-4D97-AF65-F5344CB8AC3E}">
        <p14:creationId xmlns:p14="http://schemas.microsoft.com/office/powerpoint/2010/main" val="12008047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814018D-CDFC-45BE-A445-4D33CEE2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746545fd54a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4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6897eb0694a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5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68f32c08e47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ED9C4147-42A9-4A05-80B3-6E73EA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7" name="route-main-copy">
            <a:extLst xmlns:a="http://schemas.openxmlformats.org/drawingml/2006/main">
              <a:ext uri="{FF2B5EF4-FFF2-40B4-BE49-F238E27FC236}">
                <a16:creationId xmlns:a16="http://schemas.microsoft.com/office/drawing/2014/main" id="{E75B1CE3-0AEA-4C7E-BE9C-55F236F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953000" cy="243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06D2B42-ED9C-4C82-8FBE-3D67157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09861FD-9E5F-43DF-86DD-D3D6F607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强化学习把调度问题表述为“状态-动作-反馈”的序贯决策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A3FE709-CF34-48C2-98A9-4DF4C968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理论基础：MDP、PPO 与优势函数估计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D1C87D6-4955-4B01-BC59-BF0B12D3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A9779E0-05D9-471F-AC94-8C14574E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马尔可夫决策过程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1D8D5CB-ADE0-4BC7-B0A6-E516B7B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23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5">
                <a:solidFill>
                  <a:srgbClr val="4A4A4A"/>
                </a:solidFill>
              </a:defRPr>
            </a:pPr>
            <a:r>
              <a:rPr sz="1165">
                <a:solidFill>
                  <a:srgbClr val="4A4A4A"/>
                </a:solidFill>
              </a:rPr>
              <a:t>目标：学习策略 πθ(a|s)，最大化累计折扣回报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4B58046-0CA8-4817-8324-82CAAFEA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366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状态 S：订单队列、站台负载、缓冲区、库存；动作 A：选择目标站台；转移 P：仿真推进后的队列变化；奖励 R：效率与约束反馈。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CF1BD7D-F3EC-407D-969D-C371E50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这里的关键是：一次站台选择会影响后续排队和整批完工时间，所以目标不是局部最空，而是长期累计回报。</a:t>
            </a: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C59E2536-4F42-4CD0-BE22-13846D9F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0" y="2266950"/>
            <a:ext cx="5810885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00E3EAC-89EC-47D7-81E1-DD733787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PPO：剪切代理目标函数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B67185A-9771-4F9C-8F8F-3743171A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GAE 优势估计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73334AA-6982-4DEF-9574-EE292B52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含义：ρₜ控制新旧策略更新幅度，Âₜ衡量当前动作相对基准策略的优劣，避免训练过程大幅震荡。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658B7F1-EE9A-44BD-BCCC-CEB180A8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4F73"/>
                </a:solidFill>
              </a:defRPr>
            </a:pPr>
            <a:r>
              <a:rPr sz="1500" b="1">
                <a:solidFill>
                  <a:srgbClr val="1F4F73"/>
                </a:solidFill>
              </a:rPr>
              <a:t>算法逻辑：采样轨迹 -&gt; 估计优势 -&gt; 剪切更新 -&gt; 重新仿真评估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D8B00D1-8DB9-47FC-863B-4DE9F0B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856" y="2622486"/>
            <a:ext cx="208978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𝑴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=&lt;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𝑺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𝑨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𝑷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𝑹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𝜸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&gt;</m:t>
                  </m:r>
                </m:oMath>
              </m:oMathPara>
            </a14:m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1C7A98F-5363-44CA-89F5-122FE691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856" y="3313366"/>
            <a:ext cx="2095500" cy="599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𝑱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)=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𝑬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[</m:t>
                  </m:r>
                  <m:nary>
                    <m:naryPr>
                      <m:chr m:val="∑"/>
                      <m:limLoc m:val="subSup"/>
                      <m:subHide m:val="off"/>
                      <m:supHide m:val="on"/>
                    </m:naryPr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  <m:e>
                      <m:sSup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𝜸</m:t>
                          </m:r>
                        </m:e>
                        <m:sup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sup>
                      </m:sSup>
                      <m:sSub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𝒓</m:t>
                          </m:r>
                        </m:e>
                        <m:sub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sub>
                      </m:sSub>
                    </m:e>
                  </m:nary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]</m:t>
                  </m:r>
                </m:oMath>
              </m:oMathPara>
            </a14:m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08851CB-598C-40E0-A1B4-362EE2D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041" y="2696781"/>
            <a:ext cx="334454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𝝆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)=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𝝅𝜽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𝜶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|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)/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𝝅𝜽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𝒐𝒍𝒅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𝜶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|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432F546-CF10-46A2-969D-18D326D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746" y="3127946"/>
            <a:ext cx="5611495" cy="37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𝑳𝒄𝒍𝒊𝒑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)=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𝑬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[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𝒎𝒊𝒏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𝝆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sSub>
                    <m:e>
                      <m:acc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𝑨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𝒄𝒍𝒊𝒑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𝝆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𝜺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𝜺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sSub>
                    <m:e>
                      <m:acc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𝑨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)]</m:t>
                  </m:r>
                </m:oMath>
              </m:oMathPara>
            </a14:m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A25F70E-4723-4C49-9CC3-813A25D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9215"/>
            <a:ext cx="4394835" cy="377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acc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𝑨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𝜸𝝀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</m:t>
                  </m:r>
                  <m:sSup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𝜸𝝀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p>
                  </m:sSup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+...</m:t>
                  </m:r>
                </m:oMath>
              </m:oMathPara>
            </a14:m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6D3EC13-7E12-42DB-BA8C-1F5E50A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916" y="4245546"/>
            <a:ext cx="281622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𝒓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𝜸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−𝑽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5097254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BF33DA0-9A72-417C-904C-3AC5A0C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4d55f311d41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d43cbceed41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cda371c4d49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443516E1-F25D-480D-96D8-ECDEDCA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7" name="route-main-copy">
            <a:extLst xmlns:a="http://schemas.openxmlformats.org/drawingml/2006/main">
              <a:ext uri="{FF2B5EF4-FFF2-40B4-BE49-F238E27FC236}">
                <a16:creationId xmlns:a16="http://schemas.microsoft.com/office/drawing/2014/main" id="{59053059-EFBD-4340-8DE7-B6EC8EB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953000" cy="243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D6289BB-4635-4224-BC30-609C56B1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5C157B2-F0ED-4402-88E9-6583D9C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强化学习把调度问题表述为“状态-动作-反馈”的序贯决策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9FFC3CE-BF62-4D31-B168-0B8EDBA4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理论基础：MDP、PPO 与优势函数估计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60C25A50-C648-487A-9F2A-E4EB433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394ABE9-8779-4087-826E-741B74E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马尔可夫决策过程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FB62959-01A9-4212-BA86-AB3CD299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F1F1F"/>
                </a:solidFill>
              </a:defRPr>
            </a:pPr>
            <a:r>
              <a:rPr sz="1875" b="1">
                <a:solidFill>
                  <a:srgbClr val="1F1F1F"/>
                </a:solidFill>
              </a:rPr>
              <a:t>𝓜 = ⟨ 𝓢, 𝓐, 𝓟, 𝓡, γ ⟩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1D35FA4-B685-4523-B6E2-9208508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23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5">
                <a:solidFill>
                  <a:srgbClr val="4A4A4A"/>
                </a:solidFill>
              </a:defRPr>
            </a:pPr>
            <a:r>
              <a:rPr sz="1165">
                <a:solidFill>
                  <a:srgbClr val="4A4A4A"/>
                </a:solidFill>
              </a:rPr>
              <a:t>目标：学习策略 πθ(a|s)，最大化累计折扣回报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A413AB0-D7A7-4586-809C-BDCF4E30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J(θ) = E [ Σₜ γᵗ rₜ ]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DACF96C-143E-4860-A644-EBF5C6A7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状态 S：订单队列、站台负载、缓冲区、库存；动作 A：选择目标站台；转移 P：仿真推进后的队列变化；奖励 R：效率与约束反馈。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E8BEF69-3A7F-49ED-8E59-5C4ECA6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这里的关键是：一次站台选择会影响后续排队和整批完工时间，所以目标不是局部最空，而是长期累计回报。</a:t>
            </a: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DA757411-F029-40F7-8281-73299BB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66950"/>
            <a:ext cx="5334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6BFC207-1978-4F18-BD2C-FCE8C5B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PPO：剪切代理目标函数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58146E6-7315-4B3C-8EA7-8FE9DAFE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1F1F"/>
                </a:solidFill>
              </a:defRPr>
            </a:pPr>
            <a:r>
              <a:rPr sz="1275" b="1">
                <a:solidFill>
                  <a:srgbClr val="1F1F1F"/>
                </a:solidFill>
              </a:rPr>
              <a:t>ρₜ(θ) = πθ(aₜ|sₜ) / πθold(aₜ|sₜ)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ECC7091-EA47-4F7D-84BE-08869E70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Lclip(θ) = Eₜ [ min( ρₜ(θ) Âₜ, clip(ρₜ(θ), 1−ε, 1+ε) Âₜ ) ]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7A8AF51F-B5F7-4888-9744-16EA1A04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GAE 优势估计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964D10DC-2D7D-46D3-9FC9-C17533B4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Âₜ = δₜ + (γλ)δₜ₊₁ + (γλ)²δₜ₊₂ + ···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δₜ = rₜ + γV(sₜ₊₁) − V(sₜ)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AFF34D3-07B1-4F10-899D-5FD22A5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含义：ρₜ控制新旧策略更新幅度，Âₜ衡量当前动作相对基准策略的优劣，避免训练过程大幅震荡。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7A9218-7AED-4EB2-894A-44A5FAA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4F73"/>
                </a:solidFill>
              </a:defRPr>
            </a:pPr>
            <a:r>
              <a:rPr sz="1500" b="1">
                <a:solidFill>
                  <a:srgbClr val="1F4F73"/>
                </a:solidFill>
              </a:rPr>
              <a:t>算法逻辑：采样轨迹 -&gt; 估计优势 -&gt; 剪切更新 -&gt; 重新仿真评估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735ED8C-83BF-4BCF-B0A5-2A17A99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3B29592F-B95F-4E53-A895-64018EB3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将强化学习映射到潍柴订单分拣：状态、动作、约束和奖励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D3B63065-810F-4782-A8CB-34872049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项目映射：从订单数据到可验证调度结果</a:t>
            </a: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6B3224A4-B3F2-4863-AA98-A6685C73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3335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A3D06CD9-458C-49D2-BF0A-41C1E1B7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状态 sₜ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E403978-B9CA-4DF3-B94B-B03ACCC4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06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剩余订单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站台负载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缓冲区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库存可用性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AC3518F2-BA6F-467E-B9AD-34D822D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10DE6C05-1F19-4354-9066-0F8BCEE0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74267BF-C35A-40C5-85F5-47A978CC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动作 aₜ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69BBA08-C3D3-4049-B9F0-2B24F32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选择站台 k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或进入异常队列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B4644322-F236-4E8F-A727-116ABC8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C7274A0F-F1A2-46BA-9688-44D525B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B6E5BAF-7284-41B9-9A3D-BB2051F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动作掩码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F3B77483-A9C6-4AE0-936F-B0CB9CF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屏蔽非法站台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πθ(a|s)=0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CC6C50D6-1EAB-40D3-BCC9-258179E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4" name="圆角矩形 63">
            <a:extLst xmlns:a="http://schemas.openxmlformats.org/drawingml/2006/main">
              <a:ext uri="{FF2B5EF4-FFF2-40B4-BE49-F238E27FC236}">
                <a16:creationId xmlns:a16="http://schemas.microsoft.com/office/drawing/2014/main" id="{7F91E12B-5387-48CB-8F38-8606D8C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EC457C0-AB6C-4434-99E6-D55B66B0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SimPy 环境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172BCB22-523D-4B2B-A5BE-EDBD6247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推进时间线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更新队列与工时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6D4595E2-A010-41E2-93EE-75F06C9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C15CF064-7D83-4E60-B400-67A85CFF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15240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287C41C-32D8-4C7B-B645-4C6AECD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策略更新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EC35D27-4DDF-4B99-BCC4-AD99F75E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计算回报与优势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更新 PPO 策略</a:t>
            </a:r>
          </a:p>
        </p:txBody>
      </p:sp>
      <p:sp>
        <p:nvSpPr>
          <p:cNvPr id="71" name="圆角矩形 70">
            <a:extLst xmlns:a="http://schemas.openxmlformats.org/drawingml/2006/main">
              <a:ext uri="{FF2B5EF4-FFF2-40B4-BE49-F238E27FC236}">
                <a16:creationId xmlns:a16="http://schemas.microsoft.com/office/drawing/2014/main" id="{E8FD0376-388B-4329-923B-C088A40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00600" cy="1729105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DE6C7AA9-4AB9-4FE4-8C08-88AC59F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奖励/惩罚函数设计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BF588A5-3B06-4B19-8A9C-F1AC854D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" y="4953000"/>
            <a:ext cx="4551680" cy="585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00">
                <a:solidFill>
                  <a:srgbClr val="4A4A4A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𝑞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200" i="1">
                      <a:solidFill>
                        <a:srgbClr val="4A4A4A"/>
                      </a:solidFill>
                      <a:latin typeface="Cambria Math"/>
                      <a:ea typeface="Cambria Math"/>
                      <a:cs typeface="Cambria Math"/>
                    </a:rPr>
                    <m:t>:</m:t>
                  </m:r>
                </m:oMath>
              </m:oMathPara>
            </a14:m>
            <a:r>
              <a:rPr sz="1200">
                <a:solidFill>
                  <a:srgbClr val="4A4A4A"/>
                </a:solidFill>
              </a:rPr>
              <a:t>排队等待 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200" i="1">
                      <a:solidFill>
                        <a:srgbClr val="4A4A4A"/>
                      </a:solidFill>
                      <a:latin typeface="Cambria Math"/>
                      <a:ea typeface="Cambria Math"/>
                      <a:cs typeface="Cambria Math"/>
                    </a:rPr>
                    <m:t>:</m:t>
                  </m:r>
                </m:oMath>
              </m:oMathPara>
            </a14:m>
            <a:r>
              <a:rPr sz="1200">
                <a:solidFill>
                  <a:srgbClr val="4A4A4A"/>
                </a:solidFill>
              </a:rPr>
              <a:t>站台负载不均 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𝑢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200" i="1">
                      <a:solidFill>
                        <a:srgbClr val="4A4A4A"/>
                      </a:solidFill>
                      <a:latin typeface="Cambria Math"/>
                      <a:ea typeface="Cambria Math"/>
                      <a:cs typeface="Cambria Math"/>
                    </a:rPr>
                    <m:t>:</m:t>
                  </m:r>
                </m:oMath>
              </m:oMathPara>
            </a14:m>
            <a:r>
              <a:rPr sz="1200">
                <a:solidFill>
                  <a:srgbClr val="4A4A4A"/>
                </a:solidFill>
              </a:rPr>
              <a:t>缓冲区占用</a:t>
            </a:r>
            <a:r>
              <a:rPr sz="1200">
                <a:solidFill>
                  <a:srgbClr val="4A4A4A"/>
                </a:solidFill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  <a:r>
              <a:rPr sz="1200">
                <a:solidFill>
                  <a:srgbClr val="4A4A4A"/>
                </a:solidFill>
              </a:rPr>
              <a:t>缺料/不可执行</a:t>
            </a:r>
          </a:p>
          <a:p xmlns:a="http://schemas.openxmlformats.org/drawingml/2006/main">
            <a:pPr algn="ctr">
              <a:buNone/>
              <a:defRPr sz="1000">
                <a:solidFill>
                  <a:srgbClr val="4A4A4A"/>
                </a:solidFill>
              </a:defRPr>
            </a:pPr>
            <a:r>
              <a:rPr sz="1000">
                <a:solidFill>
                  <a:srgbClr val="4A4A4A"/>
                </a:solidFill>
              </a:rPr>
              <a:t>Cmax：整批订单完工时间  D：日内截止线 </a:t>
            </a:r>
          </a:p>
        </p:txBody>
      </p:sp>
      <p:sp>
        <p:nvSpPr>
          <p:cNvPr id="75" name="圆角矩形 74">
            <a:extLst xmlns:a="http://schemas.openxmlformats.org/drawingml/2006/main">
              <a:ext uri="{FF2B5EF4-FFF2-40B4-BE49-F238E27FC236}">
                <a16:creationId xmlns:a16="http://schemas.microsoft.com/office/drawing/2014/main" id="{82331EC3-905F-44D2-96FF-2C24261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05250"/>
            <a:ext cx="4924425" cy="1729105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6CD74CFF-F674-46B1-AC27-DDB35387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为什么适合本项目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1B4A0AA7-5432-4950-8624-85C4487B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订单分配有延迟影响：当前站台选择会改变后续排队和最终完工时间</a:t>
            </a:r>
          </a:p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业务约束强：动作掩码可直接过滤满载、缺料、不可用站台等非法动作</a:t>
            </a:r>
          </a:p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目标多元：奖励函数同时约束等待、负载均衡、资源占用和超期风险</a:t>
            </a:r>
          </a:p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结果可验证：PPO 输出策略，SimPy 将策略还原成可解释的事件时间线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EA8F1A88-7CA6-424D-A7AC-3345380D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数据预处理 -&gt; MDP 建模 -&gt; Maskable PPO 训练 -&gt; checkpoint 选择 -&gt; SimPy 回放 -&gt; 指标验证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606B39E-2B34-429A-AA46-376AB35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771" y="4286186"/>
            <a:ext cx="311721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𝑟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𝛼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𝑞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𝛽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𝜒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𝑢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𝜂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5116CE9-E329-4D87-BE6C-28FB1186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61" y="4591621"/>
            <a:ext cx="3152775" cy="36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𝑅</m:t>
                      </m:r>
                    </m:e>
                    <m:sup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𝑇</m:t>
                      </m:r>
                    </m:sup>
                  </m:sSup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−𝑘𝐶𝑚𝑎𝑥−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𝜉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[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𝐶𝑚𝑎𝑥−𝐷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]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8521857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50B69BFD-2AD1-4965-81AD-30ED73AC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61EE517-3273-4D4B-A9EC-763BE309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A9323DC-DFF5-4EB1-9AF8-E47AAC8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b699d291445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ccc5945114b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000b467434f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97FDFFBF-908B-4E8D-80FA-2381A7D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C25669F-81E8-4BBD-97EC-C380C115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942F212-7DB7-430D-BBB1-1106DE43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C1441222-8FFF-413F-8F0C-62035B6B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7C99536-ADA8-483F-B063-EAB96FE5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CEC3B5BD-3EED-440D-8E1E-7D2E41B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93BCDA9-5D11-44DB-8DFE-E5683283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30BBB26-F6B9-4820-B45E-4052874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713CBDC-1A2A-48CF-9ED4-14064841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5258EA28-C369-4D65-AA30-278D0FC3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AD0A4EB-D476-4C19-AFB4-D968EACE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</p:spTree>
    <p:extLst>
      <p:ext uri="{BB962C8B-B14F-4D97-AF65-F5344CB8AC3E}">
        <p14:creationId xmlns:p14="http://schemas.microsoft.com/office/powerpoint/2010/main" val="5436374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05BDEB5-3CB2-4618-BAD1-10E14D8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5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6938210194d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c6152ca364d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e1d896f6c40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599CF450-D27F-4A63-951C-E3F7969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29088"/>
            <a:ext cx="4188898" cy="36657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实验验证与效率分析</a:t>
            </a:r>
          </a:p>
        </p:txBody>
      </p:sp>
      <p:sp>
        <p:nvSpPr>
          <p:cNvPr id="45" name="validation-main-copy">
            <a:extLst xmlns:a="http://schemas.openxmlformats.org/drawingml/2006/main">
              <a:ext uri="{FF2B5EF4-FFF2-40B4-BE49-F238E27FC236}">
                <a16:creationId xmlns:a16="http://schemas.microsoft.com/office/drawing/2014/main" id="{B5B8CBDC-F9A2-4EE9-9328-2977018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</a:p>
        </p:txBody>
      </p:sp>
      <p:pic>
        <p:nvPicPr>
          <p:cNvPr id="110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b507163214f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6659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47" name="validation-summary">
            <a:extLst xmlns:a="http://schemas.openxmlformats.org/drawingml/2006/main">
              <a:ext uri="{FF2B5EF4-FFF2-40B4-BE49-F238E27FC236}">
                <a16:creationId xmlns:a16="http://schemas.microsoft.com/office/drawing/2014/main" id="{6CA69C4D-39CB-4EAB-B338-9D8B57B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EBD1690-1A21-4D3B-8894-4EFD672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DFE5A11-B9C0-4B81-880A-7C6CD18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15 天历史回放验证：AI 调度在完工时间和站台工时上均优于基础策略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53DB35D3-6ED5-4B4D-8A34-0C83549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E3BE7D8-3BD1-48A5-B2EF-0A56970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5148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3501A90-9C1E-4C02-A4F3-2923C62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样本：2026-04 有效数据中选取 15 个业务日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对照：AI Agent、Round-robin、Random、历史真实净工时、历史站台回放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指标：平均 makespan + 站台工时效率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业务线：30600 秒作为日内完工参考线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01027CA-9EC2-4616-AA22-F3D1A66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9040D18E-7D96-4170-B30A-1F1D6E0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24.01%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5A5788CA-A60E-43F7-A7C6-50A0424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C37C278-9D71-41C3-A22D-239D1EA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相比轮询平均提升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03D45DE-3F87-4C99-A974-0FA4D2A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B7024B-869A-4C39-B222-F4EBAF5F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61.93%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7BA404E-2DE4-4D9C-9006-BE32C255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97DB600A-D0F7-4978-AB36-7322D807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相比随机平均提升</a:t>
            </a:r>
          </a:p>
        </p:txBody>
      </p:sp>
      <p:sp>
        <p:nvSpPr>
          <p:cNvPr id="65" name="圆角矩形 64">
            <a:extLst xmlns:a="http://schemas.openxmlformats.org/drawingml/2006/main">
              <a:ext uri="{FF2B5EF4-FFF2-40B4-BE49-F238E27FC236}">
                <a16:creationId xmlns:a16="http://schemas.microsoft.com/office/drawing/2014/main" id="{88EB17A4-BE00-422B-9253-CF9478A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8EA2FFB-2B27-4528-8797-8D2F8B0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25.29%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A1CEA21D-82C3-4E94-9CB2-E427CC7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A7810F81-C385-4455-A7E5-D39261C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相比历史回放提升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EA0CADCD-F9D0-4AB6-8A44-9736007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457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A7CCD4D7-2687-4A34-AD11-0E81663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>
                <a:solidFill>
                  <a:srgbClr val="1F1F1F"/>
                </a:solidFill>
              </a:defRPr>
            </a:pPr>
            <a:r>
              <a:rPr sz="1140">
                <a:solidFill>
                  <a:srgbClr val="1F1F1F"/>
                </a:solidFill>
              </a:rPr>
              <a:t>结果解读：AI 曲线在 8 个及以上站台时已低于 30600s 完工线。它相对轮询和随机更稳定，说明模型学到的是订单耗时差异与站台负载的动态平衡。</a:t>
            </a:r>
          </a:p>
        </p:txBody>
      </p:sp>
      <p:pic>
        <p:nvPicPr>
          <p:cNvPr id="131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7af552fa24b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0881" y="2057400"/>
            <a:ext cx="5779413" cy="3762375"/>
          </a:xfrm>
          <a:prstGeom xmlns:a="http://schemas.openxmlformats.org/drawingml/2006/main" prst="rect">
            <a:avLst/>
          </a:prstGeom>
        </p:spPr>
      </p:pic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8A734076-6D7A-4762-A555-24896DD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A4A4A"/>
                </a:solidFill>
              </a:defRPr>
            </a:pPr>
            <a:r>
              <a:rPr sz="975">
                <a:solidFill>
                  <a:srgbClr val="4A4A4A"/>
                </a:solidFill>
              </a:rPr>
              <a:t>图：测试集 2026-04-02 至 2026-04-29 平均完工时间对比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B6C83D5-1E67-4BDA-B695-72A4480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FE6925-0DFC-4650-AA9E-BFF80DD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训练曲线与训练设置：模型先学会减少等待，再用固定测试集筛选 checkpoint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17C4CC-AC4C-4A20-B0DF-54E163D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4A4A4A"/>
                </a:solidFill>
              </a:defRPr>
            </a:pPr>
            <a:r>
              <a:rPr sz="1163">
                <a:solidFill>
                  <a:srgbClr val="4A4A4A"/>
                </a:solidFill>
              </a:rPr>
              <a:t>训练目标不是让单个订单最快，而是在连续订单流中学习站台负载、缓冲约束和整批完工时间之间的动态平衡。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C8B1DE-A740-4572-B825-5953F50A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838700" cy="2266950"/>
          </a:xfrm>
          <a:prstGeom xmlns:a="http://schemas.openxmlformats.org/drawingml/2006/main" prst="roundRect">
            <a:avLst>
              <a:gd name="adj" fmla="val 840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C7DDEA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bb0a186c649ce"/>
          <a:srcRect xmlns:a="http://schemas.openxmlformats.org/drawingml/2006/main" l="0" t="22641" r="0" b="22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95550"/>
            <a:ext cx="4495800" cy="17526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615BB1-2105-4062-8B73-6E236C9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>
                <a:solidFill>
                  <a:srgbClr val="4A4A4A"/>
                </a:solidFill>
              </a:defRPr>
            </a:pPr>
            <a:r>
              <a:rPr sz="960">
                <a:solidFill>
                  <a:srgbClr val="4A4A4A"/>
                </a:solidFill>
              </a:rPr>
              <a:t>TensorBoard 曲线：横轴是训练步数，纵轴可理解为 episode 平均回报；曲线整体抬升，说明策略逐步减少排队等待和终局超时惩罚。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E86FCD-14CF-4633-AFE0-B737B7BF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8387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8A9"/>
            </a:solidFill>
            <a:prstDash val="solid"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c5f54b66448b9"/>
          <a:stretch xmlns:a="http://schemas.openxmlformats.org/drawingml/2006/main"/>
        </p:blipFill>
        <p:spPr>
          <a:xfrm xmlns:a="http://schemas.openxmlformats.org/drawingml/2006/main">
            <a:off x="2212041" y="4876800"/>
            <a:ext cx="1748118" cy="990600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1DF2FF2-6384-4B37-A4AF-B8CF9BAF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>
                <a:solidFill>
                  <a:srgbClr val="4A4A4A"/>
                </a:solidFill>
              </a:defRPr>
            </a:pPr>
            <a:r>
              <a:rPr sz="960">
                <a:solidFill>
                  <a:srgbClr val="4A4A4A"/>
                </a:solidFill>
              </a:rPr>
              <a:t>补充判断：训练曲线只反映学习过程，最终模型仍用固定测试订单和 2-16 个站台 makespan 综合筛选。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B67F18B-EDBD-43DC-BA0D-679E8CB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62200"/>
            <a:ext cx="16954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F4F73"/>
          </a:solidFill>
          <a:ln xmlns:a="http://schemas.openxmlformats.org/drawingml/2006/main" w="9525">
            <a:solidFill>
              <a:srgbClr val="1F4F7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034782-6152-49D3-9724-AC98D25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03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训练数据怎么来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8C39E5D-F18D-4DC3-838F-46F00286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14625"/>
            <a:ext cx="238125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9525">
            <a:solidFill>
              <a:srgbClr val="C7DD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017CEF0-5BCC-4AFD-A630-0A128E8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历史 DMS 拣选数据</a:t>
            </a:r>
          </a:p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按订单号聚合 SKU 明细</a:t>
            </a:r>
          </a:p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保留“确定/完成”状态</a:t>
            </a:r>
          </a:p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按时间排序后划分：</a:t>
            </a:r>
          </a:p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前 67% 用于训练，后 33% 用于测试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2BDE9A8-6C20-4719-B47D-D76DA9D3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15240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F4F73"/>
          </a:solidFill>
          <a:ln xmlns:a="http://schemas.openxmlformats.org/drawingml/2006/main" w="9525">
            <a:solidFill>
              <a:srgbClr val="1F4F7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4AD6F6-9B5C-43D2-B57D-537D0A16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一集是什么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57F885-7720-4377-B05B-D0BBE2D5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57175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8A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CD4D007-A7E4-4A87-A67D-4A845FF0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213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每个 episode 是从训练订单序列中随机抽取一段连续订单片段</a:t>
            </a:r>
          </a:p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默认长度：1000 单</a:t>
            </a:r>
          </a:p>
          <a:p xmlns:a="http://schemas.openxmlformats.org/drawingml/2006/main">
            <a:pPr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随机起点可以避免每轮都看到完全相同的订单组合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B413BD-373F-4B4B-B49D-D667CFEE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38625"/>
            <a:ext cx="15240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F4F73"/>
          </a:solidFill>
          <a:ln xmlns:a="http://schemas.openxmlformats.org/drawingml/2006/main" w="9525">
            <a:solidFill>
              <a:srgbClr val="1F4F7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B57C06-0478-45FC-AA01-336FEFB9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76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一步是什么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0486D6-ACD6-41BE-87DD-C5EC0B0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91050"/>
            <a:ext cx="2381250" cy="12763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9525">
            <a:solidFill>
              <a:srgbClr val="EFC4C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0D5D2E-C7D4-4E06-ACEE-DBBD8852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33925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95">
                <a:solidFill>
                  <a:srgbClr val="1F1F1F"/>
                </a:solidFill>
              </a:defRPr>
            </a:pPr>
            <a:r>
              <a:rPr sz="1095">
                <a:solidFill>
                  <a:srgbClr val="1F1F1F"/>
                </a:solidFill>
              </a:rPr>
              <a:t>每一步处理当前一个订单</a:t>
            </a:r>
          </a:p>
          <a:p xmlns:a="http://schemas.openxmlformats.org/drawingml/2006/main">
            <a:pPr>
              <a:defRPr sz="1095">
                <a:solidFill>
                  <a:srgbClr val="1F1F1F"/>
                </a:solidFill>
              </a:defRPr>
            </a:pPr>
            <a:r>
              <a:rPr sz="1095">
                <a:solidFill>
                  <a:srgbClr val="1F1F1F"/>
                </a:solidFill>
              </a:rPr>
              <a:t>动作：选择目标站台 A_t</a:t>
            </a:r>
          </a:p>
          <a:p xmlns:a="http://schemas.openxmlformats.org/drawingml/2006/main">
            <a:pPr>
              <a:defRPr sz="1095">
                <a:solidFill>
                  <a:srgbClr val="1F1F1F"/>
                </a:solidFill>
              </a:defRPr>
            </a:pPr>
            <a:r>
              <a:rPr sz="1095">
                <a:solidFill>
                  <a:srgbClr val="1F1F1F"/>
                </a:solidFill>
              </a:rPr>
              <a:t>环境：计算到达、排队、处理和完成时间</a:t>
            </a:r>
          </a:p>
          <a:p xmlns:a="http://schemas.openxmlformats.org/drawingml/2006/main">
            <a:pPr>
              <a:defRPr sz="1095">
                <a:solidFill>
                  <a:srgbClr val="1F1F1F"/>
                </a:solidFill>
              </a:defRPr>
            </a:pPr>
            <a:r>
              <a:rPr sz="1095">
                <a:solidFill>
                  <a:srgbClr val="1F1F1F"/>
                </a:solidFill>
              </a:rPr>
              <a:t>反馈：等待越久、输送越远、最终超时越严重，奖励越低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ABD97F-A53B-4F66-BE04-D8183987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1809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994F47-0671-4891-AEEF-CCABB161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为什么这样设置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24DF24-A19A-4CA4-B7E2-8E220920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571750" cy="127635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C7DDE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30C51C-9653-4C77-BC43-DA36DBFD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33925"/>
            <a:ext cx="2152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连续订单片段保留真实到达顺序</a:t>
            </a:r>
          </a:p>
          <a:p xmlns:a="http://schemas.openxmlformats.org/drawingml/2006/main">
            <a:pPr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动作掩码保证不选满载站台</a:t>
            </a:r>
          </a:p>
          <a:p xmlns:a="http://schemas.openxmlformats.org/drawingml/2006/main">
            <a:pPr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终局 makespan 奖惩把局部等待与整批完工目标连接起来</a:t>
            </a:r>
          </a:p>
          <a:p xmlns:a="http://schemas.openxmlformats.org/drawingml/2006/main">
            <a:pPr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固定测试集避免只凭训练曲线判断好坏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9A60BA0-2BFC-4C75-B179-5E320A1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535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13657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05BDEB5-3CB2-4618-BAD1-10E14D8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a697ab4d742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7600bdb1e4a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9b111b90a47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599CF450-D27F-4A63-951C-E3F7969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29088"/>
            <a:ext cx="4188898" cy="36657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实验验证与效率分析</a:t>
            </a:r>
          </a:p>
        </p:txBody>
      </p:sp>
      <p:sp>
        <p:nvSpPr>
          <p:cNvPr id="45" name="validation-main-copy">
            <a:extLst xmlns:a="http://schemas.openxmlformats.org/drawingml/2006/main">
              <a:ext uri="{FF2B5EF4-FFF2-40B4-BE49-F238E27FC236}">
                <a16:creationId xmlns:a16="http://schemas.microsoft.com/office/drawing/2014/main" id="{B5B8CBDC-F9A2-4EE9-9328-2977018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</a:p>
        </p:txBody>
      </p:sp>
      <p:pic>
        <p:nvPicPr>
          <p:cNvPr id="84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1c383d6ef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6659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47" name="validation-summary">
            <a:extLst xmlns:a="http://schemas.openxmlformats.org/drawingml/2006/main">
              <a:ext uri="{FF2B5EF4-FFF2-40B4-BE49-F238E27FC236}">
                <a16:creationId xmlns:a16="http://schemas.microsoft.com/office/drawing/2014/main" id="{6CA69C4D-39CB-4EAB-B338-9D8B57B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EBD1690-1A21-4D3B-8894-4EFD672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DFE5A11-B9C0-4B81-880A-7C6CD18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15 天历史回放验证：AI 调度在完工时间和站台工时上均优于基础策略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53DB35D3-6ED5-4B4D-8A34-0C83549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E3BE7D8-3BD1-48A5-B2EF-0A56970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5148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3501A90-9C1E-4C02-A4F3-2923C62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样本：2026-04 有效数据中选取 15 个业务日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对照：AI Agent、Round-robin、Random、历史真实净工时、历史站台回放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指标：平均 makespan + 站台工时效率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业务线：30600 秒作为日内完工参考线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01027CA-9EC2-4616-AA22-F3D1A66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9040D18E-7D96-4170-B30A-1F1D6E0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24.01%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5A5788CA-A60E-43F7-A7C6-50A0424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C37C278-9D71-41C3-A22D-239D1EA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相比轮询平均提升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03D45DE-3F87-4C99-A974-0FA4D2A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B7024B-869A-4C39-B222-F4EBAF5F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61.93%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7BA404E-2DE4-4D9C-9006-BE32C255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97DB600A-D0F7-4978-AB36-7322D807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相比随机平均提升</a:t>
            </a:r>
          </a:p>
        </p:txBody>
      </p:sp>
      <p:sp>
        <p:nvSpPr>
          <p:cNvPr id="65" name="圆角矩形 64">
            <a:extLst xmlns:a="http://schemas.openxmlformats.org/drawingml/2006/main">
              <a:ext uri="{FF2B5EF4-FFF2-40B4-BE49-F238E27FC236}">
                <a16:creationId xmlns:a16="http://schemas.microsoft.com/office/drawing/2014/main" id="{88EB17A4-BE00-422B-9253-CF9478A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8EA2FFB-2B27-4528-8797-8D2F8B0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25.29%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A1CEA21D-82C3-4E94-9CB2-E427CC7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A7810F81-C385-4455-A7E5-D39261C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相比历史回放提升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EA0CADCD-F9D0-4AB6-8A44-9736007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457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A7CCD4D7-2687-4A34-AD11-0E81663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>
                <a:solidFill>
                  <a:srgbClr val="1F1F1F"/>
                </a:solidFill>
              </a:defRPr>
            </a:pPr>
            <a:r>
              <a:rPr sz="1140">
                <a:solidFill>
                  <a:srgbClr val="1F1F1F"/>
                </a:solidFill>
              </a:rPr>
              <a:t>结果解读：AI 曲线在 8 个及以上站台时已低于 30600s 完工线。它相对轮询和随机更稳定，说明模型学到的是订单耗时差异与站台负载的动态平衡。</a:t>
            </a:r>
          </a:p>
        </p:txBody>
      </p:sp>
      <p:pic>
        <p:nvPicPr>
          <p:cNvPr id="105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94c949f854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0881" y="2057400"/>
            <a:ext cx="5779413" cy="3762375"/>
          </a:xfrm>
          <a:prstGeom xmlns:a="http://schemas.openxmlformats.org/drawingml/2006/main" prst="rect">
            <a:avLst/>
          </a:prstGeom>
        </p:spPr>
      </p:pic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8A734076-6D7A-4762-A555-24896DD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A4A4A"/>
                </a:solidFill>
              </a:defRPr>
            </a:pPr>
            <a:r>
              <a:rPr sz="975">
                <a:solidFill>
                  <a:srgbClr val="4A4A4A"/>
                </a:solidFill>
              </a:rPr>
              <a:t>图：测试集 2026-04-02 至 2026-04-29 平均完工时间对比</a:t>
            </a:r>
          </a:p>
        </p:txBody>
      </p:sp>
    </p:spTree>
    <p:extLst>
      <p:ext uri="{BB962C8B-B14F-4D97-AF65-F5344CB8AC3E}">
        <p14:creationId xmlns:p14="http://schemas.microsoft.com/office/powerpoint/2010/main" val="7213657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05BDEB5-3CB2-4618-BAD1-10E14D8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cd310129a48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132ad44354f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6cab550354d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599CF450-D27F-4A63-951C-E3F7969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29088"/>
            <a:ext cx="4188898" cy="36657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实验验证与效率分析</a:t>
            </a:r>
          </a:p>
        </p:txBody>
      </p:sp>
      <p:sp>
        <p:nvSpPr>
          <p:cNvPr id="45" name="validation-main-copy">
            <a:extLst xmlns:a="http://schemas.openxmlformats.org/drawingml/2006/main">
              <a:ext uri="{FF2B5EF4-FFF2-40B4-BE49-F238E27FC236}">
                <a16:creationId xmlns:a16="http://schemas.microsoft.com/office/drawing/2014/main" id="{B5B8CBDC-F9A2-4EE9-9328-2977018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</a:p>
        </p:txBody>
      </p:sp>
      <p:pic>
        <p:nvPicPr>
          <p:cNvPr id="104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e322d8cff45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6659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47" name="validation-summary">
            <a:extLst xmlns:a="http://schemas.openxmlformats.org/drawingml/2006/main">
              <a:ext uri="{FF2B5EF4-FFF2-40B4-BE49-F238E27FC236}">
                <a16:creationId xmlns:a16="http://schemas.microsoft.com/office/drawing/2014/main" id="{6CA69C4D-39CB-4EAB-B338-9D8B57B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EBD1690-1A21-4D3B-8894-4EFD672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DFE5A11-B9C0-4B81-880A-7C6CD18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15 天历史回放验证：AI 调度在完工时间和站台工时上均优于基础策略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53DB35D3-6ED5-4B4D-8A34-0C83549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E3BE7D8-3BD1-48A5-B2EF-0A56970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5148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3501A90-9C1E-4C02-A4F3-2923C62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样本：2026-04 有效数据中选取 15 个业务日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对照：AI Agent、Round-robin、Random、历史真实净工时、历史站台回放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指标：平均 makespan + 站台工时效率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业务线：30600 秒作为日内完工参考线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01027CA-9EC2-4616-AA22-F3D1A66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9040D18E-7D96-4170-B30A-1F1D6E0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24.01%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5A5788CA-A60E-43F7-A7C6-50A0424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C37C278-9D71-41C3-A22D-239D1EA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相比轮询平均提升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03D45DE-3F87-4C99-A974-0FA4D2A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B7024B-869A-4C39-B222-F4EBAF5F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61.93%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7BA404E-2DE4-4D9C-9006-BE32C255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97DB600A-D0F7-4978-AB36-7322D807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相比随机平均提升</a:t>
            </a:r>
          </a:p>
        </p:txBody>
      </p:sp>
      <p:sp>
        <p:nvSpPr>
          <p:cNvPr id="65" name="圆角矩形 64">
            <a:extLst xmlns:a="http://schemas.openxmlformats.org/drawingml/2006/main">
              <a:ext uri="{FF2B5EF4-FFF2-40B4-BE49-F238E27FC236}">
                <a16:creationId xmlns:a16="http://schemas.microsoft.com/office/drawing/2014/main" id="{88EB17A4-BE00-422B-9253-CF9478A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8EA2FFB-2B27-4528-8797-8D2F8B0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25.29%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A1CEA21D-82C3-4E94-9CB2-E427CC7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A7810F81-C385-4455-A7E5-D39261C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相比历史回放提升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EA0CADCD-F9D0-4AB6-8A44-9736007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457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A7CCD4D7-2687-4A34-AD11-0E81663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>
                <a:solidFill>
                  <a:srgbClr val="1F1F1F"/>
                </a:solidFill>
              </a:defRPr>
            </a:pPr>
            <a:r>
              <a:rPr sz="1140">
                <a:solidFill>
                  <a:srgbClr val="1F1F1F"/>
                </a:solidFill>
              </a:rPr>
              <a:t>结果解读：AI 曲线在 8 个及以上站台时已低于 30600s 完工线。它相对轮询和随机更稳定，说明模型学到的是订单耗时差异与站台负载的动态平衡。</a:t>
            </a:r>
          </a:p>
        </p:txBody>
      </p:sp>
      <p:pic>
        <p:nvPicPr>
          <p:cNvPr id="125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21a4096564a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0881" y="2057400"/>
            <a:ext cx="5779413" cy="3762375"/>
          </a:xfrm>
          <a:prstGeom xmlns:a="http://schemas.openxmlformats.org/drawingml/2006/main" prst="rect">
            <a:avLst/>
          </a:prstGeom>
        </p:spPr>
      </p:pic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8A734076-6D7A-4762-A555-24896DD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A4A4A"/>
                </a:solidFill>
              </a:defRPr>
            </a:pPr>
            <a:r>
              <a:rPr sz="975">
                <a:solidFill>
                  <a:srgbClr val="4A4A4A"/>
                </a:solidFill>
              </a:rPr>
              <a:t>图：测试集 2026-04-02 至 2026-04-29 平均完工时间对比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CE1BA6-1F1C-46CF-8E76-AA36EE4E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D394343-40BF-4B6F-B65A-AB25F726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前端效果展示：调度结果可以在数字孪生大屏中复盘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40193F-FFDC-4EDA-8B43-D5A82FEF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从效率指标到系统落地，前端负责把站台状态、仿真进度和 3D 过程展示出来。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EEA61A-505C-441B-AA58-D1151D0F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7239000" cy="3905250"/>
          </a:xfrm>
          <a:prstGeom xmlns:a="http://schemas.openxmlformats.org/drawingml/2006/main" prst="roundRect">
            <a:avLst>
              <a:gd name="adj" fmla="val 488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a6f5be44446f0"/>
          <a:srcRect xmlns:a="http://schemas.openxmlformats.org/drawingml/2006/main" l="0" t="8674" r="0" b="8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533650"/>
            <a:ext cx="6896100" cy="356235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A6BF5A-3E8E-4F07-ADC4-D90B5B65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C08B4E4-ED60-4924-91E5-DC989184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控制面板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E2C6B0-FFF6-486A-B9D4-990BD94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>
                <a:solidFill>
                  <a:srgbClr val="1F1F1F"/>
                </a:solidFill>
              </a:defRPr>
            </a:pPr>
            <a:r>
              <a:rPr sz="1088">
                <a:solidFill>
                  <a:srgbClr val="1F1F1F"/>
                </a:solidFill>
              </a:rPr>
              <a:t>选择初始库存快照、日末校验快照和批次任务，触发后端仿真。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2C776D-FF49-4174-8FE4-6BEAB29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E15676-D7A3-4072-9D67-163D1154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站台状态矩阵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415C49-94EA-422C-9E11-B9C97D2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>
                <a:solidFill>
                  <a:srgbClr val="1F1F1F"/>
                </a:solidFill>
              </a:defRPr>
            </a:pPr>
            <a:r>
              <a:rPr sz="1088">
                <a:solidFill>
                  <a:srgbClr val="1F1F1F"/>
                </a:solidFill>
              </a:rPr>
              <a:t>展示 16 个站台的订单占用、等待状态和实时负载，便于观察调度均衡性。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48318E-572B-4755-963C-25045CB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08BA84-CE9F-4315-AEB9-503303A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57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3D 数字孪生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B062A5-AA22-4488-BAEA-8D6CDA21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>
                <a:solidFill>
                  <a:srgbClr val="1F1F1F"/>
                </a:solidFill>
              </a:defRPr>
            </a:pPr>
            <a:r>
              <a:rPr sz="1088">
                <a:solidFill>
                  <a:srgbClr val="1F1F1F"/>
                </a:solidFill>
              </a:rPr>
              <a:t>用 Three.js 播放站台、箱体和传送过程，让仿真结果可以演示和复盘。</a:t>
            </a:r>
          </a:p>
        </p:txBody>
      </p:sp>
    </p:spTree>
    <p:extLst>
      <p:ext uri="{BB962C8B-B14F-4D97-AF65-F5344CB8AC3E}">
        <p14:creationId xmlns:p14="http://schemas.microsoft.com/office/powerpoint/2010/main" val="72136570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E726EC58-7FBA-4145-AF67-99B86B50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35DFDB9-133A-41F3-A664-722053ED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49129906-A386-4631-AF5D-195BCD5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25347af4344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9c74912934c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5c17d6c664b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5A3C112C-D634-44F1-BFC0-210D6EEA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62F97B26-E573-4BDA-B71E-EB17FDE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CD69F5F-0DF4-49C4-8E68-B64ABF9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96FA840C-9430-4A78-8AF6-98E8894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2439067-936E-4C92-972D-1631DA01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0141172-EFF6-462E-9C90-ED50BA1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7EE4F52-7B77-498E-94A9-06E4DC4E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E5458C6-A7C9-416A-BD83-E1D01271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F3A3D1D-3B49-4918-96B7-11D9604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48E27052-AE30-4AAF-91AC-4210022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AD4242A-76DF-4C77-B77E-BA657C7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Part5 实验结果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E7BAD92A-B5E8-4C65-B67E-4192026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3" y="5668943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A367AD5-0E3C-4525-AB44-9F034349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2" y="5410241"/>
            <a:ext cx="1940467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6218083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734FD1-6C69-4C8D-A352-D4EC75C9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79ff693184e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a40cd73b544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e2aeff0cb4b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62A049-B677-4349-B6E0-9ED89E3F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8B235AF0-46B6-416D-BB54-EB2013CD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33" name="conclusion-clean-copy">
            <a:extLst xmlns:a="http://schemas.openxmlformats.org/drawingml/2006/main">
              <a:ext uri="{FF2B5EF4-FFF2-40B4-BE49-F238E27FC236}">
                <a16:creationId xmlns:a16="http://schemas.microsoft.com/office/drawing/2014/main" id="{C816C88B-8C71-47ED-B15F-FB786EF4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1. 本学期完成了从零基础到项目闭环的搭建：理解强化学习，整理数据库与数据集，完成后端服务、前端展示和效率验证。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2. 项目成果不是一个孤立模型，而是一套订单导入、调度、仿真、回放、评估的工作流。</a:t>
            </a:r>
          </a:p>
        </p:txBody>
      </p:sp>
      <p:sp>
        <p:nvSpPr>
          <p:cNvPr id="34" name="conclusion-callout">
            <a:extLst xmlns:a="http://schemas.openxmlformats.org/drawingml/2006/main">
              <a:ext uri="{FF2B5EF4-FFF2-40B4-BE49-F238E27FC236}">
                <a16:creationId xmlns:a16="http://schemas.microsoft.com/office/drawing/2014/main" id="{96127146-34F6-4207-9E64-92543E3B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06A99"/>
                </a:solidFill>
              </a:defRPr>
            </a:pPr>
            <a:r>
              <a:rPr sz="1800" b="1">
                <a:solidFill>
                  <a:srgbClr val="306A99"/>
                </a:solidFill>
              </a:rPr>
              <a:t>当前状态：已形成可演示、可接口调用、可按历史数据验证的订单分拣智能调度原型。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259F1E2-B49C-49B4-9798-57E4E002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3C224D5-4252-43D2-8909-A824E6F7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阶段总结：本学期完成了从算法学习到系统闭环的工程化验证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076CA6BD-89E0-4C75-9598-D0516328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算法建模</a:t>
            </a: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99DD0365-54D0-446C-B68E-FC331FCE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数据与仿真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C3E5F7D7-F608-4074-B448-6F5CB1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系统服务</a:t>
            </a: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35D801DA-5B84-4E51-94F5-07244367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效果验证</a:t>
            </a: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3692B3F4-50DA-4A9C-AE83-E7997D3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F61D822-F0E0-4EE8-86C8-B251092A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53CFEB0C-2F6B-4376-85F8-4515024B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DA68CCCC-92B6-4ADB-BF5F-DE29FEAA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B049140-43B2-4646-A4B6-4EEDC263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理解 RL / MDP / PPO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构建状态、动作、奖励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动作掩码约束非法分配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checkpoint 筛选与评估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08EFAD3-1986-467F-A527-37BF0F67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清洗订单与 SKU 工时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维护库存快照与异常队列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SimPy 还原仿真事件线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输出可追踪仿真结果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5F88BEB-BE19-4505-9F67-E7A9C0D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FastAPI 调度接口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MySQL 表结构与数据流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Vue + Three.js 展示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任务状态轮询和回放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89DCF375-01EC-43D6-9A07-9B2C7CA3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15 天历史回放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AI/轮询/随机对比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历史真实净工时对照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站台工时效率评估</a:t>
            </a: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19B8EAF8-ADF7-43E1-9A5D-802663F3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191625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591A921A-F989-41A0-AC91-9C1F60A6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85" b="1">
                <a:solidFill>
                  <a:srgbClr val="1F4F73"/>
                </a:solidFill>
              </a:defRPr>
            </a:pPr>
            <a:r>
              <a:rPr sz="1185" b="1">
                <a:solidFill>
                  <a:srgbClr val="1F4F73"/>
                </a:solidFill>
              </a:rPr>
              <a:t>当前状态：已形成“订单导入 -&gt; 智能调度 -&gt; 仿真回放 -&gt; 前端展示 -&gt; 效率报告”的原型闭环，具备可演示、可接口调用、可按历史数据验证的基础能力。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7D6F65C9-B39D-4812-9191-06B7AFC1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862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85" b="0">
                <a:solidFill>
                  <a:srgbClr val="1F1F1F"/>
                </a:solidFill>
              </a:defRPr>
            </a:pPr>
            <a:r>
              <a:rPr sz="1185" b="0">
                <a:solidFill>
                  <a:srgbClr val="1F1F1F"/>
                </a:solidFill>
              </a:rPr>
              <a:t>个人收获：从不懂强化学习、数据库和前后端服务，到能够解释模型设计、数据流转和业务指标验证。</a:t>
            </a:r>
          </a:p>
        </p:txBody>
      </p:sp>
    </p:spTree>
    <p:extLst>
      <p:ext uri="{BB962C8B-B14F-4D97-AF65-F5344CB8AC3E}">
        <p14:creationId xmlns:p14="http://schemas.microsoft.com/office/powerpoint/2010/main" val="187883912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4AB593E-91F5-4AEF-BBB6-6D2C06E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485854e514d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9e15e5a814e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f42ead2e949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210148-AEB4-4DDA-9CB2-39D5A724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E256F3C8-2380-45C1-A404-3691FA2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33" name="learning-clean-copy">
            <a:extLst xmlns:a="http://schemas.openxmlformats.org/drawingml/2006/main">
              <a:ext uri="{FF2B5EF4-FFF2-40B4-BE49-F238E27FC236}">
                <a16:creationId xmlns:a16="http://schemas.microsoft.com/office/drawing/2014/main" id="{90B70E88-281B-419B-934F-4B9C7BB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33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已掌握：强化学习基本流程、PPO 训练与 checkpoint 评估、MySQL 表结构、FastAPI 接口、Vue/Three.js 前端展示。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后续计划：补充更多真实业务日验证；增强异常订单解释；把模型选择、仿真报告和前端配置做得更自动化。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D0E5293-192C-46F7-B529-D25D5E4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8DCA99E-10D4-43BA-880C-71D8432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展望：从离线验证走向更稳定的现场可用调度能力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4469D08-EF62-4F7E-A20E-BE8D45F1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当前不足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BE605190-D994-4AE1-B10A-C3A7981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24BC0A8-6CB2-4D90-B2B9-B719CEB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（1）数据覆盖仍以离线历史样本为主，跨月份、跨波次泛化能力还需继续验证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（2）奖励函数能反映 makespan 和负载，但缺料、搬运距离、人工节拍等约束仍可细化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（3）模型解释性还不足，需要把每个站台分配决策转化为更清楚的业务原因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（4）系统落地还要补充监控、异常回滚、参数配置、接口稳定性和性能压测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DA2290F-99AA-4CBD-9D3C-6C8692E2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F6F99"/>
                </a:solidFill>
              </a:defRPr>
            </a:pPr>
            <a:r>
              <a:rPr sz="1425" b="1">
                <a:solidFill>
                  <a:srgbClr val="2F6F99"/>
                </a:solidFill>
              </a:rPr>
              <a:t>下一步计划</a:t>
            </a: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5E6DCD6-497C-4887-B71D-F508A448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AF9E30A-819E-4D12-BD7E-99FBA53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（1）引入库存状态和订单优先级，形成更贴近现场约束的多目标奖励函数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（2）扩展历史业务日和不同站台配置，建立自动化模型选择与回归验证流程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（3）将调度从单批离线决策推进到滚动优化，支持订单变化和站台状态变化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（4）完善前端对比视图、仿真报告自动生成和部署文档，提升项目可复用性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71E6AD40-A72B-4978-BB22-2F44FDE8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71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4F73"/>
                </a:solidFill>
              </a:defRPr>
            </a:pPr>
            <a:r>
              <a:rPr sz="1650" b="1">
                <a:solidFill>
                  <a:srgbClr val="1F4F73"/>
                </a:solidFill>
              </a:rPr>
              <a:t>后续目标：让算法输出不仅“算得出”，还要“讲得清、接得上、跑得稳、验得过”。</a:t>
            </a:r>
          </a:p>
        </p:txBody>
      </p:sp>
    </p:spTree>
    <p:extLst>
      <p:ext uri="{BB962C8B-B14F-4D97-AF65-F5344CB8AC3E}">
        <p14:creationId xmlns:p14="http://schemas.microsoft.com/office/powerpoint/2010/main" val="51384567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76F36E5-2858-41AA-BE54-36DC25CB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5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de452b9574d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3" y="235120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21afea07144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1" y="255900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042632f95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5" y="101178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9F9988F-C18C-452C-BC1C-4D2759A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981" y="3827105"/>
            <a:ext cx="8392041" cy="10772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400" b="1">
                <a:solidFill>
                  <a:srgbClr val="409EC4"/>
                </a:solidFill>
                <a:latin typeface="微软雅黑"/>
                <a:ea typeface="微软雅黑"/>
                <a:cs typeface="微软雅黑"/>
              </a:rPr>
              <a:t>衷心感谢老师的指导！</a:t>
            </a:r>
          </a:p>
        </p:txBody>
      </p:sp>
      <p:pic>
        <p:nvPicPr>
          <p:cNvPr id="4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35fc04d004f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9978" y="1922899"/>
            <a:ext cx="1332359" cy="1332359"/>
          </a:xfrm>
          <a:prstGeom xmlns:a="http://schemas.openxmlformats.org/drawingml/2006/main" prst="rect">
            <a:avLst/>
          </a:prstGeom>
          <a:effectLst xmlns:a="http://schemas.openxmlformats.org/drawingml/2006/main"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4987864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2026-07-20T06:51:48.8180000Z</dcterms:created>
  <dcterms:modified xsi:type="dcterms:W3CDTF">2026-07-20T06:51:48.8180000Z</dcterms:modified>
</coreProperties>
</file>